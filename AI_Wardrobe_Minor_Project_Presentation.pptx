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3"/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3">
        <a:tint val="75000"/>
      </a:schemeClr>
      <a:schemeClr val="accent4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5CE67A-3AF2-47D4-8E10-F15A21FCFF5E}" type="doc">
      <dgm:prSet loTypeId="urn:microsoft.com/office/officeart/2011/layout/TabList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IN"/>
        </a:p>
      </dgm:t>
    </dgm:pt>
    <dgm:pt modelId="{FB52DB2C-D573-4A66-8EE9-1E52E2E9D78F}">
      <dgm:prSet custT="1"/>
      <dgm:spPr/>
      <dgm:t>
        <a:bodyPr/>
        <a:lstStyle/>
        <a:p>
          <a:r>
            <a:rPr lang="en-IN" sz="1800" b="1" dirty="0"/>
            <a:t>Background / Problem Statement</a:t>
          </a:r>
          <a:endParaRPr lang="en-IN" sz="1800" dirty="0"/>
        </a:p>
      </dgm:t>
    </dgm:pt>
    <dgm:pt modelId="{E26637D2-1C63-4932-95C8-9BAA4755172C}" type="parTrans" cxnId="{EA95E14A-6B7C-4A2C-A432-8902EBBEE72A}">
      <dgm:prSet/>
      <dgm:spPr/>
      <dgm:t>
        <a:bodyPr/>
        <a:lstStyle/>
        <a:p>
          <a:endParaRPr lang="en-IN"/>
        </a:p>
      </dgm:t>
    </dgm:pt>
    <dgm:pt modelId="{864E8B35-0364-4C58-BAFE-4E5AEF8C0C7B}" type="sibTrans" cxnId="{EA95E14A-6B7C-4A2C-A432-8902EBBEE72A}">
      <dgm:prSet/>
      <dgm:spPr/>
      <dgm:t>
        <a:bodyPr/>
        <a:lstStyle/>
        <a:p>
          <a:endParaRPr lang="en-IN"/>
        </a:p>
      </dgm:t>
    </dgm:pt>
    <dgm:pt modelId="{3401E2BD-8A09-451D-ABBC-6BC1CCFF7F04}">
      <dgm:prSet custT="1"/>
      <dgm:spPr/>
      <dgm:t>
        <a:bodyPr anchor="ctr"/>
        <a:lstStyle/>
        <a:p>
          <a:pPr algn="ctr"/>
          <a:r>
            <a:rPr lang="en-IN" sz="1200" dirty="0"/>
            <a:t>Everyday clothing selection causes cognitive decision fatigue and poor wardrobe utilization because wardrobes remain </a:t>
          </a:r>
          <a:r>
            <a:rPr lang="en-IN" sz="1200" dirty="0" err="1"/>
            <a:t>uncataloged</a:t>
          </a:r>
          <a:r>
            <a:rPr lang="en-IN" sz="1200" dirty="0"/>
            <a:t>. Users struggle to visualize how separate garments match in style and fit without physically trying them on.</a:t>
          </a:r>
        </a:p>
      </dgm:t>
    </dgm:pt>
    <dgm:pt modelId="{36D0A363-3EA8-40D2-9375-2A4EB59A7039}" type="parTrans" cxnId="{9396E8F5-2A0D-4533-9CAA-65DD24BF9626}">
      <dgm:prSet/>
      <dgm:spPr/>
      <dgm:t>
        <a:bodyPr/>
        <a:lstStyle/>
        <a:p>
          <a:endParaRPr lang="en-IN"/>
        </a:p>
      </dgm:t>
    </dgm:pt>
    <dgm:pt modelId="{24C388A4-BD2F-4915-A2A6-B357775C80CF}" type="sibTrans" cxnId="{9396E8F5-2A0D-4533-9CAA-65DD24BF9626}">
      <dgm:prSet/>
      <dgm:spPr/>
      <dgm:t>
        <a:bodyPr/>
        <a:lstStyle/>
        <a:p>
          <a:endParaRPr lang="en-IN"/>
        </a:p>
      </dgm:t>
    </dgm:pt>
    <dgm:pt modelId="{21B57B19-7A62-40E5-9DBD-B8AFF88526D4}">
      <dgm:prSet custT="1"/>
      <dgm:spPr/>
      <dgm:t>
        <a:bodyPr/>
        <a:lstStyle/>
        <a:p>
          <a:r>
            <a:rPr lang="en-IN" sz="1800" dirty="0"/>
            <a:t>Concept Used</a:t>
          </a:r>
        </a:p>
      </dgm:t>
    </dgm:pt>
    <dgm:pt modelId="{CC38FD8B-0144-4A05-9BC1-2BE23BDC0A92}" type="parTrans" cxnId="{0B0F83ED-B012-499F-A8F3-3D41F38E0B8D}">
      <dgm:prSet/>
      <dgm:spPr/>
      <dgm:t>
        <a:bodyPr/>
        <a:lstStyle/>
        <a:p>
          <a:endParaRPr lang="en-IN"/>
        </a:p>
      </dgm:t>
    </dgm:pt>
    <dgm:pt modelId="{98AA017F-90C9-4896-B548-07866A245666}" type="sibTrans" cxnId="{0B0F83ED-B012-499F-A8F3-3D41F38E0B8D}">
      <dgm:prSet/>
      <dgm:spPr/>
      <dgm:t>
        <a:bodyPr/>
        <a:lstStyle/>
        <a:p>
          <a:endParaRPr lang="en-IN"/>
        </a:p>
      </dgm:t>
    </dgm:pt>
    <dgm:pt modelId="{B08D53EA-079B-4CA8-8FD0-BA197869AFD4}">
      <dgm:prSet custT="1"/>
      <dgm:spPr/>
      <dgm:t>
        <a:bodyPr anchor="ctr"/>
        <a:lstStyle/>
        <a:p>
          <a:pPr algn="ctr"/>
          <a:r>
            <a:rPr lang="en-IN" sz="1200" dirty="0"/>
            <a:t>Multimodal Zero-Shot Transformers (Fashion-CLIP) automate garment tagging (category, pattern, formality) without manual </a:t>
          </a:r>
          <a:r>
            <a:rPr lang="en-IN" sz="1200" dirty="0" err="1"/>
            <a:t>labeling</a:t>
          </a:r>
          <a:r>
            <a:rPr lang="en-IN" sz="1200" dirty="0"/>
            <a:t>. Perceptual </a:t>
          </a:r>
          <a:r>
            <a:rPr lang="en-IN" sz="1200" dirty="0" err="1"/>
            <a:t>color</a:t>
          </a:r>
          <a:r>
            <a:rPr lang="en-IN" sz="1200" dirty="0"/>
            <a:t> harmony is quantified using CIELAB ΔE, while Conditional Latent Diffusion (</a:t>
          </a:r>
          <a:r>
            <a:rPr lang="en-IN" sz="1200" dirty="0" err="1"/>
            <a:t>CatVTON</a:t>
          </a:r>
          <a:r>
            <a:rPr lang="en-IN" sz="1200" dirty="0"/>
            <a:t>) generates photorealistic virtual try-ons.</a:t>
          </a:r>
        </a:p>
      </dgm:t>
    </dgm:pt>
    <dgm:pt modelId="{1E14F016-6F25-4FA6-8015-DC0F3F3465B8}" type="parTrans" cxnId="{20655C2E-4D01-4EEF-BB89-A46CAC0149ED}">
      <dgm:prSet/>
      <dgm:spPr/>
      <dgm:t>
        <a:bodyPr/>
        <a:lstStyle/>
        <a:p>
          <a:endParaRPr lang="en-IN"/>
        </a:p>
      </dgm:t>
    </dgm:pt>
    <dgm:pt modelId="{22A7842E-2CA1-4D15-8B27-2B0602FAFFB9}" type="sibTrans" cxnId="{20655C2E-4D01-4EEF-BB89-A46CAC0149ED}">
      <dgm:prSet/>
      <dgm:spPr/>
      <dgm:t>
        <a:bodyPr/>
        <a:lstStyle/>
        <a:p>
          <a:endParaRPr lang="en-IN"/>
        </a:p>
      </dgm:t>
    </dgm:pt>
    <dgm:pt modelId="{5E450749-1483-4EE3-B60F-A343AEABC8C4}">
      <dgm:prSet custT="1"/>
      <dgm:spPr/>
      <dgm:t>
        <a:bodyPr/>
        <a:lstStyle/>
        <a:p>
          <a:r>
            <a:rPr lang="en-IN" sz="1800" dirty="0"/>
            <a:t>Who is affected?</a:t>
          </a:r>
        </a:p>
      </dgm:t>
    </dgm:pt>
    <dgm:pt modelId="{A83A5A32-3595-4CFC-B06F-F8F2E4F879A3}" type="parTrans" cxnId="{23B769A8-9B63-4F02-93F4-081B8C9FF48B}">
      <dgm:prSet/>
      <dgm:spPr/>
      <dgm:t>
        <a:bodyPr/>
        <a:lstStyle/>
        <a:p>
          <a:endParaRPr lang="en-IN"/>
        </a:p>
      </dgm:t>
    </dgm:pt>
    <dgm:pt modelId="{4244D2BC-A7AE-418C-AA3A-0BB3A2151C25}" type="sibTrans" cxnId="{23B769A8-9B63-4F02-93F4-081B8C9FF48B}">
      <dgm:prSet/>
      <dgm:spPr/>
      <dgm:t>
        <a:bodyPr/>
        <a:lstStyle/>
        <a:p>
          <a:endParaRPr lang="en-IN"/>
        </a:p>
      </dgm:t>
    </dgm:pt>
    <dgm:pt modelId="{BF4BA786-5615-4796-B9FF-8CAB6C5BBC5A}">
      <dgm:prSet custT="1"/>
      <dgm:spPr/>
      <dgm:t>
        <a:bodyPr anchor="ctr"/>
        <a:lstStyle/>
        <a:p>
          <a:pPr algn="ctr"/>
          <a:r>
            <a:rPr lang="en-IN" sz="1200" dirty="0"/>
            <a:t>Everyday individuals seeking efficient outfit assembly; fashion-conscious users looking to optimize clothing rotation; digital apparel platforms.</a:t>
          </a:r>
        </a:p>
      </dgm:t>
    </dgm:pt>
    <dgm:pt modelId="{7AEB8A6B-6741-4701-917C-2D1DEA50D4D2}" type="parTrans" cxnId="{708E5387-BC56-44D7-9688-E5778A53B3FA}">
      <dgm:prSet/>
      <dgm:spPr/>
      <dgm:t>
        <a:bodyPr/>
        <a:lstStyle/>
        <a:p>
          <a:endParaRPr lang="en-IN"/>
        </a:p>
      </dgm:t>
    </dgm:pt>
    <dgm:pt modelId="{5F9F639E-463C-4B1D-9673-577B6FCB3665}" type="sibTrans" cxnId="{708E5387-BC56-44D7-9688-E5778A53B3FA}">
      <dgm:prSet/>
      <dgm:spPr/>
      <dgm:t>
        <a:bodyPr/>
        <a:lstStyle/>
        <a:p>
          <a:endParaRPr lang="en-IN"/>
        </a:p>
      </dgm:t>
    </dgm:pt>
    <dgm:pt modelId="{53C1F435-E496-4BBC-8525-B444579A3BE5}" type="pres">
      <dgm:prSet presAssocID="{BC5CE67A-3AF2-47D4-8E10-F15A21FCFF5E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21571DCD-2B0D-4F51-902C-7991F395F2CE}" type="pres">
      <dgm:prSet presAssocID="{FB52DB2C-D573-4A66-8EE9-1E52E2E9D78F}" presName="composite" presStyleCnt="0"/>
      <dgm:spPr/>
    </dgm:pt>
    <dgm:pt modelId="{A9C2EFFC-11C6-4A5B-BD0F-764AA51AE7F3}" type="pres">
      <dgm:prSet presAssocID="{FB52DB2C-D573-4A66-8EE9-1E52E2E9D78F}" presName="FirstChild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5624B060-3C09-4F69-A1AD-828D568D179A}" type="pres">
      <dgm:prSet presAssocID="{FB52DB2C-D573-4A66-8EE9-1E52E2E9D78F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306D7AE8-57BA-42E4-A3DE-2B480D4C1C6F}" type="pres">
      <dgm:prSet presAssocID="{FB52DB2C-D573-4A66-8EE9-1E52E2E9D78F}" presName="Accent" presStyleLbl="parChTrans1D1" presStyleIdx="0" presStyleCnt="3"/>
      <dgm:spPr/>
    </dgm:pt>
    <dgm:pt modelId="{5FAB1560-B432-4B16-BA52-CCA4BC9D9AD5}" type="pres">
      <dgm:prSet presAssocID="{864E8B35-0364-4C58-BAFE-4E5AEF8C0C7B}" presName="sibTrans" presStyleCnt="0"/>
      <dgm:spPr/>
    </dgm:pt>
    <dgm:pt modelId="{4E861206-E3D0-4356-BBA6-A4A939C49907}" type="pres">
      <dgm:prSet presAssocID="{21B57B19-7A62-40E5-9DBD-B8AFF88526D4}" presName="composite" presStyleCnt="0"/>
      <dgm:spPr/>
    </dgm:pt>
    <dgm:pt modelId="{57D3442A-DC39-4203-A288-A81A87A0D5D4}" type="pres">
      <dgm:prSet presAssocID="{21B57B19-7A62-40E5-9DBD-B8AFF88526D4}" presName="FirstChild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0B27A11-0777-4921-8953-97EF3270A715}" type="pres">
      <dgm:prSet presAssocID="{21B57B19-7A62-40E5-9DBD-B8AFF88526D4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092674EB-C6E3-4E7F-94E6-2AF38703E040}" type="pres">
      <dgm:prSet presAssocID="{21B57B19-7A62-40E5-9DBD-B8AFF88526D4}" presName="Accent" presStyleLbl="parChTrans1D1" presStyleIdx="1" presStyleCnt="3"/>
      <dgm:spPr/>
    </dgm:pt>
    <dgm:pt modelId="{2F05BA46-20B1-4073-9A21-AAA640197C4B}" type="pres">
      <dgm:prSet presAssocID="{98AA017F-90C9-4896-B548-07866A245666}" presName="sibTrans" presStyleCnt="0"/>
      <dgm:spPr/>
    </dgm:pt>
    <dgm:pt modelId="{9D92D582-6D8F-4D29-BDAF-32894E3B0AB6}" type="pres">
      <dgm:prSet presAssocID="{5E450749-1483-4EE3-B60F-A343AEABC8C4}" presName="composite" presStyleCnt="0"/>
      <dgm:spPr/>
    </dgm:pt>
    <dgm:pt modelId="{A25AF345-DC80-489C-851E-D6ECB26EBB12}" type="pres">
      <dgm:prSet presAssocID="{5E450749-1483-4EE3-B60F-A343AEABC8C4}" presName="FirstChild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AD1D35CF-B3DE-44D1-8BEA-D3567A79419E}" type="pres">
      <dgm:prSet presAssocID="{5E450749-1483-4EE3-B60F-A343AEABC8C4}" presName="Parent" presStyleLbl="alignNode1" presStyleIdx="2" presStyleCnt="3" custLinFactNeighborY="58417">
        <dgm:presLayoutVars>
          <dgm:chMax val="3"/>
          <dgm:chPref val="3"/>
          <dgm:bulletEnabled val="1"/>
        </dgm:presLayoutVars>
      </dgm:prSet>
      <dgm:spPr/>
    </dgm:pt>
    <dgm:pt modelId="{2041114B-3660-496C-8461-409B95A9D421}" type="pres">
      <dgm:prSet presAssocID="{5E450749-1483-4EE3-B60F-A343AEABC8C4}" presName="Accent" presStyleLbl="parChTrans1D1" presStyleIdx="2" presStyleCnt="3"/>
      <dgm:spPr/>
    </dgm:pt>
  </dgm:ptLst>
  <dgm:cxnLst>
    <dgm:cxn modelId="{2F5BBC0B-AAA4-4C8A-9BB0-3352D2BB3017}" type="presOf" srcId="{21B57B19-7A62-40E5-9DBD-B8AFF88526D4}" destId="{C0B27A11-0777-4921-8953-97EF3270A715}" srcOrd="0" destOrd="0" presId="urn:microsoft.com/office/officeart/2011/layout/TabList"/>
    <dgm:cxn modelId="{3DD34914-172C-411D-AB11-14105A25CD36}" type="presOf" srcId="{BF4BA786-5615-4796-B9FF-8CAB6C5BBC5A}" destId="{A25AF345-DC80-489C-851E-D6ECB26EBB12}" srcOrd="0" destOrd="0" presId="urn:microsoft.com/office/officeart/2011/layout/TabList"/>
    <dgm:cxn modelId="{20655C2E-4D01-4EEF-BB89-A46CAC0149ED}" srcId="{21B57B19-7A62-40E5-9DBD-B8AFF88526D4}" destId="{B08D53EA-079B-4CA8-8FD0-BA197869AFD4}" srcOrd="0" destOrd="0" parTransId="{1E14F016-6F25-4FA6-8015-DC0F3F3465B8}" sibTransId="{22A7842E-2CA1-4D15-8B27-2B0602FAFFB9}"/>
    <dgm:cxn modelId="{DEE38964-1A07-4BAA-BD53-CCD8A99798BF}" type="presOf" srcId="{BC5CE67A-3AF2-47D4-8E10-F15A21FCFF5E}" destId="{53C1F435-E496-4BBC-8525-B444579A3BE5}" srcOrd="0" destOrd="0" presId="urn:microsoft.com/office/officeart/2011/layout/TabList"/>
    <dgm:cxn modelId="{E77D2767-F2F4-40F5-BE03-2CC0AE29F33C}" type="presOf" srcId="{5E450749-1483-4EE3-B60F-A343AEABC8C4}" destId="{AD1D35CF-B3DE-44D1-8BEA-D3567A79419E}" srcOrd="0" destOrd="0" presId="urn:microsoft.com/office/officeart/2011/layout/TabList"/>
    <dgm:cxn modelId="{EA95E14A-6B7C-4A2C-A432-8902EBBEE72A}" srcId="{BC5CE67A-3AF2-47D4-8E10-F15A21FCFF5E}" destId="{FB52DB2C-D573-4A66-8EE9-1E52E2E9D78F}" srcOrd="0" destOrd="0" parTransId="{E26637D2-1C63-4932-95C8-9BAA4755172C}" sibTransId="{864E8B35-0364-4C58-BAFE-4E5AEF8C0C7B}"/>
    <dgm:cxn modelId="{708E5387-BC56-44D7-9688-E5778A53B3FA}" srcId="{5E450749-1483-4EE3-B60F-A343AEABC8C4}" destId="{BF4BA786-5615-4796-B9FF-8CAB6C5BBC5A}" srcOrd="0" destOrd="0" parTransId="{7AEB8A6B-6741-4701-917C-2D1DEA50D4D2}" sibTransId="{5F9F639E-463C-4B1D-9673-577B6FCB3665}"/>
    <dgm:cxn modelId="{E134958D-C9BF-46C9-8378-ABB718849C43}" type="presOf" srcId="{FB52DB2C-D573-4A66-8EE9-1E52E2E9D78F}" destId="{5624B060-3C09-4F69-A1AD-828D568D179A}" srcOrd="0" destOrd="0" presId="urn:microsoft.com/office/officeart/2011/layout/TabList"/>
    <dgm:cxn modelId="{0B190C8E-AFFA-4B24-9A56-77FA6C8A1A45}" type="presOf" srcId="{B08D53EA-079B-4CA8-8FD0-BA197869AFD4}" destId="{57D3442A-DC39-4203-A288-A81A87A0D5D4}" srcOrd="0" destOrd="0" presId="urn:microsoft.com/office/officeart/2011/layout/TabList"/>
    <dgm:cxn modelId="{23B769A8-9B63-4F02-93F4-081B8C9FF48B}" srcId="{BC5CE67A-3AF2-47D4-8E10-F15A21FCFF5E}" destId="{5E450749-1483-4EE3-B60F-A343AEABC8C4}" srcOrd="2" destOrd="0" parTransId="{A83A5A32-3595-4CFC-B06F-F8F2E4F879A3}" sibTransId="{4244D2BC-A7AE-418C-AA3A-0BB3A2151C25}"/>
    <dgm:cxn modelId="{010448B0-D55D-411C-8C12-ECA67B1905B4}" type="presOf" srcId="{3401E2BD-8A09-451D-ABBC-6BC1CCFF7F04}" destId="{A9C2EFFC-11C6-4A5B-BD0F-764AA51AE7F3}" srcOrd="0" destOrd="0" presId="urn:microsoft.com/office/officeart/2011/layout/TabList"/>
    <dgm:cxn modelId="{0B0F83ED-B012-499F-A8F3-3D41F38E0B8D}" srcId="{BC5CE67A-3AF2-47D4-8E10-F15A21FCFF5E}" destId="{21B57B19-7A62-40E5-9DBD-B8AFF88526D4}" srcOrd="1" destOrd="0" parTransId="{CC38FD8B-0144-4A05-9BC1-2BE23BDC0A92}" sibTransId="{98AA017F-90C9-4896-B548-07866A245666}"/>
    <dgm:cxn modelId="{9396E8F5-2A0D-4533-9CAA-65DD24BF9626}" srcId="{FB52DB2C-D573-4A66-8EE9-1E52E2E9D78F}" destId="{3401E2BD-8A09-451D-ABBC-6BC1CCFF7F04}" srcOrd="0" destOrd="0" parTransId="{36D0A363-3EA8-40D2-9375-2A4EB59A7039}" sibTransId="{24C388A4-BD2F-4915-A2A6-B357775C80CF}"/>
    <dgm:cxn modelId="{77EE4E98-1A90-4D2B-B859-B68F997A137A}" type="presParOf" srcId="{53C1F435-E496-4BBC-8525-B444579A3BE5}" destId="{21571DCD-2B0D-4F51-902C-7991F395F2CE}" srcOrd="0" destOrd="0" presId="urn:microsoft.com/office/officeart/2011/layout/TabList"/>
    <dgm:cxn modelId="{6523EB26-7982-4A14-9ED7-2C6F53879E6E}" type="presParOf" srcId="{21571DCD-2B0D-4F51-902C-7991F395F2CE}" destId="{A9C2EFFC-11C6-4A5B-BD0F-764AA51AE7F3}" srcOrd="0" destOrd="0" presId="urn:microsoft.com/office/officeart/2011/layout/TabList"/>
    <dgm:cxn modelId="{E3E6A79E-436B-48BD-88BD-1A3D1C26B225}" type="presParOf" srcId="{21571DCD-2B0D-4F51-902C-7991F395F2CE}" destId="{5624B060-3C09-4F69-A1AD-828D568D179A}" srcOrd="1" destOrd="0" presId="urn:microsoft.com/office/officeart/2011/layout/TabList"/>
    <dgm:cxn modelId="{A6536471-9D8C-4ED3-A0A0-8DBBCCB2229D}" type="presParOf" srcId="{21571DCD-2B0D-4F51-902C-7991F395F2CE}" destId="{306D7AE8-57BA-42E4-A3DE-2B480D4C1C6F}" srcOrd="2" destOrd="0" presId="urn:microsoft.com/office/officeart/2011/layout/TabList"/>
    <dgm:cxn modelId="{FD48AFDB-3B87-41D4-AB25-0F29B8D01832}" type="presParOf" srcId="{53C1F435-E496-4BBC-8525-B444579A3BE5}" destId="{5FAB1560-B432-4B16-BA52-CCA4BC9D9AD5}" srcOrd="1" destOrd="0" presId="urn:microsoft.com/office/officeart/2011/layout/TabList"/>
    <dgm:cxn modelId="{9E48308B-0147-4209-AA0F-186E84A06B70}" type="presParOf" srcId="{53C1F435-E496-4BBC-8525-B444579A3BE5}" destId="{4E861206-E3D0-4356-BBA6-A4A939C49907}" srcOrd="2" destOrd="0" presId="urn:microsoft.com/office/officeart/2011/layout/TabList"/>
    <dgm:cxn modelId="{17517047-121F-4B5A-9A44-0F22A4A5E4DE}" type="presParOf" srcId="{4E861206-E3D0-4356-BBA6-A4A939C49907}" destId="{57D3442A-DC39-4203-A288-A81A87A0D5D4}" srcOrd="0" destOrd="0" presId="urn:microsoft.com/office/officeart/2011/layout/TabList"/>
    <dgm:cxn modelId="{5721D5A1-1946-43D0-B18A-EA93469738B7}" type="presParOf" srcId="{4E861206-E3D0-4356-BBA6-A4A939C49907}" destId="{C0B27A11-0777-4921-8953-97EF3270A715}" srcOrd="1" destOrd="0" presId="urn:microsoft.com/office/officeart/2011/layout/TabList"/>
    <dgm:cxn modelId="{741C4015-63FE-4696-A346-0575D8A1FEBD}" type="presParOf" srcId="{4E861206-E3D0-4356-BBA6-A4A939C49907}" destId="{092674EB-C6E3-4E7F-94E6-2AF38703E040}" srcOrd="2" destOrd="0" presId="urn:microsoft.com/office/officeart/2011/layout/TabList"/>
    <dgm:cxn modelId="{EA063DDC-0BDA-403F-A6E9-59029155E503}" type="presParOf" srcId="{53C1F435-E496-4BBC-8525-B444579A3BE5}" destId="{2F05BA46-20B1-4073-9A21-AAA640197C4B}" srcOrd="3" destOrd="0" presId="urn:microsoft.com/office/officeart/2011/layout/TabList"/>
    <dgm:cxn modelId="{1FF632D2-879E-49CE-9FC5-2C4FCA939FF5}" type="presParOf" srcId="{53C1F435-E496-4BBC-8525-B444579A3BE5}" destId="{9D92D582-6D8F-4D29-BDAF-32894E3B0AB6}" srcOrd="4" destOrd="0" presId="urn:microsoft.com/office/officeart/2011/layout/TabList"/>
    <dgm:cxn modelId="{2453E5FF-A8CE-463B-BCF9-93829B89ABD0}" type="presParOf" srcId="{9D92D582-6D8F-4D29-BDAF-32894E3B0AB6}" destId="{A25AF345-DC80-489C-851E-D6ECB26EBB12}" srcOrd="0" destOrd="0" presId="urn:microsoft.com/office/officeart/2011/layout/TabList"/>
    <dgm:cxn modelId="{A9AAC51E-31A5-44F2-B3CC-19D1B4C012D8}" type="presParOf" srcId="{9D92D582-6D8F-4D29-BDAF-32894E3B0AB6}" destId="{AD1D35CF-B3DE-44D1-8BEA-D3567A79419E}" srcOrd="1" destOrd="0" presId="urn:microsoft.com/office/officeart/2011/layout/TabList"/>
    <dgm:cxn modelId="{9F92BEE4-1A12-4A97-95FF-7B8B5B0F65D7}" type="presParOf" srcId="{9D92D582-6D8F-4D29-BDAF-32894E3B0AB6}" destId="{2041114B-3660-496C-8461-409B95A9D421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9A3518-26E1-424C-84DF-2FB1B4D1ECC9}" type="doc">
      <dgm:prSet loTypeId="urn:microsoft.com/office/officeart/2005/8/layout/process2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E16BD101-F828-4257-9A1C-17767CC29D7C}">
      <dgm:prSet/>
      <dgm:spPr/>
      <dgm:t>
        <a:bodyPr/>
        <a:lstStyle/>
        <a:p>
          <a:r>
            <a:rPr lang="en-IN" dirty="0"/>
            <a:t>User uploads garment photo</a:t>
          </a:r>
        </a:p>
      </dgm:t>
    </dgm:pt>
    <dgm:pt modelId="{3E4D7B08-41CE-41B9-9BCB-D7C781E8F95D}" type="parTrans" cxnId="{04C672B4-4495-4BEE-9927-A2B207919D73}">
      <dgm:prSet/>
      <dgm:spPr/>
      <dgm:t>
        <a:bodyPr/>
        <a:lstStyle/>
        <a:p>
          <a:endParaRPr lang="en-IN"/>
        </a:p>
      </dgm:t>
    </dgm:pt>
    <dgm:pt modelId="{FB620A2B-D48E-45C1-8B94-72B9AA98C1A3}" type="sibTrans" cxnId="{04C672B4-4495-4BEE-9927-A2B207919D73}">
      <dgm:prSet/>
      <dgm:spPr/>
      <dgm:t>
        <a:bodyPr/>
        <a:lstStyle/>
        <a:p>
          <a:endParaRPr lang="en-IN"/>
        </a:p>
      </dgm:t>
    </dgm:pt>
    <dgm:pt modelId="{D432BDC9-B669-4FE4-95AE-A559381789A2}">
      <dgm:prSet/>
      <dgm:spPr/>
      <dgm:t>
        <a:bodyPr/>
        <a:lstStyle/>
        <a:p>
          <a:r>
            <a:rPr lang="en-IN" dirty="0" err="1"/>
            <a:t>rembg</a:t>
          </a:r>
          <a:r>
            <a:rPr lang="en-IN" dirty="0"/>
            <a:t> removes image background</a:t>
          </a:r>
        </a:p>
      </dgm:t>
    </dgm:pt>
    <dgm:pt modelId="{94AFC0FA-8637-45FC-A5A7-E848BB8DE572}" type="parTrans" cxnId="{7AFDDC74-18D3-46FE-AEAD-C76FB614E8E2}">
      <dgm:prSet/>
      <dgm:spPr/>
      <dgm:t>
        <a:bodyPr/>
        <a:lstStyle/>
        <a:p>
          <a:endParaRPr lang="en-IN"/>
        </a:p>
      </dgm:t>
    </dgm:pt>
    <dgm:pt modelId="{96428CDB-B797-4699-AA6A-06CAAE55DEEC}" type="sibTrans" cxnId="{7AFDDC74-18D3-46FE-AEAD-C76FB614E8E2}">
      <dgm:prSet/>
      <dgm:spPr/>
      <dgm:t>
        <a:bodyPr/>
        <a:lstStyle/>
        <a:p>
          <a:endParaRPr lang="en-IN"/>
        </a:p>
      </dgm:t>
    </dgm:pt>
    <dgm:pt modelId="{5D4A34A4-B375-4A96-A28A-24201D22B3C4}">
      <dgm:prSet/>
      <dgm:spPr/>
      <dgm:t>
        <a:bodyPr/>
        <a:lstStyle/>
        <a:p>
          <a:r>
            <a:rPr lang="en-IN" dirty="0"/>
            <a:t>K-Means extracts dominant </a:t>
          </a:r>
          <a:r>
            <a:rPr lang="en-IN" dirty="0" err="1"/>
            <a:t>colors</a:t>
          </a:r>
          <a:r>
            <a:rPr lang="en-IN" dirty="0"/>
            <a:t> (CIELAB)</a:t>
          </a:r>
        </a:p>
      </dgm:t>
    </dgm:pt>
    <dgm:pt modelId="{AB85055A-BDE1-4CFF-865E-C6C3B8988BA4}" type="parTrans" cxnId="{7B873431-0D39-451E-BD52-69E747D363BA}">
      <dgm:prSet/>
      <dgm:spPr/>
      <dgm:t>
        <a:bodyPr/>
        <a:lstStyle/>
        <a:p>
          <a:endParaRPr lang="en-IN"/>
        </a:p>
      </dgm:t>
    </dgm:pt>
    <dgm:pt modelId="{6BA1C18A-E8DD-4CE3-97EB-26EE533741A1}" type="sibTrans" cxnId="{7B873431-0D39-451E-BD52-69E747D363BA}">
      <dgm:prSet/>
      <dgm:spPr/>
      <dgm:t>
        <a:bodyPr/>
        <a:lstStyle/>
        <a:p>
          <a:endParaRPr lang="en-IN"/>
        </a:p>
      </dgm:t>
    </dgm:pt>
    <dgm:pt modelId="{9336E66F-2DF4-4629-8148-819A15733819}">
      <dgm:prSet/>
      <dgm:spPr/>
      <dgm:t>
        <a:bodyPr/>
        <a:lstStyle/>
        <a:p>
          <a:r>
            <a:rPr lang="en-IN" dirty="0"/>
            <a:t>Fashion-CLIP zero-shot tags category &amp; formality</a:t>
          </a:r>
        </a:p>
      </dgm:t>
    </dgm:pt>
    <dgm:pt modelId="{F04CD0F3-DFE1-4354-8162-6F9BAAADDA17}" type="parTrans" cxnId="{FB11202F-07FF-4CAD-AEE8-2E583BAA0DD2}">
      <dgm:prSet/>
      <dgm:spPr/>
      <dgm:t>
        <a:bodyPr/>
        <a:lstStyle/>
        <a:p>
          <a:endParaRPr lang="en-IN"/>
        </a:p>
      </dgm:t>
    </dgm:pt>
    <dgm:pt modelId="{C3B3A3DB-BFD9-4E98-A74D-89D552B34E9E}" type="sibTrans" cxnId="{FB11202F-07FF-4CAD-AEE8-2E583BAA0DD2}">
      <dgm:prSet/>
      <dgm:spPr/>
      <dgm:t>
        <a:bodyPr/>
        <a:lstStyle/>
        <a:p>
          <a:endParaRPr lang="en-IN"/>
        </a:p>
      </dgm:t>
    </dgm:pt>
    <dgm:pt modelId="{B42DFA83-6F41-4CA0-881D-AFBEF198A1BF}">
      <dgm:prSet/>
      <dgm:spPr/>
      <dgm:t>
        <a:bodyPr/>
        <a:lstStyle/>
        <a:p>
          <a:r>
            <a:rPr lang="en-IN" dirty="0"/>
            <a:t>Record saved to Relational DB (3NF)</a:t>
          </a:r>
        </a:p>
      </dgm:t>
    </dgm:pt>
    <dgm:pt modelId="{C743ED5E-AC39-4CB0-A860-4831376BB70B}" type="parTrans" cxnId="{77E2F98C-C342-4D79-93BE-181DCF96896F}">
      <dgm:prSet/>
      <dgm:spPr/>
      <dgm:t>
        <a:bodyPr/>
        <a:lstStyle/>
        <a:p>
          <a:endParaRPr lang="en-IN"/>
        </a:p>
      </dgm:t>
    </dgm:pt>
    <dgm:pt modelId="{BDF95E16-9C54-4598-B4C9-49AEA0FA198C}" type="sibTrans" cxnId="{77E2F98C-C342-4D79-93BE-181DCF96896F}">
      <dgm:prSet/>
      <dgm:spPr/>
      <dgm:t>
        <a:bodyPr/>
        <a:lstStyle/>
        <a:p>
          <a:endParaRPr lang="en-IN"/>
        </a:p>
      </dgm:t>
    </dgm:pt>
    <dgm:pt modelId="{91F90205-6DE5-48F1-82B2-AB14A83D1122}" type="pres">
      <dgm:prSet presAssocID="{F19A3518-26E1-424C-84DF-2FB1B4D1ECC9}" presName="linearFlow" presStyleCnt="0">
        <dgm:presLayoutVars>
          <dgm:resizeHandles val="exact"/>
        </dgm:presLayoutVars>
      </dgm:prSet>
      <dgm:spPr/>
    </dgm:pt>
    <dgm:pt modelId="{305DEE4D-A7B3-49E9-99A2-4EDA6C699325}" type="pres">
      <dgm:prSet presAssocID="{E16BD101-F828-4257-9A1C-17767CC29D7C}" presName="node" presStyleLbl="node1" presStyleIdx="0" presStyleCnt="5">
        <dgm:presLayoutVars>
          <dgm:bulletEnabled val="1"/>
        </dgm:presLayoutVars>
      </dgm:prSet>
      <dgm:spPr/>
    </dgm:pt>
    <dgm:pt modelId="{697F37D6-9470-4403-967D-D3A493927B54}" type="pres">
      <dgm:prSet presAssocID="{FB620A2B-D48E-45C1-8B94-72B9AA98C1A3}" presName="sibTrans" presStyleLbl="sibTrans2D1" presStyleIdx="0" presStyleCnt="4"/>
      <dgm:spPr/>
    </dgm:pt>
    <dgm:pt modelId="{166424D4-6AFA-4848-A7CB-E588586EBCAB}" type="pres">
      <dgm:prSet presAssocID="{FB620A2B-D48E-45C1-8B94-72B9AA98C1A3}" presName="connectorText" presStyleLbl="sibTrans2D1" presStyleIdx="0" presStyleCnt="4"/>
      <dgm:spPr/>
    </dgm:pt>
    <dgm:pt modelId="{30C31632-1FA4-4E46-B27B-593F42BFA17A}" type="pres">
      <dgm:prSet presAssocID="{D432BDC9-B669-4FE4-95AE-A559381789A2}" presName="node" presStyleLbl="node1" presStyleIdx="1" presStyleCnt="5">
        <dgm:presLayoutVars>
          <dgm:bulletEnabled val="1"/>
        </dgm:presLayoutVars>
      </dgm:prSet>
      <dgm:spPr/>
    </dgm:pt>
    <dgm:pt modelId="{66FC2FC5-BD7F-4D20-82F3-D338C6962839}" type="pres">
      <dgm:prSet presAssocID="{96428CDB-B797-4699-AA6A-06CAAE55DEEC}" presName="sibTrans" presStyleLbl="sibTrans2D1" presStyleIdx="1" presStyleCnt="4"/>
      <dgm:spPr/>
    </dgm:pt>
    <dgm:pt modelId="{E54A1763-FDF9-407F-9EBA-F3000C37059B}" type="pres">
      <dgm:prSet presAssocID="{96428CDB-B797-4699-AA6A-06CAAE55DEEC}" presName="connectorText" presStyleLbl="sibTrans2D1" presStyleIdx="1" presStyleCnt="4"/>
      <dgm:spPr/>
    </dgm:pt>
    <dgm:pt modelId="{50CA9284-2946-4674-8196-6D65C1D46561}" type="pres">
      <dgm:prSet presAssocID="{5D4A34A4-B375-4A96-A28A-24201D22B3C4}" presName="node" presStyleLbl="node1" presStyleIdx="2" presStyleCnt="5">
        <dgm:presLayoutVars>
          <dgm:bulletEnabled val="1"/>
        </dgm:presLayoutVars>
      </dgm:prSet>
      <dgm:spPr/>
    </dgm:pt>
    <dgm:pt modelId="{0BD40132-1B38-4FE4-B00B-CA7D358D7D1F}" type="pres">
      <dgm:prSet presAssocID="{6BA1C18A-E8DD-4CE3-97EB-26EE533741A1}" presName="sibTrans" presStyleLbl="sibTrans2D1" presStyleIdx="2" presStyleCnt="4"/>
      <dgm:spPr/>
    </dgm:pt>
    <dgm:pt modelId="{33481424-9976-40D9-A096-0127F3D2FB04}" type="pres">
      <dgm:prSet presAssocID="{6BA1C18A-E8DD-4CE3-97EB-26EE533741A1}" presName="connectorText" presStyleLbl="sibTrans2D1" presStyleIdx="2" presStyleCnt="4"/>
      <dgm:spPr/>
    </dgm:pt>
    <dgm:pt modelId="{C92CA09D-86A6-420E-995D-8D3A54303B80}" type="pres">
      <dgm:prSet presAssocID="{9336E66F-2DF4-4629-8148-819A15733819}" presName="node" presStyleLbl="node1" presStyleIdx="3" presStyleCnt="5">
        <dgm:presLayoutVars>
          <dgm:bulletEnabled val="1"/>
        </dgm:presLayoutVars>
      </dgm:prSet>
      <dgm:spPr/>
    </dgm:pt>
    <dgm:pt modelId="{DB2ECC6F-9C6C-450D-9126-9773ECF4BC90}" type="pres">
      <dgm:prSet presAssocID="{C3B3A3DB-BFD9-4E98-A74D-89D552B34E9E}" presName="sibTrans" presStyleLbl="sibTrans2D1" presStyleIdx="3" presStyleCnt="4"/>
      <dgm:spPr/>
    </dgm:pt>
    <dgm:pt modelId="{71496AD9-4EA9-4A4C-9FF0-05AC43D8DC7A}" type="pres">
      <dgm:prSet presAssocID="{C3B3A3DB-BFD9-4E98-A74D-89D552B34E9E}" presName="connectorText" presStyleLbl="sibTrans2D1" presStyleIdx="3" presStyleCnt="4"/>
      <dgm:spPr/>
    </dgm:pt>
    <dgm:pt modelId="{2E13C33D-9E0F-4D73-A41C-D70C8A752D74}" type="pres">
      <dgm:prSet presAssocID="{B42DFA83-6F41-4CA0-881D-AFBEF198A1BF}" presName="node" presStyleLbl="node1" presStyleIdx="4" presStyleCnt="5">
        <dgm:presLayoutVars>
          <dgm:bulletEnabled val="1"/>
        </dgm:presLayoutVars>
      </dgm:prSet>
      <dgm:spPr/>
    </dgm:pt>
  </dgm:ptLst>
  <dgm:cxnLst>
    <dgm:cxn modelId="{58AB0313-70C1-4B1F-B0E3-B55B4D3A9ABA}" type="presOf" srcId="{F19A3518-26E1-424C-84DF-2FB1B4D1ECC9}" destId="{91F90205-6DE5-48F1-82B2-AB14A83D1122}" srcOrd="0" destOrd="0" presId="urn:microsoft.com/office/officeart/2005/8/layout/process2"/>
    <dgm:cxn modelId="{ED688713-1CE2-48E6-886D-1CEBE6EA3FB8}" type="presOf" srcId="{5D4A34A4-B375-4A96-A28A-24201D22B3C4}" destId="{50CA9284-2946-4674-8196-6D65C1D46561}" srcOrd="0" destOrd="0" presId="urn:microsoft.com/office/officeart/2005/8/layout/process2"/>
    <dgm:cxn modelId="{19BAB119-53A3-4BA1-98F5-876360156376}" type="presOf" srcId="{6BA1C18A-E8DD-4CE3-97EB-26EE533741A1}" destId="{0BD40132-1B38-4FE4-B00B-CA7D358D7D1F}" srcOrd="0" destOrd="0" presId="urn:microsoft.com/office/officeart/2005/8/layout/process2"/>
    <dgm:cxn modelId="{FB11202F-07FF-4CAD-AEE8-2E583BAA0DD2}" srcId="{F19A3518-26E1-424C-84DF-2FB1B4D1ECC9}" destId="{9336E66F-2DF4-4629-8148-819A15733819}" srcOrd="3" destOrd="0" parTransId="{F04CD0F3-DFE1-4354-8162-6F9BAAADDA17}" sibTransId="{C3B3A3DB-BFD9-4E98-A74D-89D552B34E9E}"/>
    <dgm:cxn modelId="{7B873431-0D39-451E-BD52-69E747D363BA}" srcId="{F19A3518-26E1-424C-84DF-2FB1B4D1ECC9}" destId="{5D4A34A4-B375-4A96-A28A-24201D22B3C4}" srcOrd="2" destOrd="0" parTransId="{AB85055A-BDE1-4CFF-865E-C6C3B8988BA4}" sibTransId="{6BA1C18A-E8DD-4CE3-97EB-26EE533741A1}"/>
    <dgm:cxn modelId="{AB140F39-5F5B-4443-95A4-AF5DF95C282A}" type="presOf" srcId="{C3B3A3DB-BFD9-4E98-A74D-89D552B34E9E}" destId="{71496AD9-4EA9-4A4C-9FF0-05AC43D8DC7A}" srcOrd="1" destOrd="0" presId="urn:microsoft.com/office/officeart/2005/8/layout/process2"/>
    <dgm:cxn modelId="{19CD764D-2BAF-4552-A8AC-A7463AE1B406}" type="presOf" srcId="{E16BD101-F828-4257-9A1C-17767CC29D7C}" destId="{305DEE4D-A7B3-49E9-99A2-4EDA6C699325}" srcOrd="0" destOrd="0" presId="urn:microsoft.com/office/officeart/2005/8/layout/process2"/>
    <dgm:cxn modelId="{FD7FC34E-B2FB-42AF-B187-3D0FE9E84A90}" type="presOf" srcId="{D432BDC9-B669-4FE4-95AE-A559381789A2}" destId="{30C31632-1FA4-4E46-B27B-593F42BFA17A}" srcOrd="0" destOrd="0" presId="urn:microsoft.com/office/officeart/2005/8/layout/process2"/>
    <dgm:cxn modelId="{7AFDDC74-18D3-46FE-AEAD-C76FB614E8E2}" srcId="{F19A3518-26E1-424C-84DF-2FB1B4D1ECC9}" destId="{D432BDC9-B669-4FE4-95AE-A559381789A2}" srcOrd="1" destOrd="0" parTransId="{94AFC0FA-8637-45FC-A5A7-E848BB8DE572}" sibTransId="{96428CDB-B797-4699-AA6A-06CAAE55DEEC}"/>
    <dgm:cxn modelId="{88A1AE82-784F-439C-BC7C-4BE058CE9BAA}" type="presOf" srcId="{6BA1C18A-E8DD-4CE3-97EB-26EE533741A1}" destId="{33481424-9976-40D9-A096-0127F3D2FB04}" srcOrd="1" destOrd="0" presId="urn:microsoft.com/office/officeart/2005/8/layout/process2"/>
    <dgm:cxn modelId="{47196786-6E96-486F-B645-274C4B28D14D}" type="presOf" srcId="{96428CDB-B797-4699-AA6A-06CAAE55DEEC}" destId="{66FC2FC5-BD7F-4D20-82F3-D338C6962839}" srcOrd="0" destOrd="0" presId="urn:microsoft.com/office/officeart/2005/8/layout/process2"/>
    <dgm:cxn modelId="{77E2F98C-C342-4D79-93BE-181DCF96896F}" srcId="{F19A3518-26E1-424C-84DF-2FB1B4D1ECC9}" destId="{B42DFA83-6F41-4CA0-881D-AFBEF198A1BF}" srcOrd="4" destOrd="0" parTransId="{C743ED5E-AC39-4CB0-A860-4831376BB70B}" sibTransId="{BDF95E16-9C54-4598-B4C9-49AEA0FA198C}"/>
    <dgm:cxn modelId="{04C672B4-4495-4BEE-9927-A2B207919D73}" srcId="{F19A3518-26E1-424C-84DF-2FB1B4D1ECC9}" destId="{E16BD101-F828-4257-9A1C-17767CC29D7C}" srcOrd="0" destOrd="0" parTransId="{3E4D7B08-41CE-41B9-9BCB-D7C781E8F95D}" sibTransId="{FB620A2B-D48E-45C1-8B94-72B9AA98C1A3}"/>
    <dgm:cxn modelId="{560258B7-D3D0-4FF3-B926-13ABB9F649BF}" type="presOf" srcId="{B42DFA83-6F41-4CA0-881D-AFBEF198A1BF}" destId="{2E13C33D-9E0F-4D73-A41C-D70C8A752D74}" srcOrd="0" destOrd="0" presId="urn:microsoft.com/office/officeart/2005/8/layout/process2"/>
    <dgm:cxn modelId="{374DB5BD-5397-49BF-854F-E22E4354016A}" type="presOf" srcId="{FB620A2B-D48E-45C1-8B94-72B9AA98C1A3}" destId="{697F37D6-9470-4403-967D-D3A493927B54}" srcOrd="0" destOrd="0" presId="urn:microsoft.com/office/officeart/2005/8/layout/process2"/>
    <dgm:cxn modelId="{DBD5A3BE-C7E6-496E-BB77-68B6630E6D44}" type="presOf" srcId="{9336E66F-2DF4-4629-8148-819A15733819}" destId="{C92CA09D-86A6-420E-995D-8D3A54303B80}" srcOrd="0" destOrd="0" presId="urn:microsoft.com/office/officeart/2005/8/layout/process2"/>
    <dgm:cxn modelId="{49A0EABE-D5F1-412A-A2AA-1C83E46CC1AF}" type="presOf" srcId="{96428CDB-B797-4699-AA6A-06CAAE55DEEC}" destId="{E54A1763-FDF9-407F-9EBA-F3000C37059B}" srcOrd="1" destOrd="0" presId="urn:microsoft.com/office/officeart/2005/8/layout/process2"/>
    <dgm:cxn modelId="{7ECE1FD1-750B-417A-B566-40729F065F43}" type="presOf" srcId="{C3B3A3DB-BFD9-4E98-A74D-89D552B34E9E}" destId="{DB2ECC6F-9C6C-450D-9126-9773ECF4BC90}" srcOrd="0" destOrd="0" presId="urn:microsoft.com/office/officeart/2005/8/layout/process2"/>
    <dgm:cxn modelId="{99385EDA-40FA-4AA8-A132-E883813B665F}" type="presOf" srcId="{FB620A2B-D48E-45C1-8B94-72B9AA98C1A3}" destId="{166424D4-6AFA-4848-A7CB-E588586EBCAB}" srcOrd="1" destOrd="0" presId="urn:microsoft.com/office/officeart/2005/8/layout/process2"/>
    <dgm:cxn modelId="{19C02DD0-CEBB-4D52-AF71-63792C2CDB35}" type="presParOf" srcId="{91F90205-6DE5-48F1-82B2-AB14A83D1122}" destId="{305DEE4D-A7B3-49E9-99A2-4EDA6C699325}" srcOrd="0" destOrd="0" presId="urn:microsoft.com/office/officeart/2005/8/layout/process2"/>
    <dgm:cxn modelId="{CF35920F-6536-42B7-A05E-6AAD3319BAFF}" type="presParOf" srcId="{91F90205-6DE5-48F1-82B2-AB14A83D1122}" destId="{697F37D6-9470-4403-967D-D3A493927B54}" srcOrd="1" destOrd="0" presId="urn:microsoft.com/office/officeart/2005/8/layout/process2"/>
    <dgm:cxn modelId="{63DAB028-9B6F-4D96-856A-DA736111A274}" type="presParOf" srcId="{697F37D6-9470-4403-967D-D3A493927B54}" destId="{166424D4-6AFA-4848-A7CB-E588586EBCAB}" srcOrd="0" destOrd="0" presId="urn:microsoft.com/office/officeart/2005/8/layout/process2"/>
    <dgm:cxn modelId="{143361A1-DD70-46DF-B5F7-7310A2E7876F}" type="presParOf" srcId="{91F90205-6DE5-48F1-82B2-AB14A83D1122}" destId="{30C31632-1FA4-4E46-B27B-593F42BFA17A}" srcOrd="2" destOrd="0" presId="urn:microsoft.com/office/officeart/2005/8/layout/process2"/>
    <dgm:cxn modelId="{5822A782-4C90-49C8-8A68-6CBC736E4909}" type="presParOf" srcId="{91F90205-6DE5-48F1-82B2-AB14A83D1122}" destId="{66FC2FC5-BD7F-4D20-82F3-D338C6962839}" srcOrd="3" destOrd="0" presId="urn:microsoft.com/office/officeart/2005/8/layout/process2"/>
    <dgm:cxn modelId="{37BA3174-2BEB-49D0-A851-EDDC7790DE4F}" type="presParOf" srcId="{66FC2FC5-BD7F-4D20-82F3-D338C6962839}" destId="{E54A1763-FDF9-407F-9EBA-F3000C37059B}" srcOrd="0" destOrd="0" presId="urn:microsoft.com/office/officeart/2005/8/layout/process2"/>
    <dgm:cxn modelId="{57FC2164-8753-40B8-9035-EFE8C21F6348}" type="presParOf" srcId="{91F90205-6DE5-48F1-82B2-AB14A83D1122}" destId="{50CA9284-2946-4674-8196-6D65C1D46561}" srcOrd="4" destOrd="0" presId="urn:microsoft.com/office/officeart/2005/8/layout/process2"/>
    <dgm:cxn modelId="{AB2ED640-9671-40B7-9813-EA879F435401}" type="presParOf" srcId="{91F90205-6DE5-48F1-82B2-AB14A83D1122}" destId="{0BD40132-1B38-4FE4-B00B-CA7D358D7D1F}" srcOrd="5" destOrd="0" presId="urn:microsoft.com/office/officeart/2005/8/layout/process2"/>
    <dgm:cxn modelId="{3F8560AF-2B3A-47E5-A699-2FAD9DCF1BC2}" type="presParOf" srcId="{0BD40132-1B38-4FE4-B00B-CA7D358D7D1F}" destId="{33481424-9976-40D9-A096-0127F3D2FB04}" srcOrd="0" destOrd="0" presId="urn:microsoft.com/office/officeart/2005/8/layout/process2"/>
    <dgm:cxn modelId="{3A003662-DADD-4EEB-BF66-D9B6E6582FF2}" type="presParOf" srcId="{91F90205-6DE5-48F1-82B2-AB14A83D1122}" destId="{C92CA09D-86A6-420E-995D-8D3A54303B80}" srcOrd="6" destOrd="0" presId="urn:microsoft.com/office/officeart/2005/8/layout/process2"/>
    <dgm:cxn modelId="{0096C30B-6BEC-407F-8984-B7C3BE775716}" type="presParOf" srcId="{91F90205-6DE5-48F1-82B2-AB14A83D1122}" destId="{DB2ECC6F-9C6C-450D-9126-9773ECF4BC90}" srcOrd="7" destOrd="0" presId="urn:microsoft.com/office/officeart/2005/8/layout/process2"/>
    <dgm:cxn modelId="{22357C8E-BAFE-422C-BD6D-3AEB3D4A70A5}" type="presParOf" srcId="{DB2ECC6F-9C6C-450D-9126-9773ECF4BC90}" destId="{71496AD9-4EA9-4A4C-9FF0-05AC43D8DC7A}" srcOrd="0" destOrd="0" presId="urn:microsoft.com/office/officeart/2005/8/layout/process2"/>
    <dgm:cxn modelId="{66B4EE3B-F481-468A-8645-B9B4B32BF98D}" type="presParOf" srcId="{91F90205-6DE5-48F1-82B2-AB14A83D1122}" destId="{2E13C33D-9E0F-4D73-A41C-D70C8A752D74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669ED1-CC8E-4C17-9C9B-DDB565B526E6}" type="doc">
      <dgm:prSet loTypeId="urn:microsoft.com/office/officeart/2005/8/layout/process2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A3ED65F0-42F1-4EF3-8DB2-567F345E98AC}">
      <dgm:prSet/>
      <dgm:spPr/>
      <dgm:t>
        <a:bodyPr/>
        <a:lstStyle/>
        <a:p>
          <a:r>
            <a:rPr lang="en-IN" dirty="0"/>
            <a:t>User requests outfit suggestions</a:t>
          </a:r>
        </a:p>
      </dgm:t>
    </dgm:pt>
    <dgm:pt modelId="{D892C9C7-B983-4082-84D4-2334EACBEA93}" type="parTrans" cxnId="{75EDF7E9-85BC-4D0E-B652-470191989FC9}">
      <dgm:prSet/>
      <dgm:spPr/>
      <dgm:t>
        <a:bodyPr/>
        <a:lstStyle/>
        <a:p>
          <a:endParaRPr lang="en-IN"/>
        </a:p>
      </dgm:t>
    </dgm:pt>
    <dgm:pt modelId="{050A47A9-79CE-4F69-9F1D-8603BF9347E4}" type="sibTrans" cxnId="{75EDF7E9-85BC-4D0E-B652-470191989FC9}">
      <dgm:prSet/>
      <dgm:spPr/>
      <dgm:t>
        <a:bodyPr/>
        <a:lstStyle/>
        <a:p>
          <a:endParaRPr lang="en-IN"/>
        </a:p>
      </dgm:t>
    </dgm:pt>
    <dgm:pt modelId="{6F7274A6-4A09-4A0C-8778-099593410F8D}">
      <dgm:prSet/>
      <dgm:spPr/>
      <dgm:t>
        <a:bodyPr/>
        <a:lstStyle/>
        <a:p>
          <a:r>
            <a:rPr lang="en-IN" dirty="0"/>
            <a:t>Generate valid combinations (Top + Bottom + Outerwear)</a:t>
          </a:r>
        </a:p>
      </dgm:t>
    </dgm:pt>
    <dgm:pt modelId="{51FDB553-D878-4800-8911-A0C8426DFF54}" type="parTrans" cxnId="{A8D39FC0-A775-44D3-99EE-EB361140F6AB}">
      <dgm:prSet/>
      <dgm:spPr/>
      <dgm:t>
        <a:bodyPr/>
        <a:lstStyle/>
        <a:p>
          <a:endParaRPr lang="en-IN"/>
        </a:p>
      </dgm:t>
    </dgm:pt>
    <dgm:pt modelId="{FB90C77A-2671-45D3-BABA-EC53CB2228DA}" type="sibTrans" cxnId="{A8D39FC0-A775-44D3-99EE-EB361140F6AB}">
      <dgm:prSet/>
      <dgm:spPr/>
      <dgm:t>
        <a:bodyPr/>
        <a:lstStyle/>
        <a:p>
          <a:endParaRPr lang="en-IN"/>
        </a:p>
      </dgm:t>
    </dgm:pt>
    <dgm:pt modelId="{957044B8-1C9D-4331-B301-F7C82D57D7B7}">
      <dgm:prSet/>
      <dgm:spPr/>
      <dgm:t>
        <a:bodyPr/>
        <a:lstStyle/>
        <a:p>
          <a:r>
            <a:rPr lang="en-IN" dirty="0"/>
            <a:t>Score </a:t>
          </a:r>
          <a:r>
            <a:rPr lang="en-IN" dirty="0" err="1"/>
            <a:t>Color</a:t>
          </a:r>
          <a:r>
            <a:rPr lang="en-IN" dirty="0"/>
            <a:t> Harmony (CIELAB ΔE) [35%]</a:t>
          </a:r>
        </a:p>
      </dgm:t>
    </dgm:pt>
    <dgm:pt modelId="{68E8D6F4-1829-4944-B5A2-35236E7FE9D0}" type="parTrans" cxnId="{AAD5A229-67F6-41F2-A985-995ED584C9AE}">
      <dgm:prSet/>
      <dgm:spPr/>
      <dgm:t>
        <a:bodyPr/>
        <a:lstStyle/>
        <a:p>
          <a:endParaRPr lang="en-IN"/>
        </a:p>
      </dgm:t>
    </dgm:pt>
    <dgm:pt modelId="{DE59F30E-B3CF-416A-B5BE-7026356E79AF}" type="sibTrans" cxnId="{AAD5A229-67F6-41F2-A985-995ED584C9AE}">
      <dgm:prSet/>
      <dgm:spPr/>
      <dgm:t>
        <a:bodyPr/>
        <a:lstStyle/>
        <a:p>
          <a:endParaRPr lang="en-IN"/>
        </a:p>
      </dgm:t>
    </dgm:pt>
    <dgm:pt modelId="{3C82C25A-D35F-4752-BC80-87A97323E973}">
      <dgm:prSet/>
      <dgm:spPr/>
      <dgm:t>
        <a:bodyPr/>
        <a:lstStyle/>
        <a:p>
          <a:r>
            <a:rPr lang="en-IN" dirty="0"/>
            <a:t>Score Formality Balance &amp; Structure [50%]</a:t>
          </a:r>
        </a:p>
      </dgm:t>
    </dgm:pt>
    <dgm:pt modelId="{5B8DB230-734B-4526-B0C9-48523E267F2C}" type="parTrans" cxnId="{1FDE5429-BE0E-4FFF-8AA2-6955BD073472}">
      <dgm:prSet/>
      <dgm:spPr/>
      <dgm:t>
        <a:bodyPr/>
        <a:lstStyle/>
        <a:p>
          <a:endParaRPr lang="en-IN"/>
        </a:p>
      </dgm:t>
    </dgm:pt>
    <dgm:pt modelId="{FA6D952B-6464-4786-B4C9-3B6F6F633C82}" type="sibTrans" cxnId="{1FDE5429-BE0E-4FFF-8AA2-6955BD073472}">
      <dgm:prSet/>
      <dgm:spPr/>
      <dgm:t>
        <a:bodyPr/>
        <a:lstStyle/>
        <a:p>
          <a:endParaRPr lang="en-IN"/>
        </a:p>
      </dgm:t>
    </dgm:pt>
    <dgm:pt modelId="{BF853CD0-8767-40D7-90A5-70922890076C}">
      <dgm:prSet/>
      <dgm:spPr/>
      <dgm:t>
        <a:bodyPr/>
        <a:lstStyle/>
        <a:p>
          <a:r>
            <a:rPr lang="en-IN" dirty="0"/>
            <a:t>Penalize Pattern Clashes [15%] -&gt; Return Top N</a:t>
          </a:r>
        </a:p>
      </dgm:t>
    </dgm:pt>
    <dgm:pt modelId="{E6DF4946-4A84-45CC-B35A-83A3989DBA86}" type="parTrans" cxnId="{1568016C-5764-46AE-B9BA-99251EFD2192}">
      <dgm:prSet/>
      <dgm:spPr/>
      <dgm:t>
        <a:bodyPr/>
        <a:lstStyle/>
        <a:p>
          <a:endParaRPr lang="en-IN"/>
        </a:p>
      </dgm:t>
    </dgm:pt>
    <dgm:pt modelId="{0D7DA58C-88DA-4810-8A78-B39E43DFCC0C}" type="sibTrans" cxnId="{1568016C-5764-46AE-B9BA-99251EFD2192}">
      <dgm:prSet/>
      <dgm:spPr/>
      <dgm:t>
        <a:bodyPr/>
        <a:lstStyle/>
        <a:p>
          <a:endParaRPr lang="en-IN"/>
        </a:p>
      </dgm:t>
    </dgm:pt>
    <dgm:pt modelId="{556B1BD6-A9C5-41A2-BD24-13378F53431C}" type="pres">
      <dgm:prSet presAssocID="{F5669ED1-CC8E-4C17-9C9B-DDB565B526E6}" presName="linearFlow" presStyleCnt="0">
        <dgm:presLayoutVars>
          <dgm:resizeHandles val="exact"/>
        </dgm:presLayoutVars>
      </dgm:prSet>
      <dgm:spPr/>
    </dgm:pt>
    <dgm:pt modelId="{6399390D-CC76-4F51-91EF-85F8540364E9}" type="pres">
      <dgm:prSet presAssocID="{A3ED65F0-42F1-4EF3-8DB2-567F345E98AC}" presName="node" presStyleLbl="node1" presStyleIdx="0" presStyleCnt="5">
        <dgm:presLayoutVars>
          <dgm:bulletEnabled val="1"/>
        </dgm:presLayoutVars>
      </dgm:prSet>
      <dgm:spPr/>
    </dgm:pt>
    <dgm:pt modelId="{8137F71D-5720-4A36-AD2D-ADA0F1B47332}" type="pres">
      <dgm:prSet presAssocID="{050A47A9-79CE-4F69-9F1D-8603BF9347E4}" presName="sibTrans" presStyleLbl="sibTrans2D1" presStyleIdx="0" presStyleCnt="4"/>
      <dgm:spPr/>
    </dgm:pt>
    <dgm:pt modelId="{52502A2F-D422-4A46-A3BE-DB0ED72B9330}" type="pres">
      <dgm:prSet presAssocID="{050A47A9-79CE-4F69-9F1D-8603BF9347E4}" presName="connectorText" presStyleLbl="sibTrans2D1" presStyleIdx="0" presStyleCnt="4"/>
      <dgm:spPr/>
    </dgm:pt>
    <dgm:pt modelId="{B1F53B0A-895F-4FB2-973F-7B4CB0B0AD7E}" type="pres">
      <dgm:prSet presAssocID="{6F7274A6-4A09-4A0C-8778-099593410F8D}" presName="node" presStyleLbl="node1" presStyleIdx="1" presStyleCnt="5">
        <dgm:presLayoutVars>
          <dgm:bulletEnabled val="1"/>
        </dgm:presLayoutVars>
      </dgm:prSet>
      <dgm:spPr/>
    </dgm:pt>
    <dgm:pt modelId="{82E055BC-F448-425B-8BD9-43169C0B62C4}" type="pres">
      <dgm:prSet presAssocID="{FB90C77A-2671-45D3-BABA-EC53CB2228DA}" presName="sibTrans" presStyleLbl="sibTrans2D1" presStyleIdx="1" presStyleCnt="4"/>
      <dgm:spPr/>
    </dgm:pt>
    <dgm:pt modelId="{B9521819-AF7C-4197-A175-8B84A0312952}" type="pres">
      <dgm:prSet presAssocID="{FB90C77A-2671-45D3-BABA-EC53CB2228DA}" presName="connectorText" presStyleLbl="sibTrans2D1" presStyleIdx="1" presStyleCnt="4"/>
      <dgm:spPr/>
    </dgm:pt>
    <dgm:pt modelId="{2A43BBAD-0BE1-436A-93C7-09CAF798D446}" type="pres">
      <dgm:prSet presAssocID="{957044B8-1C9D-4331-B301-F7C82D57D7B7}" presName="node" presStyleLbl="node1" presStyleIdx="2" presStyleCnt="5">
        <dgm:presLayoutVars>
          <dgm:bulletEnabled val="1"/>
        </dgm:presLayoutVars>
      </dgm:prSet>
      <dgm:spPr/>
    </dgm:pt>
    <dgm:pt modelId="{BAF56B92-935D-4514-B154-F846609021A8}" type="pres">
      <dgm:prSet presAssocID="{DE59F30E-B3CF-416A-B5BE-7026356E79AF}" presName="sibTrans" presStyleLbl="sibTrans2D1" presStyleIdx="2" presStyleCnt="4"/>
      <dgm:spPr/>
    </dgm:pt>
    <dgm:pt modelId="{4006F70F-6C5E-4E06-B177-53619534FB80}" type="pres">
      <dgm:prSet presAssocID="{DE59F30E-B3CF-416A-B5BE-7026356E79AF}" presName="connectorText" presStyleLbl="sibTrans2D1" presStyleIdx="2" presStyleCnt="4"/>
      <dgm:spPr/>
    </dgm:pt>
    <dgm:pt modelId="{E2571CB7-61BD-45BF-8BF2-E64066F18F90}" type="pres">
      <dgm:prSet presAssocID="{3C82C25A-D35F-4752-BC80-87A97323E973}" presName="node" presStyleLbl="node1" presStyleIdx="3" presStyleCnt="5">
        <dgm:presLayoutVars>
          <dgm:bulletEnabled val="1"/>
        </dgm:presLayoutVars>
      </dgm:prSet>
      <dgm:spPr/>
    </dgm:pt>
    <dgm:pt modelId="{FF84CE92-B93F-430F-82E8-607104135B2B}" type="pres">
      <dgm:prSet presAssocID="{FA6D952B-6464-4786-B4C9-3B6F6F633C82}" presName="sibTrans" presStyleLbl="sibTrans2D1" presStyleIdx="3" presStyleCnt="4"/>
      <dgm:spPr/>
    </dgm:pt>
    <dgm:pt modelId="{DB096D6D-98CC-459D-B89D-A03B6C54AFA3}" type="pres">
      <dgm:prSet presAssocID="{FA6D952B-6464-4786-B4C9-3B6F6F633C82}" presName="connectorText" presStyleLbl="sibTrans2D1" presStyleIdx="3" presStyleCnt="4"/>
      <dgm:spPr/>
    </dgm:pt>
    <dgm:pt modelId="{61912B67-7259-4F33-A6AE-9FFB36EDF68A}" type="pres">
      <dgm:prSet presAssocID="{BF853CD0-8767-40D7-90A5-70922890076C}" presName="node" presStyleLbl="node1" presStyleIdx="4" presStyleCnt="5">
        <dgm:presLayoutVars>
          <dgm:bulletEnabled val="1"/>
        </dgm:presLayoutVars>
      </dgm:prSet>
      <dgm:spPr/>
    </dgm:pt>
  </dgm:ptLst>
  <dgm:cxnLst>
    <dgm:cxn modelId="{81326823-38D7-4818-BBD0-E9542257B4BC}" type="presOf" srcId="{3C82C25A-D35F-4752-BC80-87A97323E973}" destId="{E2571CB7-61BD-45BF-8BF2-E64066F18F90}" srcOrd="0" destOrd="0" presId="urn:microsoft.com/office/officeart/2005/8/layout/process2"/>
    <dgm:cxn modelId="{1FDE5429-BE0E-4FFF-8AA2-6955BD073472}" srcId="{F5669ED1-CC8E-4C17-9C9B-DDB565B526E6}" destId="{3C82C25A-D35F-4752-BC80-87A97323E973}" srcOrd="3" destOrd="0" parTransId="{5B8DB230-734B-4526-B0C9-48523E267F2C}" sibTransId="{FA6D952B-6464-4786-B4C9-3B6F6F633C82}"/>
    <dgm:cxn modelId="{AAD5A229-67F6-41F2-A985-995ED584C9AE}" srcId="{F5669ED1-CC8E-4C17-9C9B-DDB565B526E6}" destId="{957044B8-1C9D-4331-B301-F7C82D57D7B7}" srcOrd="2" destOrd="0" parTransId="{68E8D6F4-1829-4944-B5A2-35236E7FE9D0}" sibTransId="{DE59F30E-B3CF-416A-B5BE-7026356E79AF}"/>
    <dgm:cxn modelId="{A31F6432-EAEC-4256-B2B0-D43464D8508D}" type="presOf" srcId="{FB90C77A-2671-45D3-BABA-EC53CB2228DA}" destId="{82E055BC-F448-425B-8BD9-43169C0B62C4}" srcOrd="0" destOrd="0" presId="urn:microsoft.com/office/officeart/2005/8/layout/process2"/>
    <dgm:cxn modelId="{68CAB43D-3092-4D7E-9A50-7142C2FF05D1}" type="presOf" srcId="{050A47A9-79CE-4F69-9F1D-8603BF9347E4}" destId="{52502A2F-D422-4A46-A3BE-DB0ED72B9330}" srcOrd="1" destOrd="0" presId="urn:microsoft.com/office/officeart/2005/8/layout/process2"/>
    <dgm:cxn modelId="{EDE1D064-75FC-49A8-90AF-7FC5D7727745}" type="presOf" srcId="{FA6D952B-6464-4786-B4C9-3B6F6F633C82}" destId="{DB096D6D-98CC-459D-B89D-A03B6C54AFA3}" srcOrd="1" destOrd="0" presId="urn:microsoft.com/office/officeart/2005/8/layout/process2"/>
    <dgm:cxn modelId="{02382247-23CA-4BF7-B2E9-23E00FFE7DAD}" type="presOf" srcId="{F5669ED1-CC8E-4C17-9C9B-DDB565B526E6}" destId="{556B1BD6-A9C5-41A2-BD24-13378F53431C}" srcOrd="0" destOrd="0" presId="urn:microsoft.com/office/officeart/2005/8/layout/process2"/>
    <dgm:cxn modelId="{1568016C-5764-46AE-B9BA-99251EFD2192}" srcId="{F5669ED1-CC8E-4C17-9C9B-DDB565B526E6}" destId="{BF853CD0-8767-40D7-90A5-70922890076C}" srcOrd="4" destOrd="0" parTransId="{E6DF4946-4A84-45CC-B35A-83A3989DBA86}" sibTransId="{0D7DA58C-88DA-4810-8A78-B39E43DFCC0C}"/>
    <dgm:cxn modelId="{D271D487-1D01-476F-9224-FBB43E99DD09}" type="presOf" srcId="{BF853CD0-8767-40D7-90A5-70922890076C}" destId="{61912B67-7259-4F33-A6AE-9FFB36EDF68A}" srcOrd="0" destOrd="0" presId="urn:microsoft.com/office/officeart/2005/8/layout/process2"/>
    <dgm:cxn modelId="{018E638B-A0FF-4F2E-B16B-CBAA6E0F68E8}" type="presOf" srcId="{FB90C77A-2671-45D3-BABA-EC53CB2228DA}" destId="{B9521819-AF7C-4197-A175-8B84A0312952}" srcOrd="1" destOrd="0" presId="urn:microsoft.com/office/officeart/2005/8/layout/process2"/>
    <dgm:cxn modelId="{10E8098E-8D96-4605-A165-B2694ACD4CB1}" type="presOf" srcId="{FA6D952B-6464-4786-B4C9-3B6F6F633C82}" destId="{FF84CE92-B93F-430F-82E8-607104135B2B}" srcOrd="0" destOrd="0" presId="urn:microsoft.com/office/officeart/2005/8/layout/process2"/>
    <dgm:cxn modelId="{79721898-40E1-412A-B261-02145FFEE911}" type="presOf" srcId="{957044B8-1C9D-4331-B301-F7C82D57D7B7}" destId="{2A43BBAD-0BE1-436A-93C7-09CAF798D446}" srcOrd="0" destOrd="0" presId="urn:microsoft.com/office/officeart/2005/8/layout/process2"/>
    <dgm:cxn modelId="{A8D39FC0-A775-44D3-99EE-EB361140F6AB}" srcId="{F5669ED1-CC8E-4C17-9C9B-DDB565B526E6}" destId="{6F7274A6-4A09-4A0C-8778-099593410F8D}" srcOrd="1" destOrd="0" parTransId="{51FDB553-D878-4800-8911-A0C8426DFF54}" sibTransId="{FB90C77A-2671-45D3-BABA-EC53CB2228DA}"/>
    <dgm:cxn modelId="{893AD1C2-7F8D-49B7-B436-B341F7EBAA1B}" type="presOf" srcId="{DE59F30E-B3CF-416A-B5BE-7026356E79AF}" destId="{BAF56B92-935D-4514-B154-F846609021A8}" srcOrd="0" destOrd="0" presId="urn:microsoft.com/office/officeart/2005/8/layout/process2"/>
    <dgm:cxn modelId="{9F536CC6-943D-467D-9108-87AE3D25BDB2}" type="presOf" srcId="{050A47A9-79CE-4F69-9F1D-8603BF9347E4}" destId="{8137F71D-5720-4A36-AD2D-ADA0F1B47332}" srcOrd="0" destOrd="0" presId="urn:microsoft.com/office/officeart/2005/8/layout/process2"/>
    <dgm:cxn modelId="{E23DDAE1-8FB9-4163-8186-AE05536302ED}" type="presOf" srcId="{DE59F30E-B3CF-416A-B5BE-7026356E79AF}" destId="{4006F70F-6C5E-4E06-B177-53619534FB80}" srcOrd="1" destOrd="0" presId="urn:microsoft.com/office/officeart/2005/8/layout/process2"/>
    <dgm:cxn modelId="{75EDF7E9-85BC-4D0E-B652-470191989FC9}" srcId="{F5669ED1-CC8E-4C17-9C9B-DDB565B526E6}" destId="{A3ED65F0-42F1-4EF3-8DB2-567F345E98AC}" srcOrd="0" destOrd="0" parTransId="{D892C9C7-B983-4082-84D4-2334EACBEA93}" sibTransId="{050A47A9-79CE-4F69-9F1D-8603BF9347E4}"/>
    <dgm:cxn modelId="{E2530CF6-B8B0-443A-9467-A297D75B01C7}" type="presOf" srcId="{6F7274A6-4A09-4A0C-8778-099593410F8D}" destId="{B1F53B0A-895F-4FB2-973F-7B4CB0B0AD7E}" srcOrd="0" destOrd="0" presId="urn:microsoft.com/office/officeart/2005/8/layout/process2"/>
    <dgm:cxn modelId="{58CBBBFF-9BDB-414A-9830-9C0154DB053F}" type="presOf" srcId="{A3ED65F0-42F1-4EF3-8DB2-567F345E98AC}" destId="{6399390D-CC76-4F51-91EF-85F8540364E9}" srcOrd="0" destOrd="0" presId="urn:microsoft.com/office/officeart/2005/8/layout/process2"/>
    <dgm:cxn modelId="{1A122279-DD5B-451B-A6C3-E771848DEE02}" type="presParOf" srcId="{556B1BD6-A9C5-41A2-BD24-13378F53431C}" destId="{6399390D-CC76-4F51-91EF-85F8540364E9}" srcOrd="0" destOrd="0" presId="urn:microsoft.com/office/officeart/2005/8/layout/process2"/>
    <dgm:cxn modelId="{2D572A29-9BD6-47D5-A30A-399686FB3D73}" type="presParOf" srcId="{556B1BD6-A9C5-41A2-BD24-13378F53431C}" destId="{8137F71D-5720-4A36-AD2D-ADA0F1B47332}" srcOrd="1" destOrd="0" presId="urn:microsoft.com/office/officeart/2005/8/layout/process2"/>
    <dgm:cxn modelId="{065D6B25-97A4-4C73-9358-B198264EA4A4}" type="presParOf" srcId="{8137F71D-5720-4A36-AD2D-ADA0F1B47332}" destId="{52502A2F-D422-4A46-A3BE-DB0ED72B9330}" srcOrd="0" destOrd="0" presId="urn:microsoft.com/office/officeart/2005/8/layout/process2"/>
    <dgm:cxn modelId="{E50FAB20-9F42-4029-BF91-10BC3399ED14}" type="presParOf" srcId="{556B1BD6-A9C5-41A2-BD24-13378F53431C}" destId="{B1F53B0A-895F-4FB2-973F-7B4CB0B0AD7E}" srcOrd="2" destOrd="0" presId="urn:microsoft.com/office/officeart/2005/8/layout/process2"/>
    <dgm:cxn modelId="{ECA9B26A-D08A-4B76-AA11-A5D375E9C820}" type="presParOf" srcId="{556B1BD6-A9C5-41A2-BD24-13378F53431C}" destId="{82E055BC-F448-425B-8BD9-43169C0B62C4}" srcOrd="3" destOrd="0" presId="urn:microsoft.com/office/officeart/2005/8/layout/process2"/>
    <dgm:cxn modelId="{B61F8864-3B6F-42B3-B7B9-AB42F5CC48F5}" type="presParOf" srcId="{82E055BC-F448-425B-8BD9-43169C0B62C4}" destId="{B9521819-AF7C-4197-A175-8B84A0312952}" srcOrd="0" destOrd="0" presId="urn:microsoft.com/office/officeart/2005/8/layout/process2"/>
    <dgm:cxn modelId="{9A0FCD94-6F66-40E0-B13F-C7423276BEB9}" type="presParOf" srcId="{556B1BD6-A9C5-41A2-BD24-13378F53431C}" destId="{2A43BBAD-0BE1-436A-93C7-09CAF798D446}" srcOrd="4" destOrd="0" presId="urn:microsoft.com/office/officeart/2005/8/layout/process2"/>
    <dgm:cxn modelId="{F9B97AE5-C6ED-4D7B-9530-9D1987E2A95F}" type="presParOf" srcId="{556B1BD6-A9C5-41A2-BD24-13378F53431C}" destId="{BAF56B92-935D-4514-B154-F846609021A8}" srcOrd="5" destOrd="0" presId="urn:microsoft.com/office/officeart/2005/8/layout/process2"/>
    <dgm:cxn modelId="{273C944A-4F88-4013-B3D9-71F2A50F4CAA}" type="presParOf" srcId="{BAF56B92-935D-4514-B154-F846609021A8}" destId="{4006F70F-6C5E-4E06-B177-53619534FB80}" srcOrd="0" destOrd="0" presId="urn:microsoft.com/office/officeart/2005/8/layout/process2"/>
    <dgm:cxn modelId="{7C451E6D-5044-4F73-9032-57E5C32AF57A}" type="presParOf" srcId="{556B1BD6-A9C5-41A2-BD24-13378F53431C}" destId="{E2571CB7-61BD-45BF-8BF2-E64066F18F90}" srcOrd="6" destOrd="0" presId="urn:microsoft.com/office/officeart/2005/8/layout/process2"/>
    <dgm:cxn modelId="{40F396E9-971C-41EA-9288-12C0C9939730}" type="presParOf" srcId="{556B1BD6-A9C5-41A2-BD24-13378F53431C}" destId="{FF84CE92-B93F-430F-82E8-607104135B2B}" srcOrd="7" destOrd="0" presId="urn:microsoft.com/office/officeart/2005/8/layout/process2"/>
    <dgm:cxn modelId="{90480532-7366-49D7-A83B-C58B2E42D78B}" type="presParOf" srcId="{FF84CE92-B93F-430F-82E8-607104135B2B}" destId="{DB096D6D-98CC-459D-B89D-A03B6C54AFA3}" srcOrd="0" destOrd="0" presId="urn:microsoft.com/office/officeart/2005/8/layout/process2"/>
    <dgm:cxn modelId="{DB184465-C690-4C13-9DA3-7C059C416620}" type="presParOf" srcId="{556B1BD6-A9C5-41A2-BD24-13378F53431C}" destId="{61912B67-7259-4F33-A6AE-9FFB36EDF68A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318DA2-5415-48F7-A950-5F0ABF640659}" type="doc">
      <dgm:prSet loTypeId="urn:microsoft.com/office/officeart/2005/8/layout/process2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704DCDB7-2A18-4E8B-98FF-8F6FE5A37ACE}">
      <dgm:prSet/>
      <dgm:spPr/>
      <dgm:t>
        <a:bodyPr/>
        <a:lstStyle/>
        <a:p>
          <a:r>
            <a:rPr lang="en-IN" dirty="0"/>
            <a:t>User requests Try-On for selected outfit</a:t>
          </a:r>
        </a:p>
      </dgm:t>
    </dgm:pt>
    <dgm:pt modelId="{87082A47-72FD-4679-A297-C7E4DE19EA11}" type="parTrans" cxnId="{AE81C4F2-C947-4B61-B1CD-F35F0534FB1A}">
      <dgm:prSet/>
      <dgm:spPr/>
      <dgm:t>
        <a:bodyPr/>
        <a:lstStyle/>
        <a:p>
          <a:endParaRPr lang="en-IN"/>
        </a:p>
      </dgm:t>
    </dgm:pt>
    <dgm:pt modelId="{9C66FB24-B16F-4EAA-8BBB-0D7C1DAAA3C8}" type="sibTrans" cxnId="{AE81C4F2-C947-4B61-B1CD-F35F0534FB1A}">
      <dgm:prSet/>
      <dgm:spPr/>
      <dgm:t>
        <a:bodyPr/>
        <a:lstStyle/>
        <a:p>
          <a:endParaRPr lang="en-IN"/>
        </a:p>
      </dgm:t>
    </dgm:pt>
    <dgm:pt modelId="{C66714FE-EF87-47D1-A5FD-6BD97BDCA7F7}">
      <dgm:prSet/>
      <dgm:spPr/>
      <dgm:t>
        <a:bodyPr/>
        <a:lstStyle/>
        <a:p>
          <a:r>
            <a:rPr lang="en-IN" dirty="0" err="1"/>
            <a:t>FastAPI</a:t>
          </a:r>
          <a:r>
            <a:rPr lang="en-IN" dirty="0"/>
            <a:t> creates </a:t>
          </a:r>
          <a:r>
            <a:rPr lang="en-IN" dirty="0" err="1"/>
            <a:t>RenderJob</a:t>
          </a:r>
          <a:r>
            <a:rPr lang="en-IN" dirty="0"/>
            <a:t> (status=queued)</a:t>
          </a:r>
        </a:p>
      </dgm:t>
    </dgm:pt>
    <dgm:pt modelId="{C8F18EB7-4A22-4B14-9CCC-25577B05F715}" type="parTrans" cxnId="{CF794924-7F0E-446A-9748-47CCB38E98F6}">
      <dgm:prSet/>
      <dgm:spPr/>
      <dgm:t>
        <a:bodyPr/>
        <a:lstStyle/>
        <a:p>
          <a:endParaRPr lang="en-IN"/>
        </a:p>
      </dgm:t>
    </dgm:pt>
    <dgm:pt modelId="{D00ABEC1-3DCA-49D8-8659-8B67255C312F}" type="sibTrans" cxnId="{CF794924-7F0E-446A-9748-47CCB38E98F6}">
      <dgm:prSet/>
      <dgm:spPr/>
      <dgm:t>
        <a:bodyPr/>
        <a:lstStyle/>
        <a:p>
          <a:endParaRPr lang="en-IN"/>
        </a:p>
      </dgm:t>
    </dgm:pt>
    <dgm:pt modelId="{A812A4E2-38C3-493D-8DCD-ED96053BFB65}">
      <dgm:prSet/>
      <dgm:spPr/>
      <dgm:t>
        <a:bodyPr/>
        <a:lstStyle/>
        <a:p>
          <a:r>
            <a:rPr lang="en-IN" dirty="0"/>
            <a:t>Async request forwarded to </a:t>
          </a:r>
          <a:r>
            <a:rPr lang="en-IN" dirty="0" err="1"/>
            <a:t>Colab</a:t>
          </a:r>
          <a:r>
            <a:rPr lang="en-IN" dirty="0"/>
            <a:t> GPU via </a:t>
          </a:r>
          <a:r>
            <a:rPr lang="en-IN" dirty="0" err="1"/>
            <a:t>ngrok</a:t>
          </a:r>
          <a:endParaRPr lang="en-IN" dirty="0"/>
        </a:p>
      </dgm:t>
    </dgm:pt>
    <dgm:pt modelId="{D909C086-DB9B-41B3-B2CA-EDAA4EE8156B}" type="parTrans" cxnId="{9B8FE7F5-7644-44A1-93A9-F44716B629D6}">
      <dgm:prSet/>
      <dgm:spPr/>
      <dgm:t>
        <a:bodyPr/>
        <a:lstStyle/>
        <a:p>
          <a:endParaRPr lang="en-IN"/>
        </a:p>
      </dgm:t>
    </dgm:pt>
    <dgm:pt modelId="{C424314D-0C25-48C6-9BE1-65E7AF6CE5E2}" type="sibTrans" cxnId="{9B8FE7F5-7644-44A1-93A9-F44716B629D6}">
      <dgm:prSet/>
      <dgm:spPr/>
      <dgm:t>
        <a:bodyPr/>
        <a:lstStyle/>
        <a:p>
          <a:endParaRPr lang="en-IN"/>
        </a:p>
      </dgm:t>
    </dgm:pt>
    <dgm:pt modelId="{DCAF185C-1A56-4AD9-9FC7-0B9498D78CA1}">
      <dgm:prSet/>
      <dgm:spPr/>
      <dgm:t>
        <a:bodyPr/>
        <a:lstStyle/>
        <a:p>
          <a:r>
            <a:rPr lang="en-IN" dirty="0" err="1"/>
            <a:t>CatVTON</a:t>
          </a:r>
          <a:r>
            <a:rPr lang="en-IN" dirty="0"/>
            <a:t> executes Latent Diffusion warping</a:t>
          </a:r>
        </a:p>
      </dgm:t>
    </dgm:pt>
    <dgm:pt modelId="{9824B64D-F7A1-4DDA-B997-12A1A6F80F91}" type="parTrans" cxnId="{914E12E0-0549-4137-A47D-FD3ED3840A30}">
      <dgm:prSet/>
      <dgm:spPr/>
      <dgm:t>
        <a:bodyPr/>
        <a:lstStyle/>
        <a:p>
          <a:endParaRPr lang="en-IN"/>
        </a:p>
      </dgm:t>
    </dgm:pt>
    <dgm:pt modelId="{E3819A9B-75B3-4AA8-A35C-B688E1CA4C67}" type="sibTrans" cxnId="{914E12E0-0549-4137-A47D-FD3ED3840A30}">
      <dgm:prSet/>
      <dgm:spPr/>
      <dgm:t>
        <a:bodyPr/>
        <a:lstStyle/>
        <a:p>
          <a:endParaRPr lang="en-IN"/>
        </a:p>
      </dgm:t>
    </dgm:pt>
    <dgm:pt modelId="{4A858F16-1320-472A-BD2F-576FE58B5E31}">
      <dgm:prSet/>
      <dgm:spPr/>
      <dgm:t>
        <a:bodyPr/>
        <a:lstStyle/>
        <a:p>
          <a:r>
            <a:rPr lang="en-IN" dirty="0"/>
            <a:t>Output image saved; Frontend polls &amp; displays result</a:t>
          </a:r>
        </a:p>
      </dgm:t>
    </dgm:pt>
    <dgm:pt modelId="{DF6F6FFF-C5EA-4B87-B947-4921B01E3B0F}" type="parTrans" cxnId="{DD105945-8E9A-4B57-B88C-BE5F1392FEE0}">
      <dgm:prSet/>
      <dgm:spPr/>
      <dgm:t>
        <a:bodyPr/>
        <a:lstStyle/>
        <a:p>
          <a:endParaRPr lang="en-IN"/>
        </a:p>
      </dgm:t>
    </dgm:pt>
    <dgm:pt modelId="{54BFF47A-20E0-413A-B408-D62B204DFF66}" type="sibTrans" cxnId="{DD105945-8E9A-4B57-B88C-BE5F1392FEE0}">
      <dgm:prSet/>
      <dgm:spPr/>
      <dgm:t>
        <a:bodyPr/>
        <a:lstStyle/>
        <a:p>
          <a:endParaRPr lang="en-IN"/>
        </a:p>
      </dgm:t>
    </dgm:pt>
    <dgm:pt modelId="{9BEEB87C-8ED9-4687-9375-E4FCA4B59200}" type="pres">
      <dgm:prSet presAssocID="{B8318DA2-5415-48F7-A950-5F0ABF640659}" presName="linearFlow" presStyleCnt="0">
        <dgm:presLayoutVars>
          <dgm:resizeHandles val="exact"/>
        </dgm:presLayoutVars>
      </dgm:prSet>
      <dgm:spPr/>
    </dgm:pt>
    <dgm:pt modelId="{5AE3AFA7-7C9F-4C37-BB2D-E220D5BC028A}" type="pres">
      <dgm:prSet presAssocID="{704DCDB7-2A18-4E8B-98FF-8F6FE5A37ACE}" presName="node" presStyleLbl="node1" presStyleIdx="0" presStyleCnt="5">
        <dgm:presLayoutVars>
          <dgm:bulletEnabled val="1"/>
        </dgm:presLayoutVars>
      </dgm:prSet>
      <dgm:spPr/>
    </dgm:pt>
    <dgm:pt modelId="{8A4D5B9A-B878-4030-AD44-CF6B154746C2}" type="pres">
      <dgm:prSet presAssocID="{9C66FB24-B16F-4EAA-8BBB-0D7C1DAAA3C8}" presName="sibTrans" presStyleLbl="sibTrans2D1" presStyleIdx="0" presStyleCnt="4"/>
      <dgm:spPr/>
    </dgm:pt>
    <dgm:pt modelId="{48B7ACD6-3ACD-49AD-9BF6-F40819F1097A}" type="pres">
      <dgm:prSet presAssocID="{9C66FB24-B16F-4EAA-8BBB-0D7C1DAAA3C8}" presName="connectorText" presStyleLbl="sibTrans2D1" presStyleIdx="0" presStyleCnt="4"/>
      <dgm:spPr/>
    </dgm:pt>
    <dgm:pt modelId="{BE918B95-13AB-456D-982B-BE474E7218A4}" type="pres">
      <dgm:prSet presAssocID="{C66714FE-EF87-47D1-A5FD-6BD97BDCA7F7}" presName="node" presStyleLbl="node1" presStyleIdx="1" presStyleCnt="5">
        <dgm:presLayoutVars>
          <dgm:bulletEnabled val="1"/>
        </dgm:presLayoutVars>
      </dgm:prSet>
      <dgm:spPr/>
    </dgm:pt>
    <dgm:pt modelId="{57E54C3F-E653-4AF9-B776-1783EEE31675}" type="pres">
      <dgm:prSet presAssocID="{D00ABEC1-3DCA-49D8-8659-8B67255C312F}" presName="sibTrans" presStyleLbl="sibTrans2D1" presStyleIdx="1" presStyleCnt="4"/>
      <dgm:spPr/>
    </dgm:pt>
    <dgm:pt modelId="{85CAB6AA-8343-4905-903D-DBCBEDC5EBC3}" type="pres">
      <dgm:prSet presAssocID="{D00ABEC1-3DCA-49D8-8659-8B67255C312F}" presName="connectorText" presStyleLbl="sibTrans2D1" presStyleIdx="1" presStyleCnt="4"/>
      <dgm:spPr/>
    </dgm:pt>
    <dgm:pt modelId="{D074E197-3B09-47F2-926C-2BD95E4F4954}" type="pres">
      <dgm:prSet presAssocID="{A812A4E2-38C3-493D-8DCD-ED96053BFB65}" presName="node" presStyleLbl="node1" presStyleIdx="2" presStyleCnt="5">
        <dgm:presLayoutVars>
          <dgm:bulletEnabled val="1"/>
        </dgm:presLayoutVars>
      </dgm:prSet>
      <dgm:spPr/>
    </dgm:pt>
    <dgm:pt modelId="{CD9B5ADD-663C-4165-933C-F05C634851C3}" type="pres">
      <dgm:prSet presAssocID="{C424314D-0C25-48C6-9BE1-65E7AF6CE5E2}" presName="sibTrans" presStyleLbl="sibTrans2D1" presStyleIdx="2" presStyleCnt="4"/>
      <dgm:spPr/>
    </dgm:pt>
    <dgm:pt modelId="{4D33ACBD-1F90-4F1E-9D0F-55BF757C3B89}" type="pres">
      <dgm:prSet presAssocID="{C424314D-0C25-48C6-9BE1-65E7AF6CE5E2}" presName="connectorText" presStyleLbl="sibTrans2D1" presStyleIdx="2" presStyleCnt="4"/>
      <dgm:spPr/>
    </dgm:pt>
    <dgm:pt modelId="{C01BD72F-2B17-499F-9DEE-4CD953FB7721}" type="pres">
      <dgm:prSet presAssocID="{DCAF185C-1A56-4AD9-9FC7-0B9498D78CA1}" presName="node" presStyleLbl="node1" presStyleIdx="3" presStyleCnt="5">
        <dgm:presLayoutVars>
          <dgm:bulletEnabled val="1"/>
        </dgm:presLayoutVars>
      </dgm:prSet>
      <dgm:spPr/>
    </dgm:pt>
    <dgm:pt modelId="{90CB3541-38E6-4CA9-8CA6-4696F773DD67}" type="pres">
      <dgm:prSet presAssocID="{E3819A9B-75B3-4AA8-A35C-B688E1CA4C67}" presName="sibTrans" presStyleLbl="sibTrans2D1" presStyleIdx="3" presStyleCnt="4"/>
      <dgm:spPr/>
    </dgm:pt>
    <dgm:pt modelId="{1DCB4B4C-214A-4715-AC09-ABD2FBE6FB31}" type="pres">
      <dgm:prSet presAssocID="{E3819A9B-75B3-4AA8-A35C-B688E1CA4C67}" presName="connectorText" presStyleLbl="sibTrans2D1" presStyleIdx="3" presStyleCnt="4"/>
      <dgm:spPr/>
    </dgm:pt>
    <dgm:pt modelId="{14F4A43E-BECD-43DA-AD51-ADF2241BA2BB}" type="pres">
      <dgm:prSet presAssocID="{4A858F16-1320-472A-BD2F-576FE58B5E31}" presName="node" presStyleLbl="node1" presStyleIdx="4" presStyleCnt="5">
        <dgm:presLayoutVars>
          <dgm:bulletEnabled val="1"/>
        </dgm:presLayoutVars>
      </dgm:prSet>
      <dgm:spPr/>
    </dgm:pt>
  </dgm:ptLst>
  <dgm:cxnLst>
    <dgm:cxn modelId="{45D6CD06-6B32-46C4-AC3F-F5687F96B335}" type="presOf" srcId="{4A858F16-1320-472A-BD2F-576FE58B5E31}" destId="{14F4A43E-BECD-43DA-AD51-ADF2241BA2BB}" srcOrd="0" destOrd="0" presId="urn:microsoft.com/office/officeart/2005/8/layout/process2"/>
    <dgm:cxn modelId="{0C04EB08-98F6-4AD3-914B-E5AD75EBF635}" type="presOf" srcId="{704DCDB7-2A18-4E8B-98FF-8F6FE5A37ACE}" destId="{5AE3AFA7-7C9F-4C37-BB2D-E220D5BC028A}" srcOrd="0" destOrd="0" presId="urn:microsoft.com/office/officeart/2005/8/layout/process2"/>
    <dgm:cxn modelId="{CF794924-7F0E-446A-9748-47CCB38E98F6}" srcId="{B8318DA2-5415-48F7-A950-5F0ABF640659}" destId="{C66714FE-EF87-47D1-A5FD-6BD97BDCA7F7}" srcOrd="1" destOrd="0" parTransId="{C8F18EB7-4A22-4B14-9CCC-25577B05F715}" sibTransId="{D00ABEC1-3DCA-49D8-8659-8B67255C312F}"/>
    <dgm:cxn modelId="{7F11442C-0D78-4D94-BB0E-FCEE6EDE8B67}" type="presOf" srcId="{D00ABEC1-3DCA-49D8-8659-8B67255C312F}" destId="{57E54C3F-E653-4AF9-B776-1783EEE31675}" srcOrd="0" destOrd="0" presId="urn:microsoft.com/office/officeart/2005/8/layout/process2"/>
    <dgm:cxn modelId="{10A82533-4396-4A86-A139-1F5A0B8F69C0}" type="presOf" srcId="{9C66FB24-B16F-4EAA-8BBB-0D7C1DAAA3C8}" destId="{48B7ACD6-3ACD-49AD-9BF6-F40819F1097A}" srcOrd="1" destOrd="0" presId="urn:microsoft.com/office/officeart/2005/8/layout/process2"/>
    <dgm:cxn modelId="{85B49E5C-4CF1-4792-BC17-BAD62E014556}" type="presOf" srcId="{DCAF185C-1A56-4AD9-9FC7-0B9498D78CA1}" destId="{C01BD72F-2B17-499F-9DEE-4CD953FB7721}" srcOrd="0" destOrd="0" presId="urn:microsoft.com/office/officeart/2005/8/layout/process2"/>
    <dgm:cxn modelId="{DD105945-8E9A-4B57-B88C-BE5F1392FEE0}" srcId="{B8318DA2-5415-48F7-A950-5F0ABF640659}" destId="{4A858F16-1320-472A-BD2F-576FE58B5E31}" srcOrd="4" destOrd="0" parTransId="{DF6F6FFF-C5EA-4B87-B947-4921B01E3B0F}" sibTransId="{54BFF47A-20E0-413A-B408-D62B204DFF66}"/>
    <dgm:cxn modelId="{F467E155-437B-4980-AC3F-294D8DE7F640}" type="presOf" srcId="{C424314D-0C25-48C6-9BE1-65E7AF6CE5E2}" destId="{CD9B5ADD-663C-4165-933C-F05C634851C3}" srcOrd="0" destOrd="0" presId="urn:microsoft.com/office/officeart/2005/8/layout/process2"/>
    <dgm:cxn modelId="{9E94B37A-720E-4ECF-ABC7-542F1CE5955B}" type="presOf" srcId="{C424314D-0C25-48C6-9BE1-65E7AF6CE5E2}" destId="{4D33ACBD-1F90-4F1E-9D0F-55BF757C3B89}" srcOrd="1" destOrd="0" presId="urn:microsoft.com/office/officeart/2005/8/layout/process2"/>
    <dgm:cxn modelId="{A5AAD286-DEB5-4E79-9063-5BC8A0634F79}" type="presOf" srcId="{E3819A9B-75B3-4AA8-A35C-B688E1CA4C67}" destId="{90CB3541-38E6-4CA9-8CA6-4696F773DD67}" srcOrd="0" destOrd="0" presId="urn:microsoft.com/office/officeart/2005/8/layout/process2"/>
    <dgm:cxn modelId="{624D79A5-D4E0-434A-87AD-C80D3F6C01EB}" type="presOf" srcId="{C66714FE-EF87-47D1-A5FD-6BD97BDCA7F7}" destId="{BE918B95-13AB-456D-982B-BE474E7218A4}" srcOrd="0" destOrd="0" presId="urn:microsoft.com/office/officeart/2005/8/layout/process2"/>
    <dgm:cxn modelId="{92A371C4-35BF-4241-BF68-14DF0CCF5D71}" type="presOf" srcId="{A812A4E2-38C3-493D-8DCD-ED96053BFB65}" destId="{D074E197-3B09-47F2-926C-2BD95E4F4954}" srcOrd="0" destOrd="0" presId="urn:microsoft.com/office/officeart/2005/8/layout/process2"/>
    <dgm:cxn modelId="{029105CA-64BE-48B2-8C37-198D83A6B0B9}" type="presOf" srcId="{D00ABEC1-3DCA-49D8-8659-8B67255C312F}" destId="{85CAB6AA-8343-4905-903D-DBCBEDC5EBC3}" srcOrd="1" destOrd="0" presId="urn:microsoft.com/office/officeart/2005/8/layout/process2"/>
    <dgm:cxn modelId="{8AC731CB-3C4C-4733-B1D7-AC064F3C1940}" type="presOf" srcId="{B8318DA2-5415-48F7-A950-5F0ABF640659}" destId="{9BEEB87C-8ED9-4687-9375-E4FCA4B59200}" srcOrd="0" destOrd="0" presId="urn:microsoft.com/office/officeart/2005/8/layout/process2"/>
    <dgm:cxn modelId="{914E12E0-0549-4137-A47D-FD3ED3840A30}" srcId="{B8318DA2-5415-48F7-A950-5F0ABF640659}" destId="{DCAF185C-1A56-4AD9-9FC7-0B9498D78CA1}" srcOrd="3" destOrd="0" parTransId="{9824B64D-F7A1-4DDA-B997-12A1A6F80F91}" sibTransId="{E3819A9B-75B3-4AA8-A35C-B688E1CA4C67}"/>
    <dgm:cxn modelId="{123DB2EB-DB62-4CDE-86EC-EFD2196DB97C}" type="presOf" srcId="{E3819A9B-75B3-4AA8-A35C-B688E1CA4C67}" destId="{1DCB4B4C-214A-4715-AC09-ABD2FBE6FB31}" srcOrd="1" destOrd="0" presId="urn:microsoft.com/office/officeart/2005/8/layout/process2"/>
    <dgm:cxn modelId="{A1DA1FF0-A791-43C7-8E28-B6ED9DA03343}" type="presOf" srcId="{9C66FB24-B16F-4EAA-8BBB-0D7C1DAAA3C8}" destId="{8A4D5B9A-B878-4030-AD44-CF6B154746C2}" srcOrd="0" destOrd="0" presId="urn:microsoft.com/office/officeart/2005/8/layout/process2"/>
    <dgm:cxn modelId="{AE81C4F2-C947-4B61-B1CD-F35F0534FB1A}" srcId="{B8318DA2-5415-48F7-A950-5F0ABF640659}" destId="{704DCDB7-2A18-4E8B-98FF-8F6FE5A37ACE}" srcOrd="0" destOrd="0" parTransId="{87082A47-72FD-4679-A297-C7E4DE19EA11}" sibTransId="{9C66FB24-B16F-4EAA-8BBB-0D7C1DAAA3C8}"/>
    <dgm:cxn modelId="{9B8FE7F5-7644-44A1-93A9-F44716B629D6}" srcId="{B8318DA2-5415-48F7-A950-5F0ABF640659}" destId="{A812A4E2-38C3-493D-8DCD-ED96053BFB65}" srcOrd="2" destOrd="0" parTransId="{D909C086-DB9B-41B3-B2CA-EDAA4EE8156B}" sibTransId="{C424314D-0C25-48C6-9BE1-65E7AF6CE5E2}"/>
    <dgm:cxn modelId="{28A6BC44-2DE0-4242-A12D-6652795991D9}" type="presParOf" srcId="{9BEEB87C-8ED9-4687-9375-E4FCA4B59200}" destId="{5AE3AFA7-7C9F-4C37-BB2D-E220D5BC028A}" srcOrd="0" destOrd="0" presId="urn:microsoft.com/office/officeart/2005/8/layout/process2"/>
    <dgm:cxn modelId="{EEC0D2DB-DF49-41B2-A30F-257DCFCB73FE}" type="presParOf" srcId="{9BEEB87C-8ED9-4687-9375-E4FCA4B59200}" destId="{8A4D5B9A-B878-4030-AD44-CF6B154746C2}" srcOrd="1" destOrd="0" presId="urn:microsoft.com/office/officeart/2005/8/layout/process2"/>
    <dgm:cxn modelId="{4D08A61D-0796-4E00-826C-7B0E9325CB82}" type="presParOf" srcId="{8A4D5B9A-B878-4030-AD44-CF6B154746C2}" destId="{48B7ACD6-3ACD-49AD-9BF6-F40819F1097A}" srcOrd="0" destOrd="0" presId="urn:microsoft.com/office/officeart/2005/8/layout/process2"/>
    <dgm:cxn modelId="{1B414CD5-D6BD-4259-BE75-9AAAE5A42C00}" type="presParOf" srcId="{9BEEB87C-8ED9-4687-9375-E4FCA4B59200}" destId="{BE918B95-13AB-456D-982B-BE474E7218A4}" srcOrd="2" destOrd="0" presId="urn:microsoft.com/office/officeart/2005/8/layout/process2"/>
    <dgm:cxn modelId="{A1D6C706-B04D-493B-83C0-413EF303AC13}" type="presParOf" srcId="{9BEEB87C-8ED9-4687-9375-E4FCA4B59200}" destId="{57E54C3F-E653-4AF9-B776-1783EEE31675}" srcOrd="3" destOrd="0" presId="urn:microsoft.com/office/officeart/2005/8/layout/process2"/>
    <dgm:cxn modelId="{DBBC1266-6D73-4E08-B3EF-062FBBCACE48}" type="presParOf" srcId="{57E54C3F-E653-4AF9-B776-1783EEE31675}" destId="{85CAB6AA-8343-4905-903D-DBCBEDC5EBC3}" srcOrd="0" destOrd="0" presId="urn:microsoft.com/office/officeart/2005/8/layout/process2"/>
    <dgm:cxn modelId="{991606A6-B3C9-40DB-837A-F23EFF3ECD6F}" type="presParOf" srcId="{9BEEB87C-8ED9-4687-9375-E4FCA4B59200}" destId="{D074E197-3B09-47F2-926C-2BD95E4F4954}" srcOrd="4" destOrd="0" presId="urn:microsoft.com/office/officeart/2005/8/layout/process2"/>
    <dgm:cxn modelId="{25F5F28E-42FE-4C40-B816-0885DA5E1E7F}" type="presParOf" srcId="{9BEEB87C-8ED9-4687-9375-E4FCA4B59200}" destId="{CD9B5ADD-663C-4165-933C-F05C634851C3}" srcOrd="5" destOrd="0" presId="urn:microsoft.com/office/officeart/2005/8/layout/process2"/>
    <dgm:cxn modelId="{EC6D1F1E-A8D5-4971-A288-CDB7648FEB9E}" type="presParOf" srcId="{CD9B5ADD-663C-4165-933C-F05C634851C3}" destId="{4D33ACBD-1F90-4F1E-9D0F-55BF757C3B89}" srcOrd="0" destOrd="0" presId="urn:microsoft.com/office/officeart/2005/8/layout/process2"/>
    <dgm:cxn modelId="{F646576B-F82D-4A18-9CBF-EF2C49F93EF0}" type="presParOf" srcId="{9BEEB87C-8ED9-4687-9375-E4FCA4B59200}" destId="{C01BD72F-2B17-499F-9DEE-4CD953FB7721}" srcOrd="6" destOrd="0" presId="urn:microsoft.com/office/officeart/2005/8/layout/process2"/>
    <dgm:cxn modelId="{A96C3887-DAD1-46C2-A0DC-96A36E16D300}" type="presParOf" srcId="{9BEEB87C-8ED9-4687-9375-E4FCA4B59200}" destId="{90CB3541-38E6-4CA9-8CA6-4696F773DD67}" srcOrd="7" destOrd="0" presId="urn:microsoft.com/office/officeart/2005/8/layout/process2"/>
    <dgm:cxn modelId="{1E8265B8-2B5A-43AD-BF01-DA9A4DF07A42}" type="presParOf" srcId="{90CB3541-38E6-4CA9-8CA6-4696F773DD67}" destId="{1DCB4B4C-214A-4715-AC09-ABD2FBE6FB31}" srcOrd="0" destOrd="0" presId="urn:microsoft.com/office/officeart/2005/8/layout/process2"/>
    <dgm:cxn modelId="{245D03A2-613F-4F42-A36A-0A2B884D5FC9}" type="presParOf" srcId="{9BEEB87C-8ED9-4687-9375-E4FCA4B59200}" destId="{14F4A43E-BECD-43DA-AD51-ADF2241BA2BB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41114B-3660-496C-8461-409B95A9D421}">
      <dsp:nvSpPr>
        <dsp:cNvPr id="0" name=""/>
        <dsp:cNvSpPr/>
      </dsp:nvSpPr>
      <dsp:spPr>
        <a:xfrm>
          <a:off x="0" y="4369684"/>
          <a:ext cx="6063310" cy="0"/>
        </a:xfrm>
        <a:prstGeom prst="line">
          <a:avLst/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2674EB-C6E3-4E7F-94E6-2AF38703E040}">
      <dsp:nvSpPr>
        <dsp:cNvPr id="0" name=""/>
        <dsp:cNvSpPr/>
      </dsp:nvSpPr>
      <dsp:spPr>
        <a:xfrm>
          <a:off x="0" y="2889680"/>
          <a:ext cx="6063310" cy="0"/>
        </a:xfrm>
        <a:prstGeom prst="line">
          <a:avLst/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6D7AE8-57BA-42E4-A3DE-2B480D4C1C6F}">
      <dsp:nvSpPr>
        <dsp:cNvPr id="0" name=""/>
        <dsp:cNvSpPr/>
      </dsp:nvSpPr>
      <dsp:spPr>
        <a:xfrm>
          <a:off x="0" y="1409675"/>
          <a:ext cx="6063310" cy="0"/>
        </a:xfrm>
        <a:prstGeom prst="line">
          <a:avLst/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C2EFFC-11C6-4A5B-BD0F-764AA51AE7F3}">
      <dsp:nvSpPr>
        <dsp:cNvPr id="0" name=""/>
        <dsp:cNvSpPr/>
      </dsp:nvSpPr>
      <dsp:spPr>
        <a:xfrm>
          <a:off x="1576460" y="147"/>
          <a:ext cx="4486849" cy="140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Everyday clothing selection causes cognitive decision fatigue and poor wardrobe utilization because wardrobes remain </a:t>
          </a:r>
          <a:r>
            <a:rPr lang="en-IN" sz="1200" kern="1200" dirty="0" err="1"/>
            <a:t>uncataloged</a:t>
          </a:r>
          <a:r>
            <a:rPr lang="en-IN" sz="1200" kern="1200" dirty="0"/>
            <a:t>. Users struggle to visualize how separate garments match in style and fit without physically trying them on.</a:t>
          </a:r>
        </a:p>
      </dsp:txBody>
      <dsp:txXfrm>
        <a:off x="1576460" y="147"/>
        <a:ext cx="4486849" cy="1409528"/>
      </dsp:txXfrm>
    </dsp:sp>
    <dsp:sp modelId="{5624B060-3C09-4F69-A1AD-828D568D179A}">
      <dsp:nvSpPr>
        <dsp:cNvPr id="0" name=""/>
        <dsp:cNvSpPr/>
      </dsp:nvSpPr>
      <dsp:spPr>
        <a:xfrm>
          <a:off x="0" y="147"/>
          <a:ext cx="1576460" cy="1409528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Background / Problem Statement</a:t>
          </a:r>
          <a:endParaRPr lang="en-IN" sz="1800" kern="1200" dirty="0"/>
        </a:p>
      </dsp:txBody>
      <dsp:txXfrm>
        <a:off x="68820" y="68967"/>
        <a:ext cx="1438820" cy="1340708"/>
      </dsp:txXfrm>
    </dsp:sp>
    <dsp:sp modelId="{57D3442A-DC39-4203-A288-A81A87A0D5D4}">
      <dsp:nvSpPr>
        <dsp:cNvPr id="0" name=""/>
        <dsp:cNvSpPr/>
      </dsp:nvSpPr>
      <dsp:spPr>
        <a:xfrm>
          <a:off x="1576460" y="1480151"/>
          <a:ext cx="4486849" cy="140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Multimodal Zero-Shot Transformers (Fashion-CLIP) automate garment tagging (category, pattern, formality) without manual </a:t>
          </a:r>
          <a:r>
            <a:rPr lang="en-IN" sz="1200" kern="1200" dirty="0" err="1"/>
            <a:t>labeling</a:t>
          </a:r>
          <a:r>
            <a:rPr lang="en-IN" sz="1200" kern="1200" dirty="0"/>
            <a:t>. Perceptual </a:t>
          </a:r>
          <a:r>
            <a:rPr lang="en-IN" sz="1200" kern="1200" dirty="0" err="1"/>
            <a:t>color</a:t>
          </a:r>
          <a:r>
            <a:rPr lang="en-IN" sz="1200" kern="1200" dirty="0"/>
            <a:t> harmony is quantified using CIELAB ΔE, while Conditional Latent Diffusion (</a:t>
          </a:r>
          <a:r>
            <a:rPr lang="en-IN" sz="1200" kern="1200" dirty="0" err="1"/>
            <a:t>CatVTON</a:t>
          </a:r>
          <a:r>
            <a:rPr lang="en-IN" sz="1200" kern="1200" dirty="0"/>
            <a:t>) generates photorealistic virtual try-ons.</a:t>
          </a:r>
        </a:p>
      </dsp:txBody>
      <dsp:txXfrm>
        <a:off x="1576460" y="1480151"/>
        <a:ext cx="4486849" cy="1409528"/>
      </dsp:txXfrm>
    </dsp:sp>
    <dsp:sp modelId="{C0B27A11-0777-4921-8953-97EF3270A715}">
      <dsp:nvSpPr>
        <dsp:cNvPr id="0" name=""/>
        <dsp:cNvSpPr/>
      </dsp:nvSpPr>
      <dsp:spPr>
        <a:xfrm>
          <a:off x="0" y="1480151"/>
          <a:ext cx="1576460" cy="1409528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Concept Used</a:t>
          </a:r>
        </a:p>
      </dsp:txBody>
      <dsp:txXfrm>
        <a:off x="68820" y="1548971"/>
        <a:ext cx="1438820" cy="1340708"/>
      </dsp:txXfrm>
    </dsp:sp>
    <dsp:sp modelId="{A25AF345-DC80-489C-851E-D6ECB26EBB12}">
      <dsp:nvSpPr>
        <dsp:cNvPr id="0" name=""/>
        <dsp:cNvSpPr/>
      </dsp:nvSpPr>
      <dsp:spPr>
        <a:xfrm>
          <a:off x="1576460" y="2960156"/>
          <a:ext cx="4486849" cy="140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Everyday individuals seeking efficient outfit assembly; fashion-conscious users looking to optimize clothing rotation; digital apparel platforms.</a:t>
          </a:r>
        </a:p>
      </dsp:txBody>
      <dsp:txXfrm>
        <a:off x="1576460" y="2960156"/>
        <a:ext cx="4486849" cy="1409528"/>
      </dsp:txXfrm>
    </dsp:sp>
    <dsp:sp modelId="{AD1D35CF-B3DE-44D1-8BEA-D3567A79419E}">
      <dsp:nvSpPr>
        <dsp:cNvPr id="0" name=""/>
        <dsp:cNvSpPr/>
      </dsp:nvSpPr>
      <dsp:spPr>
        <a:xfrm>
          <a:off x="0" y="2960303"/>
          <a:ext cx="1576460" cy="1409528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Who is affected?</a:t>
          </a:r>
        </a:p>
      </dsp:txBody>
      <dsp:txXfrm>
        <a:off x="68820" y="3029123"/>
        <a:ext cx="1438820" cy="13407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5DEE4D-A7B3-49E9-99A2-4EDA6C699325}">
      <dsp:nvSpPr>
        <dsp:cNvPr id="0" name=""/>
        <dsp:cNvSpPr/>
      </dsp:nvSpPr>
      <dsp:spPr>
        <a:xfrm>
          <a:off x="729852" y="435"/>
          <a:ext cx="1832134" cy="5093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User uploads garment photo</a:t>
          </a:r>
        </a:p>
      </dsp:txBody>
      <dsp:txXfrm>
        <a:off x="744770" y="15353"/>
        <a:ext cx="1802298" cy="479491"/>
      </dsp:txXfrm>
    </dsp:sp>
    <dsp:sp modelId="{697F37D6-9470-4403-967D-D3A493927B54}">
      <dsp:nvSpPr>
        <dsp:cNvPr id="0" name=""/>
        <dsp:cNvSpPr/>
      </dsp:nvSpPr>
      <dsp:spPr>
        <a:xfrm rot="5400000">
          <a:off x="1550421" y="522495"/>
          <a:ext cx="190997" cy="229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577161" y="541595"/>
        <a:ext cx="137519" cy="133698"/>
      </dsp:txXfrm>
    </dsp:sp>
    <dsp:sp modelId="{30C31632-1FA4-4E46-B27B-593F42BFA17A}">
      <dsp:nvSpPr>
        <dsp:cNvPr id="0" name=""/>
        <dsp:cNvSpPr/>
      </dsp:nvSpPr>
      <dsp:spPr>
        <a:xfrm>
          <a:off x="729852" y="764425"/>
          <a:ext cx="1832134" cy="509327"/>
        </a:xfrm>
        <a:prstGeom prst="roundRect">
          <a:avLst>
            <a:gd name="adj" fmla="val 10000"/>
          </a:avLst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 err="1"/>
            <a:t>rembg</a:t>
          </a:r>
          <a:r>
            <a:rPr lang="en-IN" sz="1300" kern="1200" dirty="0"/>
            <a:t> removes image background</a:t>
          </a:r>
        </a:p>
      </dsp:txBody>
      <dsp:txXfrm>
        <a:off x="744770" y="779343"/>
        <a:ext cx="1802298" cy="479491"/>
      </dsp:txXfrm>
    </dsp:sp>
    <dsp:sp modelId="{66FC2FC5-BD7F-4D20-82F3-D338C6962839}">
      <dsp:nvSpPr>
        <dsp:cNvPr id="0" name=""/>
        <dsp:cNvSpPr/>
      </dsp:nvSpPr>
      <dsp:spPr>
        <a:xfrm rot="5400000">
          <a:off x="1550421" y="1286486"/>
          <a:ext cx="190997" cy="229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577161" y="1305586"/>
        <a:ext cx="137519" cy="133698"/>
      </dsp:txXfrm>
    </dsp:sp>
    <dsp:sp modelId="{50CA9284-2946-4674-8196-6D65C1D46561}">
      <dsp:nvSpPr>
        <dsp:cNvPr id="0" name=""/>
        <dsp:cNvSpPr/>
      </dsp:nvSpPr>
      <dsp:spPr>
        <a:xfrm>
          <a:off x="729852" y="1528416"/>
          <a:ext cx="1832134" cy="509327"/>
        </a:xfrm>
        <a:prstGeom prst="roundRect">
          <a:avLst>
            <a:gd name="adj" fmla="val 10000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K-Means extracts dominant </a:t>
          </a:r>
          <a:r>
            <a:rPr lang="en-IN" sz="1300" kern="1200" dirty="0" err="1"/>
            <a:t>colors</a:t>
          </a:r>
          <a:r>
            <a:rPr lang="en-IN" sz="1300" kern="1200" dirty="0"/>
            <a:t> (CIELAB)</a:t>
          </a:r>
        </a:p>
      </dsp:txBody>
      <dsp:txXfrm>
        <a:off x="744770" y="1543334"/>
        <a:ext cx="1802298" cy="479491"/>
      </dsp:txXfrm>
    </dsp:sp>
    <dsp:sp modelId="{0BD40132-1B38-4FE4-B00B-CA7D358D7D1F}">
      <dsp:nvSpPr>
        <dsp:cNvPr id="0" name=""/>
        <dsp:cNvSpPr/>
      </dsp:nvSpPr>
      <dsp:spPr>
        <a:xfrm rot="5400000">
          <a:off x="1550421" y="2050476"/>
          <a:ext cx="190997" cy="229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577161" y="2069576"/>
        <a:ext cx="137519" cy="133698"/>
      </dsp:txXfrm>
    </dsp:sp>
    <dsp:sp modelId="{C92CA09D-86A6-420E-995D-8D3A54303B80}">
      <dsp:nvSpPr>
        <dsp:cNvPr id="0" name=""/>
        <dsp:cNvSpPr/>
      </dsp:nvSpPr>
      <dsp:spPr>
        <a:xfrm>
          <a:off x="729852" y="2292407"/>
          <a:ext cx="1832134" cy="509327"/>
        </a:xfrm>
        <a:prstGeom prst="roundRect">
          <a:avLst>
            <a:gd name="adj" fmla="val 10000"/>
          </a:avLst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Fashion-CLIP zero-shot tags category &amp; formality</a:t>
          </a:r>
        </a:p>
      </dsp:txBody>
      <dsp:txXfrm>
        <a:off x="744770" y="2307325"/>
        <a:ext cx="1802298" cy="479491"/>
      </dsp:txXfrm>
    </dsp:sp>
    <dsp:sp modelId="{DB2ECC6F-9C6C-450D-9126-9773ECF4BC90}">
      <dsp:nvSpPr>
        <dsp:cNvPr id="0" name=""/>
        <dsp:cNvSpPr/>
      </dsp:nvSpPr>
      <dsp:spPr>
        <a:xfrm rot="5400000">
          <a:off x="1550421" y="2814467"/>
          <a:ext cx="190997" cy="229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577161" y="2833567"/>
        <a:ext cx="137519" cy="133698"/>
      </dsp:txXfrm>
    </dsp:sp>
    <dsp:sp modelId="{2E13C33D-9E0F-4D73-A41C-D70C8A752D74}">
      <dsp:nvSpPr>
        <dsp:cNvPr id="0" name=""/>
        <dsp:cNvSpPr/>
      </dsp:nvSpPr>
      <dsp:spPr>
        <a:xfrm>
          <a:off x="729852" y="3056397"/>
          <a:ext cx="1832134" cy="509327"/>
        </a:xfrm>
        <a:prstGeom prst="roundRect">
          <a:avLst>
            <a:gd name="adj" fmla="val 1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Record saved to Relational DB (3NF)</a:t>
          </a:r>
        </a:p>
      </dsp:txBody>
      <dsp:txXfrm>
        <a:off x="744770" y="3071315"/>
        <a:ext cx="1802298" cy="4794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9390D-CC76-4F51-91EF-85F8540364E9}">
      <dsp:nvSpPr>
        <dsp:cNvPr id="0" name=""/>
        <dsp:cNvSpPr/>
      </dsp:nvSpPr>
      <dsp:spPr>
        <a:xfrm>
          <a:off x="690185" y="435"/>
          <a:ext cx="1911468" cy="5093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User requests outfit suggestions</a:t>
          </a:r>
        </a:p>
      </dsp:txBody>
      <dsp:txXfrm>
        <a:off x="705103" y="15353"/>
        <a:ext cx="1881632" cy="479491"/>
      </dsp:txXfrm>
    </dsp:sp>
    <dsp:sp modelId="{8137F71D-5720-4A36-AD2D-ADA0F1B47332}">
      <dsp:nvSpPr>
        <dsp:cNvPr id="0" name=""/>
        <dsp:cNvSpPr/>
      </dsp:nvSpPr>
      <dsp:spPr>
        <a:xfrm rot="5400000">
          <a:off x="1550421" y="522495"/>
          <a:ext cx="190997" cy="229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577161" y="541595"/>
        <a:ext cx="137519" cy="133698"/>
      </dsp:txXfrm>
    </dsp:sp>
    <dsp:sp modelId="{B1F53B0A-895F-4FB2-973F-7B4CB0B0AD7E}">
      <dsp:nvSpPr>
        <dsp:cNvPr id="0" name=""/>
        <dsp:cNvSpPr/>
      </dsp:nvSpPr>
      <dsp:spPr>
        <a:xfrm>
          <a:off x="690185" y="764425"/>
          <a:ext cx="1911468" cy="509327"/>
        </a:xfrm>
        <a:prstGeom prst="roundRect">
          <a:avLst>
            <a:gd name="adj" fmla="val 10000"/>
          </a:avLst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Generate valid combinations (Top + Bottom + Outerwear)</a:t>
          </a:r>
        </a:p>
      </dsp:txBody>
      <dsp:txXfrm>
        <a:off x="705103" y="779343"/>
        <a:ext cx="1881632" cy="479491"/>
      </dsp:txXfrm>
    </dsp:sp>
    <dsp:sp modelId="{82E055BC-F448-425B-8BD9-43169C0B62C4}">
      <dsp:nvSpPr>
        <dsp:cNvPr id="0" name=""/>
        <dsp:cNvSpPr/>
      </dsp:nvSpPr>
      <dsp:spPr>
        <a:xfrm rot="5400000">
          <a:off x="1550421" y="1286486"/>
          <a:ext cx="190997" cy="229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577161" y="1305586"/>
        <a:ext cx="137519" cy="133698"/>
      </dsp:txXfrm>
    </dsp:sp>
    <dsp:sp modelId="{2A43BBAD-0BE1-436A-93C7-09CAF798D446}">
      <dsp:nvSpPr>
        <dsp:cNvPr id="0" name=""/>
        <dsp:cNvSpPr/>
      </dsp:nvSpPr>
      <dsp:spPr>
        <a:xfrm>
          <a:off x="690185" y="1528416"/>
          <a:ext cx="1911468" cy="509327"/>
        </a:xfrm>
        <a:prstGeom prst="roundRect">
          <a:avLst>
            <a:gd name="adj" fmla="val 10000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Score </a:t>
          </a:r>
          <a:r>
            <a:rPr lang="en-IN" sz="1200" kern="1200" dirty="0" err="1"/>
            <a:t>Color</a:t>
          </a:r>
          <a:r>
            <a:rPr lang="en-IN" sz="1200" kern="1200" dirty="0"/>
            <a:t> Harmony (CIELAB ΔE) [35%]</a:t>
          </a:r>
        </a:p>
      </dsp:txBody>
      <dsp:txXfrm>
        <a:off x="705103" y="1543334"/>
        <a:ext cx="1881632" cy="479491"/>
      </dsp:txXfrm>
    </dsp:sp>
    <dsp:sp modelId="{BAF56B92-935D-4514-B154-F846609021A8}">
      <dsp:nvSpPr>
        <dsp:cNvPr id="0" name=""/>
        <dsp:cNvSpPr/>
      </dsp:nvSpPr>
      <dsp:spPr>
        <a:xfrm rot="5400000">
          <a:off x="1550421" y="2050476"/>
          <a:ext cx="190997" cy="229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577161" y="2069576"/>
        <a:ext cx="137519" cy="133698"/>
      </dsp:txXfrm>
    </dsp:sp>
    <dsp:sp modelId="{E2571CB7-61BD-45BF-8BF2-E64066F18F90}">
      <dsp:nvSpPr>
        <dsp:cNvPr id="0" name=""/>
        <dsp:cNvSpPr/>
      </dsp:nvSpPr>
      <dsp:spPr>
        <a:xfrm>
          <a:off x="690185" y="2292407"/>
          <a:ext cx="1911468" cy="509327"/>
        </a:xfrm>
        <a:prstGeom prst="roundRect">
          <a:avLst>
            <a:gd name="adj" fmla="val 10000"/>
          </a:avLst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Score Formality Balance &amp; Structure [50%]</a:t>
          </a:r>
        </a:p>
      </dsp:txBody>
      <dsp:txXfrm>
        <a:off x="705103" y="2307325"/>
        <a:ext cx="1881632" cy="479491"/>
      </dsp:txXfrm>
    </dsp:sp>
    <dsp:sp modelId="{FF84CE92-B93F-430F-82E8-607104135B2B}">
      <dsp:nvSpPr>
        <dsp:cNvPr id="0" name=""/>
        <dsp:cNvSpPr/>
      </dsp:nvSpPr>
      <dsp:spPr>
        <a:xfrm rot="5400000">
          <a:off x="1550421" y="2814467"/>
          <a:ext cx="190997" cy="229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577161" y="2833567"/>
        <a:ext cx="137519" cy="133698"/>
      </dsp:txXfrm>
    </dsp:sp>
    <dsp:sp modelId="{61912B67-7259-4F33-A6AE-9FFB36EDF68A}">
      <dsp:nvSpPr>
        <dsp:cNvPr id="0" name=""/>
        <dsp:cNvSpPr/>
      </dsp:nvSpPr>
      <dsp:spPr>
        <a:xfrm>
          <a:off x="690185" y="3056397"/>
          <a:ext cx="1911468" cy="509327"/>
        </a:xfrm>
        <a:prstGeom prst="roundRect">
          <a:avLst>
            <a:gd name="adj" fmla="val 1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Penalize Pattern Clashes [15%] -&gt; Return Top N</a:t>
          </a:r>
        </a:p>
      </dsp:txBody>
      <dsp:txXfrm>
        <a:off x="705103" y="3071315"/>
        <a:ext cx="1881632" cy="4794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3AFA7-7C9F-4C37-BB2D-E220D5BC028A}">
      <dsp:nvSpPr>
        <dsp:cNvPr id="0" name=""/>
        <dsp:cNvSpPr/>
      </dsp:nvSpPr>
      <dsp:spPr>
        <a:xfrm>
          <a:off x="640345" y="435"/>
          <a:ext cx="2011148" cy="5093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User requests Try-On for selected outfit</a:t>
          </a:r>
        </a:p>
      </dsp:txBody>
      <dsp:txXfrm>
        <a:off x="655263" y="15353"/>
        <a:ext cx="1981312" cy="479491"/>
      </dsp:txXfrm>
    </dsp:sp>
    <dsp:sp modelId="{8A4D5B9A-B878-4030-AD44-CF6B154746C2}">
      <dsp:nvSpPr>
        <dsp:cNvPr id="0" name=""/>
        <dsp:cNvSpPr/>
      </dsp:nvSpPr>
      <dsp:spPr>
        <a:xfrm rot="5400000">
          <a:off x="1550421" y="522495"/>
          <a:ext cx="190997" cy="229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577161" y="541595"/>
        <a:ext cx="137519" cy="133698"/>
      </dsp:txXfrm>
    </dsp:sp>
    <dsp:sp modelId="{BE918B95-13AB-456D-982B-BE474E7218A4}">
      <dsp:nvSpPr>
        <dsp:cNvPr id="0" name=""/>
        <dsp:cNvSpPr/>
      </dsp:nvSpPr>
      <dsp:spPr>
        <a:xfrm>
          <a:off x="640345" y="764425"/>
          <a:ext cx="2011148" cy="509327"/>
        </a:xfrm>
        <a:prstGeom prst="roundRect">
          <a:avLst>
            <a:gd name="adj" fmla="val 10000"/>
          </a:avLst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 err="1"/>
            <a:t>FastAPI</a:t>
          </a:r>
          <a:r>
            <a:rPr lang="en-IN" sz="1200" kern="1200" dirty="0"/>
            <a:t> creates </a:t>
          </a:r>
          <a:r>
            <a:rPr lang="en-IN" sz="1200" kern="1200" dirty="0" err="1"/>
            <a:t>RenderJob</a:t>
          </a:r>
          <a:r>
            <a:rPr lang="en-IN" sz="1200" kern="1200" dirty="0"/>
            <a:t> (status=queued)</a:t>
          </a:r>
        </a:p>
      </dsp:txBody>
      <dsp:txXfrm>
        <a:off x="655263" y="779343"/>
        <a:ext cx="1981312" cy="479491"/>
      </dsp:txXfrm>
    </dsp:sp>
    <dsp:sp modelId="{57E54C3F-E653-4AF9-B776-1783EEE31675}">
      <dsp:nvSpPr>
        <dsp:cNvPr id="0" name=""/>
        <dsp:cNvSpPr/>
      </dsp:nvSpPr>
      <dsp:spPr>
        <a:xfrm rot="5400000">
          <a:off x="1550421" y="1286486"/>
          <a:ext cx="190997" cy="229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577161" y="1305586"/>
        <a:ext cx="137519" cy="133698"/>
      </dsp:txXfrm>
    </dsp:sp>
    <dsp:sp modelId="{D074E197-3B09-47F2-926C-2BD95E4F4954}">
      <dsp:nvSpPr>
        <dsp:cNvPr id="0" name=""/>
        <dsp:cNvSpPr/>
      </dsp:nvSpPr>
      <dsp:spPr>
        <a:xfrm>
          <a:off x="640345" y="1528416"/>
          <a:ext cx="2011148" cy="509327"/>
        </a:xfrm>
        <a:prstGeom prst="roundRect">
          <a:avLst>
            <a:gd name="adj" fmla="val 10000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Async request forwarded to </a:t>
          </a:r>
          <a:r>
            <a:rPr lang="en-IN" sz="1200" kern="1200" dirty="0" err="1"/>
            <a:t>Colab</a:t>
          </a:r>
          <a:r>
            <a:rPr lang="en-IN" sz="1200" kern="1200" dirty="0"/>
            <a:t> GPU via </a:t>
          </a:r>
          <a:r>
            <a:rPr lang="en-IN" sz="1200" kern="1200" dirty="0" err="1"/>
            <a:t>ngrok</a:t>
          </a:r>
          <a:endParaRPr lang="en-IN" sz="1200" kern="1200" dirty="0"/>
        </a:p>
      </dsp:txBody>
      <dsp:txXfrm>
        <a:off x="655263" y="1543334"/>
        <a:ext cx="1981312" cy="479491"/>
      </dsp:txXfrm>
    </dsp:sp>
    <dsp:sp modelId="{CD9B5ADD-663C-4165-933C-F05C634851C3}">
      <dsp:nvSpPr>
        <dsp:cNvPr id="0" name=""/>
        <dsp:cNvSpPr/>
      </dsp:nvSpPr>
      <dsp:spPr>
        <a:xfrm rot="5400000">
          <a:off x="1550421" y="2050476"/>
          <a:ext cx="190997" cy="229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577161" y="2069576"/>
        <a:ext cx="137519" cy="133698"/>
      </dsp:txXfrm>
    </dsp:sp>
    <dsp:sp modelId="{C01BD72F-2B17-499F-9DEE-4CD953FB7721}">
      <dsp:nvSpPr>
        <dsp:cNvPr id="0" name=""/>
        <dsp:cNvSpPr/>
      </dsp:nvSpPr>
      <dsp:spPr>
        <a:xfrm>
          <a:off x="640345" y="2292407"/>
          <a:ext cx="2011148" cy="509327"/>
        </a:xfrm>
        <a:prstGeom prst="roundRect">
          <a:avLst>
            <a:gd name="adj" fmla="val 10000"/>
          </a:avLst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 err="1"/>
            <a:t>CatVTON</a:t>
          </a:r>
          <a:r>
            <a:rPr lang="en-IN" sz="1200" kern="1200" dirty="0"/>
            <a:t> executes Latent Diffusion warping</a:t>
          </a:r>
        </a:p>
      </dsp:txBody>
      <dsp:txXfrm>
        <a:off x="655263" y="2307325"/>
        <a:ext cx="1981312" cy="479491"/>
      </dsp:txXfrm>
    </dsp:sp>
    <dsp:sp modelId="{90CB3541-38E6-4CA9-8CA6-4696F773DD67}">
      <dsp:nvSpPr>
        <dsp:cNvPr id="0" name=""/>
        <dsp:cNvSpPr/>
      </dsp:nvSpPr>
      <dsp:spPr>
        <a:xfrm rot="5400000">
          <a:off x="1550421" y="2814467"/>
          <a:ext cx="190997" cy="2291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577161" y="2833567"/>
        <a:ext cx="137519" cy="133698"/>
      </dsp:txXfrm>
    </dsp:sp>
    <dsp:sp modelId="{14F4A43E-BECD-43DA-AD51-ADF2241BA2BB}">
      <dsp:nvSpPr>
        <dsp:cNvPr id="0" name=""/>
        <dsp:cNvSpPr/>
      </dsp:nvSpPr>
      <dsp:spPr>
        <a:xfrm>
          <a:off x="640345" y="3056397"/>
          <a:ext cx="2011148" cy="509327"/>
        </a:xfrm>
        <a:prstGeom prst="roundRect">
          <a:avLst>
            <a:gd name="adj" fmla="val 1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Output image saved; Frontend polls &amp; displays result</a:t>
          </a:r>
        </a:p>
      </dsp:txBody>
      <dsp:txXfrm>
        <a:off x="655263" y="3071315"/>
        <a:ext cx="1981312" cy="4794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A896"/>
                </a:solidFill>
                <a:latin typeface="Arial"/>
              </a:defRPr>
            </a:pPr>
            <a:r>
              <a:t>M I N O R   P R O J E C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Georgia"/>
              </a:defRPr>
            </a:pPr>
            <a:r>
              <a:t>AI Wardrobe: Smart Wardrobe &amp; Virtual Try-On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i="1">
                <a:solidFill>
                  <a:srgbClr val="8CCDC3"/>
                </a:solidFill>
                <a:latin typeface="Arial"/>
              </a:defRPr>
            </a:pPr>
            <a:r>
              <a:t>Concept Used: Multimodal Zero-Shot Learning (Fashion-CLIP), CIELAB Color Harmony &amp; Latent Diffusion (CatVTON)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96"/>
                </a:solidFill>
                <a:latin typeface="Georgia"/>
              </a:defRPr>
            </a:pPr>
            <a:r>
              <a:t>Student Details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789920" cy="1828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675697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6F5F2"/>
                </a:solidFill>
                <a:latin typeface="Arial"/>
              </a:defRPr>
            </a:pPr>
            <a:r>
              <a:rPr dirty="0"/>
              <a:t>Subject / Course :        </a:t>
            </a:r>
            <a:r>
              <a:rPr lang="en-US" dirty="0"/>
              <a:t>Artificial Intelligence , </a:t>
            </a:r>
            <a:r>
              <a:rPr lang="en-US" dirty="0" err="1"/>
              <a:t>B.Tech</a:t>
            </a:r>
            <a:r>
              <a:rPr lang="en-US" dirty="0"/>
              <a:t> AIML</a:t>
            </a:r>
            <a:endParaRPr dirty="0"/>
          </a:p>
          <a:p>
            <a:pPr>
              <a:defRPr sz="1100">
                <a:solidFill>
                  <a:srgbClr val="E6F5F2"/>
                </a:solidFill>
                <a:latin typeface="Arial"/>
              </a:defRPr>
            </a:pPr>
            <a:r>
              <a:rPr dirty="0"/>
              <a:t>Guided By :               </a:t>
            </a:r>
            <a:r>
              <a:rPr lang="en-US" dirty="0"/>
              <a:t>Ms. Nisha , Assistant Professor</a:t>
            </a:r>
            <a:endParaRPr dirty="0"/>
          </a:p>
          <a:p>
            <a:pPr>
              <a:defRPr sz="1100">
                <a:solidFill>
                  <a:srgbClr val="E6F5F2"/>
                </a:solidFill>
                <a:latin typeface="Arial"/>
              </a:defRPr>
            </a:pPr>
            <a:r>
              <a:rPr dirty="0"/>
              <a:t>Department &amp; College :    Department of Computer Science &amp; Engineering, </a:t>
            </a:r>
            <a:r>
              <a:rPr lang="en-US" dirty="0"/>
              <a:t>CGC College of Engineering</a:t>
            </a:r>
            <a:endParaRPr dirty="0"/>
          </a:p>
          <a:p>
            <a:pPr>
              <a:defRPr sz="1100">
                <a:solidFill>
                  <a:srgbClr val="E6F5F2"/>
                </a:solidFill>
                <a:latin typeface="Arial"/>
              </a:defRPr>
            </a:pPr>
            <a:r>
              <a:rPr dirty="0"/>
              <a:t>Academic Year :           202</a:t>
            </a:r>
            <a:r>
              <a:rPr lang="en-US" dirty="0"/>
              <a:t>4</a:t>
            </a:r>
            <a:r>
              <a:rPr dirty="0"/>
              <a:t> – 202</a:t>
            </a:r>
            <a:r>
              <a:rPr lang="en-US" dirty="0"/>
              <a:t>8</a:t>
            </a:r>
            <a:endParaRPr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DD6CD81-09B7-4D19-1F27-ADFF436A1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093828"/>
              </p:ext>
            </p:extLst>
          </p:nvPr>
        </p:nvGraphicFramePr>
        <p:xfrm>
          <a:off x="640080" y="3172025"/>
          <a:ext cx="5725160" cy="7991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8175">
                  <a:extLst>
                    <a:ext uri="{9D8B030D-6E8A-4147-A177-3AD203B41FA5}">
                      <a16:colId xmlns:a16="http://schemas.microsoft.com/office/drawing/2014/main" val="2284952830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1828507835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4378093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  <a:endParaRPr lang="en-IN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Roll No.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bg1"/>
                          </a:solidFill>
                          <a:effectLst/>
                        </a:rPr>
                        <a:t>Enrollment No.           </a:t>
                      </a:r>
                      <a:endParaRPr lang="en-IN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485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bg1"/>
                          </a:solidFill>
                          <a:effectLst/>
                        </a:rPr>
                        <a:t>Ranveer Singh </a:t>
                      </a:r>
                      <a:endParaRPr lang="en-IN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417076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OE242544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872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bg1"/>
                          </a:solidFill>
                          <a:effectLst/>
                        </a:rPr>
                        <a:t>Tanish Dudeja</a:t>
                      </a:r>
                      <a:endParaRPr lang="en-IN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417087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bg1"/>
                          </a:solidFill>
                          <a:effectLst/>
                        </a:rPr>
                        <a:t>[Enrollment No. 2]       </a:t>
                      </a:r>
                      <a:endParaRPr lang="en-IN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304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       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3225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3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Introduction &amp; Concept Used</a:t>
            </a:r>
          </a:p>
          <a:p>
            <a:pPr>
              <a:defRPr sz="1200">
                <a:solidFill>
                  <a:srgbClr val="8CCDC3"/>
                </a:solidFill>
                <a:latin typeface="Arial"/>
              </a:defRPr>
            </a:pPr>
            <a:r>
              <a:t>Background, the subject concept applied, and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CDC3"/>
                </a:solidFill>
                <a:latin typeface="Arial"/>
              </a:defRPr>
            </a:pPr>
            <a:r>
              <a:t>Minor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CDC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6400800" cy="4846320"/>
          </a:xfrm>
          <a:prstGeom prst="roundRect">
            <a:avLst>
              <a:gd name="adj" fmla="val 4403"/>
            </a:avLst>
          </a:prstGeom>
          <a:solidFill>
            <a:srgbClr val="E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3F289E82-6D4B-2CE5-58F6-515A0A9B83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2104517"/>
              </p:ext>
            </p:extLst>
          </p:nvPr>
        </p:nvGraphicFramePr>
        <p:xfrm>
          <a:off x="708965" y="1619488"/>
          <a:ext cx="6063310" cy="4369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Georgia"/>
              </a:defRPr>
            </a:pPr>
            <a:r>
              <a:t>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0" y="201168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938528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6F5F2"/>
                </a:solidFill>
                <a:latin typeface="Arial"/>
              </a:defRPr>
            </a:pPr>
            <a:r>
              <a:t>Automated Wardrobe Digitization: Auto-classify category, formality, pattern, and dominant colors via Fashion-CLIP &amp; rembg.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306324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8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6F5F2"/>
                </a:solidFill>
                <a:latin typeface="Arial"/>
              </a:defRPr>
            </a:pPr>
            <a:r>
              <a:t>Algorithmic Outfit Recommendation: Score combinations via color harmony (CIELAB ΔE), formality matching, and pattern rules.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411480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041648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6F5F2"/>
                </a:solidFill>
                <a:latin typeface="Arial"/>
              </a:defRPr>
            </a:pPr>
            <a:r>
              <a:t>Photorealistic Virtual Try-On: Integrate CatVTON latent diffusion on Colab GPU with an async polling queue.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516636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093208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6F5F2"/>
                </a:solidFill>
                <a:latin typeface="Arial"/>
              </a:defRPr>
            </a:pPr>
            <a:r>
              <a:t>Decoupled Full-Stack Web Architecture: High-performance FastAPI backend + React Vite frontend with normalized 3NF schema.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3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Existing System &amp; Proposed Approach</a:t>
            </a:r>
          </a:p>
          <a:p>
            <a:pPr>
              <a:defRPr sz="1200">
                <a:solidFill>
                  <a:srgbClr val="8CCDC3"/>
                </a:solidFill>
                <a:latin typeface="Arial"/>
              </a:defRPr>
            </a:pPr>
            <a:r>
              <a:t>What already exists, its gaps, and how this project solves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CDC3"/>
                </a:solidFill>
                <a:latin typeface="Arial"/>
              </a:defRPr>
            </a:pPr>
            <a:r>
              <a:t>Minor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CDC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Georgia"/>
              </a:defRPr>
            </a:pPr>
            <a:r>
              <a:t>Existing System /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CCDC3"/>
                </a:solidFill>
                <a:latin typeface="Arial"/>
              </a:defRPr>
            </a:pPr>
            <a:r>
              <a:rPr dirty="0"/>
              <a:t>• Current Tools in Practice: </a:t>
            </a:r>
          </a:p>
          <a:p>
            <a:pPr>
              <a:defRPr sz="1000">
                <a:solidFill>
                  <a:srgbClr val="E6F5F2"/>
                </a:solidFill>
                <a:latin typeface="Arial"/>
              </a:defRPr>
            </a:pPr>
            <a:r>
              <a:rPr dirty="0"/>
              <a:t>  Manual digital wardrobe apps (</a:t>
            </a:r>
            <a:r>
              <a:rPr dirty="0" err="1"/>
              <a:t>Cladwell</a:t>
            </a:r>
            <a:r>
              <a:rPr dirty="0"/>
              <a:t>, Stylebook, </a:t>
            </a:r>
            <a:r>
              <a:rPr dirty="0" err="1"/>
              <a:t>Whering</a:t>
            </a:r>
            <a:r>
              <a:rPr dirty="0"/>
              <a:t>) and flat 2D collage boards.</a:t>
            </a:r>
            <a:br>
              <a:rPr dirty="0"/>
            </a:br>
            <a:endParaRPr dirty="0"/>
          </a:p>
          <a:p>
            <a:pPr>
              <a:defRPr sz="1100" b="1">
                <a:solidFill>
                  <a:srgbClr val="8CCDC3"/>
                </a:solidFill>
                <a:latin typeface="Arial"/>
              </a:defRPr>
            </a:pPr>
            <a:r>
              <a:rPr dirty="0"/>
              <a:t>• Gap 1 — High Manual Overhead: </a:t>
            </a:r>
          </a:p>
          <a:p>
            <a:pPr>
              <a:defRPr sz="1000">
                <a:solidFill>
                  <a:srgbClr val="E6F5F2"/>
                </a:solidFill>
                <a:latin typeface="Arial"/>
              </a:defRPr>
            </a:pPr>
            <a:r>
              <a:rPr dirty="0"/>
              <a:t>  Users must manually input garment category, color, season, and pattern, causing massive drop-off.</a:t>
            </a:r>
            <a:br>
              <a:rPr dirty="0"/>
            </a:br>
            <a:endParaRPr dirty="0"/>
          </a:p>
          <a:p>
            <a:pPr>
              <a:defRPr sz="1100" b="1">
                <a:solidFill>
                  <a:srgbClr val="8CCDC3"/>
                </a:solidFill>
                <a:latin typeface="Arial"/>
              </a:defRPr>
            </a:pPr>
            <a:r>
              <a:rPr dirty="0"/>
              <a:t>• Gap 2 — Flat Geometry &amp; No Drape: </a:t>
            </a:r>
          </a:p>
          <a:p>
            <a:pPr>
              <a:defRPr sz="1000">
                <a:solidFill>
                  <a:srgbClr val="E6F5F2"/>
                </a:solidFill>
                <a:latin typeface="Arial"/>
              </a:defRPr>
            </a:pPr>
            <a:r>
              <a:rPr dirty="0"/>
              <a:t>  Existing systems show flat 2D icons that completely ignore human body fit, drape, and occlusion.</a:t>
            </a:r>
            <a:br>
              <a:rPr dirty="0"/>
            </a:br>
            <a:endParaRPr dirty="0"/>
          </a:p>
          <a:p>
            <a:pPr>
              <a:defRPr sz="1100" b="1">
                <a:solidFill>
                  <a:srgbClr val="8CCDC3"/>
                </a:solidFill>
                <a:latin typeface="Arial"/>
              </a:defRPr>
            </a:pPr>
            <a:r>
              <a:rPr dirty="0"/>
              <a:t>• Gap 3 — Prohibitive VTON Costs: </a:t>
            </a:r>
          </a:p>
          <a:p>
            <a:pPr>
              <a:defRPr sz="1000">
                <a:solidFill>
                  <a:srgbClr val="E6F5F2"/>
                </a:solidFill>
                <a:latin typeface="Arial"/>
              </a:defRPr>
            </a:pPr>
            <a:r>
              <a:rPr dirty="0"/>
              <a:t>  Commercial VTON APIs cost $0.10–$0.25/render with proprietary, non-customizable styling logic.</a:t>
            </a:r>
            <a:br>
              <a:rPr dirty="0"/>
            </a:b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Georgia"/>
              </a:defRPr>
            </a:pPr>
            <a:r>
              <a:t>Proposed Methodology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303520" cy="9601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947671"/>
            <a:ext cx="411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Georgia"/>
              </a:defRPr>
            </a:pPr>
            <a:r>
              <a:rPr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920239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Step 1 — Requirement Analysis &amp; Relational Schema: 3NF design (users, garments, outfits, render_jobs) with JWT auth and FK integrity.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90087"/>
            <a:ext cx="5303520" cy="9601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3063239"/>
            <a:ext cx="411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035807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Step 2 — Automated Multimodal Ingestion: rembg background removal, CIELAB k-means color extraction, and Fashion-CLIP classification.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105656"/>
            <a:ext cx="5303520" cy="9601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4178808"/>
            <a:ext cx="411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151376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Step 3 — Compatibility Engine &amp; Scoring: Cartesian product generator scored via color harmony (35%), formality (25%), structure (25%), pattern (15%).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221224"/>
            <a:ext cx="5303520" cy="9601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5294376"/>
            <a:ext cx="411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5266944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Step 4 — Distributed Asynchronous VTON Inference: CatVTON diffusion pipeline hosted on Google Colab T4 via ngrok with async polling.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3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Flow Chart / Working Process</a:t>
            </a:r>
          </a:p>
          <a:p>
            <a:pPr>
              <a:defRPr sz="1200">
                <a:solidFill>
                  <a:srgbClr val="8CCDC3"/>
                </a:solidFill>
                <a:latin typeface="Arial"/>
              </a:defRPr>
            </a:pPr>
            <a:r>
              <a:t>Step-by-step flow showing how the system processes input to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CDC3"/>
                </a:solidFill>
                <a:latin typeface="Arial"/>
              </a:defRPr>
            </a:pPr>
            <a:r>
              <a:t>Minor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CDC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4846320"/>
          </a:xfrm>
          <a:prstGeom prst="roundRect">
            <a:avLst/>
          </a:prstGeom>
          <a:solidFill>
            <a:srgbClr val="E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3291840" cy="420624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STAGE 1: Ingestion &amp; CV Pipeline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5099550-29A3-AA74-E4A3-E6FD68DED7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8075740"/>
              </p:ext>
            </p:extLst>
          </p:nvPr>
        </p:nvGraphicFramePr>
        <p:xfrm>
          <a:off x="914400" y="2158559"/>
          <a:ext cx="329184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480560" y="1691640"/>
            <a:ext cx="3291840" cy="420624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STAGE 2: Outfit Compatibility Engine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057F9F79-21CB-AAAF-D186-EE119AF6BF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0717360"/>
              </p:ext>
            </p:extLst>
          </p:nvPr>
        </p:nvGraphicFramePr>
        <p:xfrm>
          <a:off x="4480560" y="2158559"/>
          <a:ext cx="329184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46720" y="1691640"/>
            <a:ext cx="3291840" cy="420624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STAGE 3: Asynchronous Virtual Try-On</a:t>
            </a: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1B9BF7F5-B688-688B-FAF0-DC0FE9B850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1811078"/>
              </p:ext>
            </p:extLst>
          </p:nvPr>
        </p:nvGraphicFramePr>
        <p:xfrm>
          <a:off x="8046720" y="2158559"/>
          <a:ext cx="329184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5" name="Right Arrow 14"/>
          <p:cNvSpPr/>
          <p:nvPr/>
        </p:nvSpPr>
        <p:spPr>
          <a:xfrm>
            <a:off x="7498080" y="3472132"/>
            <a:ext cx="925602" cy="551228"/>
          </a:xfrm>
          <a:prstGeom prst="rightArrow">
            <a:avLst>
              <a:gd name="adj1" fmla="val 50000"/>
              <a:gd name="adj2" fmla="val 46226"/>
            </a:avLst>
          </a:prstGeom>
          <a:solidFill>
            <a:srgbClr val="00A896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4">
            <a:extLst>
              <a:ext uri="{FF2B5EF4-FFF2-40B4-BE49-F238E27FC236}">
                <a16:creationId xmlns:a16="http://schemas.microsoft.com/office/drawing/2014/main" id="{650C4085-149B-E311-E6A6-8D062C7550C0}"/>
              </a:ext>
            </a:extLst>
          </p:cNvPr>
          <p:cNvSpPr/>
          <p:nvPr/>
        </p:nvSpPr>
        <p:spPr>
          <a:xfrm>
            <a:off x="3918118" y="3429000"/>
            <a:ext cx="925602" cy="551228"/>
          </a:xfrm>
          <a:prstGeom prst="rightArrow">
            <a:avLst>
              <a:gd name="adj1" fmla="val 50000"/>
              <a:gd name="adj2" fmla="val 46226"/>
            </a:avLst>
          </a:prstGeom>
          <a:solidFill>
            <a:srgbClr val="00A896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3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Technology Stack &amp; Implementation</a:t>
            </a:r>
          </a:p>
          <a:p>
            <a:pPr>
              <a:defRPr sz="1200">
                <a:solidFill>
                  <a:srgbClr val="8CCDC3"/>
                </a:solidFill>
                <a:latin typeface="Arial"/>
              </a:defRPr>
            </a:pPr>
            <a:r>
              <a:t>Tools used and the key modules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CDC3"/>
                </a:solidFill>
                <a:latin typeface="Arial"/>
              </a:defRPr>
            </a:pPr>
            <a:r>
              <a:t>Minor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CDC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84124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560" y="1563461"/>
            <a:ext cx="5029200" cy="4231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eorgia"/>
              </a:defRPr>
            </a:pPr>
            <a:r>
              <a:rPr dirty="0"/>
              <a:t>Languages</a:t>
            </a:r>
          </a:p>
          <a:p>
            <a:pPr algn="ctr">
              <a:defRPr sz="950">
                <a:solidFill>
                  <a:srgbClr val="E6F5F2"/>
                </a:solidFill>
                <a:latin typeface="Arial"/>
              </a:defRPr>
            </a:pPr>
            <a:r>
              <a:rPr dirty="0"/>
              <a:t>Python 3.12, JavaScript (ES6+), SQL, HTML5/CSS3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03520" cy="84124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545319"/>
            <a:ext cx="5029200" cy="4231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eorgia"/>
              </a:defRPr>
            </a:pPr>
            <a:r>
              <a:rPr dirty="0"/>
              <a:t>Frameworks / Libraries</a:t>
            </a:r>
          </a:p>
          <a:p>
            <a:pPr algn="ctr">
              <a:defRPr sz="950">
                <a:solidFill>
                  <a:srgbClr val="E6F5F2"/>
                </a:solidFill>
                <a:latin typeface="Arial"/>
              </a:defRPr>
            </a:pPr>
            <a:r>
              <a:rPr dirty="0" err="1"/>
              <a:t>FastAPI</a:t>
            </a:r>
            <a:r>
              <a:rPr dirty="0"/>
              <a:t>, React 18, Vite, </a:t>
            </a:r>
            <a:r>
              <a:rPr dirty="0" err="1"/>
              <a:t>SQLAlchemy</a:t>
            </a:r>
            <a:r>
              <a:rPr dirty="0"/>
              <a:t> ORM, </a:t>
            </a:r>
            <a:r>
              <a:rPr dirty="0" err="1"/>
              <a:t>Pydantic</a:t>
            </a:r>
            <a:r>
              <a:rPr dirty="0"/>
              <a:t>, </a:t>
            </a:r>
            <a:r>
              <a:rPr dirty="0" err="1"/>
              <a:t>TailwindCSS</a:t>
            </a:r>
            <a:r>
              <a:rPr dirty="0"/>
              <a:t>, </a:t>
            </a:r>
            <a:r>
              <a:rPr dirty="0" err="1"/>
              <a:t>PyTorch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5303520" cy="84124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488514"/>
            <a:ext cx="5029200" cy="4231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eorgia"/>
              </a:defRPr>
            </a:pPr>
            <a:r>
              <a:rPr dirty="0"/>
              <a:t>Tools / Platforms</a:t>
            </a:r>
          </a:p>
          <a:p>
            <a:pPr algn="ctr">
              <a:defRPr sz="950">
                <a:solidFill>
                  <a:srgbClr val="E6F5F2"/>
                </a:solidFill>
                <a:latin typeface="Arial"/>
              </a:defRPr>
            </a:pPr>
            <a:r>
              <a:rPr dirty="0"/>
              <a:t>VS Code, Google </a:t>
            </a:r>
            <a:r>
              <a:rPr dirty="0" err="1"/>
              <a:t>Colab</a:t>
            </a:r>
            <a:r>
              <a:rPr dirty="0"/>
              <a:t> (T4 GPU), </a:t>
            </a:r>
            <a:r>
              <a:rPr dirty="0" err="1"/>
              <a:t>ngrok</a:t>
            </a:r>
            <a:r>
              <a:rPr dirty="0"/>
              <a:t> tunnel, Git/GitHub, Postman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51960"/>
            <a:ext cx="5303520" cy="84124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0560" y="4395695"/>
            <a:ext cx="5029200" cy="4231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eorgia"/>
              </a:defRPr>
            </a:pPr>
            <a:r>
              <a:rPr dirty="0"/>
              <a:t>Database</a:t>
            </a:r>
          </a:p>
          <a:p>
            <a:pPr algn="ctr">
              <a:defRPr sz="950">
                <a:solidFill>
                  <a:srgbClr val="E6F5F2"/>
                </a:solidFill>
                <a:latin typeface="Arial"/>
              </a:defRPr>
            </a:pPr>
            <a:r>
              <a:rPr dirty="0"/>
              <a:t>SQLite (dev) / PostgreSQL (production) — 3NF Normalized Relational Schema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12080"/>
            <a:ext cx="5303520" cy="84124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5425679"/>
            <a:ext cx="5029200" cy="4231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Georgia"/>
              </a:defRPr>
            </a:pPr>
            <a:r>
              <a:rPr dirty="0"/>
              <a:t>Hardware</a:t>
            </a:r>
          </a:p>
          <a:p>
            <a:pPr algn="ctr">
              <a:defRPr sz="950">
                <a:solidFill>
                  <a:srgbClr val="E6F5F2"/>
                </a:solidFill>
                <a:latin typeface="Arial"/>
              </a:defRPr>
            </a:pPr>
            <a:r>
              <a:rPr dirty="0"/>
              <a:t>NVIDIA T4 GPU (16GB VRAM on </a:t>
            </a:r>
            <a:r>
              <a:rPr dirty="0" err="1"/>
              <a:t>Colab</a:t>
            </a:r>
            <a:r>
              <a:rPr dirty="0"/>
              <a:t> for diffusion inference), Local Workstation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2801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Georgia"/>
              </a:defRPr>
            </a:pPr>
            <a:r>
              <a:t>Key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45920"/>
            <a:ext cx="530352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CDC3"/>
                </a:solidFill>
                <a:latin typeface="Arial"/>
              </a:defRPr>
            </a:pPr>
            <a:r>
              <a:rPr sz="1200" dirty="0"/>
              <a:t>• Module 1 — Ingestion &amp; CV Pipeline: </a:t>
            </a:r>
          </a:p>
          <a:p>
            <a:pPr>
              <a:defRPr sz="950">
                <a:solidFill>
                  <a:srgbClr val="E6F5F2"/>
                </a:solidFill>
                <a:latin typeface="Arial"/>
              </a:defRPr>
            </a:pPr>
            <a:r>
              <a:rPr sz="1100" dirty="0"/>
              <a:t>  Image uploads, </a:t>
            </a:r>
            <a:r>
              <a:rPr sz="1100" dirty="0" err="1"/>
              <a:t>rembg</a:t>
            </a:r>
            <a:r>
              <a:rPr sz="1100" dirty="0"/>
              <a:t> background subtraction, CIELAB dominant color clustering.</a:t>
            </a:r>
            <a:endParaRPr lang="en-US" sz="1100" dirty="0"/>
          </a:p>
          <a:p>
            <a:pPr>
              <a:defRPr sz="950">
                <a:solidFill>
                  <a:srgbClr val="E6F5F2"/>
                </a:solidFill>
                <a:latin typeface="Arial"/>
              </a:defRPr>
            </a:pPr>
            <a:endParaRPr sz="1100" dirty="0"/>
          </a:p>
          <a:p>
            <a:pPr>
              <a:defRPr sz="1000" b="1">
                <a:solidFill>
                  <a:srgbClr val="8CCDC3"/>
                </a:solidFill>
                <a:latin typeface="Arial"/>
              </a:defRPr>
            </a:pPr>
            <a:r>
              <a:rPr sz="1200" dirty="0"/>
              <a:t>• Module 2 — Multimodal Classification: </a:t>
            </a:r>
          </a:p>
          <a:p>
            <a:pPr>
              <a:defRPr sz="950">
                <a:solidFill>
                  <a:srgbClr val="E6F5F2"/>
                </a:solidFill>
                <a:latin typeface="Arial"/>
              </a:defRPr>
            </a:pPr>
            <a:r>
              <a:rPr sz="1100" dirty="0"/>
              <a:t>  Fashion-CLIP zero-shot inference for category, pattern, and formality tags.</a:t>
            </a:r>
            <a:endParaRPr lang="en-US" sz="1100" dirty="0"/>
          </a:p>
          <a:p>
            <a:pPr>
              <a:defRPr sz="950">
                <a:solidFill>
                  <a:srgbClr val="E6F5F2"/>
                </a:solidFill>
                <a:latin typeface="Arial"/>
              </a:defRPr>
            </a:pPr>
            <a:endParaRPr sz="1100" dirty="0"/>
          </a:p>
          <a:p>
            <a:pPr>
              <a:defRPr sz="1000" b="1">
                <a:solidFill>
                  <a:srgbClr val="8CCDC3"/>
                </a:solidFill>
                <a:latin typeface="Arial"/>
              </a:defRPr>
            </a:pPr>
            <a:r>
              <a:rPr sz="1200" dirty="0"/>
              <a:t>• Module 3 — Recommendation Engine: </a:t>
            </a:r>
          </a:p>
          <a:p>
            <a:pPr>
              <a:defRPr sz="950">
                <a:solidFill>
                  <a:srgbClr val="E6F5F2"/>
                </a:solidFill>
                <a:latin typeface="Arial"/>
              </a:defRPr>
            </a:pPr>
            <a:r>
              <a:rPr sz="1100" dirty="0"/>
              <a:t>  Pure Python compatibility scorer evaluating color harmony, formality, and structure.</a:t>
            </a:r>
            <a:endParaRPr lang="en-US" sz="1100" dirty="0"/>
          </a:p>
          <a:p>
            <a:pPr>
              <a:defRPr sz="950">
                <a:solidFill>
                  <a:srgbClr val="E6F5F2"/>
                </a:solidFill>
                <a:latin typeface="Arial"/>
              </a:defRPr>
            </a:pPr>
            <a:endParaRPr sz="1100" dirty="0"/>
          </a:p>
          <a:p>
            <a:pPr>
              <a:defRPr sz="1000" b="1">
                <a:solidFill>
                  <a:srgbClr val="8CCDC3"/>
                </a:solidFill>
                <a:latin typeface="Arial"/>
              </a:defRPr>
            </a:pPr>
            <a:r>
              <a:rPr sz="1200" dirty="0"/>
              <a:t>• Module 4 — Distributed VTON Orchestrator: </a:t>
            </a:r>
          </a:p>
          <a:p>
            <a:pPr>
              <a:defRPr sz="950">
                <a:solidFill>
                  <a:srgbClr val="E6F5F2"/>
                </a:solidFill>
                <a:latin typeface="Arial"/>
              </a:defRPr>
            </a:pPr>
            <a:r>
              <a:rPr sz="1100" dirty="0"/>
              <a:t>  Asynchronous </a:t>
            </a:r>
            <a:r>
              <a:rPr sz="1100" dirty="0" err="1"/>
              <a:t>RenderJob</a:t>
            </a:r>
            <a:r>
              <a:rPr sz="1100" dirty="0"/>
              <a:t> queue dispatching diffusion inference to </a:t>
            </a:r>
            <a:r>
              <a:rPr sz="1100" dirty="0" err="1"/>
              <a:t>Colab</a:t>
            </a:r>
            <a:r>
              <a:rPr sz="1100" dirty="0"/>
              <a:t> via </a:t>
            </a:r>
            <a:r>
              <a:rPr sz="1100" dirty="0" err="1"/>
              <a:t>ngrok</a:t>
            </a:r>
            <a:r>
              <a:rPr sz="1100"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06240"/>
            <a:ext cx="5303520" cy="2011680"/>
          </a:xfrm>
          <a:prstGeom prst="roundRect">
            <a:avLst/>
          </a:prstGeom>
          <a:solidFill>
            <a:srgbClr val="0C2D2D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80"/>
            <a:ext cx="5029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0A896"/>
                </a:solidFill>
                <a:latin typeface="Consolas"/>
              </a:defRPr>
            </a:pPr>
            <a:r>
              <a:rPr sz="1000" dirty="0"/>
              <a:t># Composite Outfit Compatibility Scoring Formula</a:t>
            </a:r>
          </a:p>
          <a:p>
            <a:pPr>
              <a:defRPr sz="850">
                <a:solidFill>
                  <a:srgbClr val="E6F5F2"/>
                </a:solidFill>
                <a:latin typeface="Consolas"/>
              </a:defRPr>
            </a:pPr>
            <a:r>
              <a:rPr sz="1000" dirty="0"/>
              <a:t>Score = (0.35 * </a:t>
            </a:r>
            <a:r>
              <a:rPr sz="1000" dirty="0" err="1"/>
              <a:t>Color_Harmony</a:t>
            </a:r>
            <a:r>
              <a:rPr sz="1000" dirty="0"/>
              <a:t> + 0.25 * </a:t>
            </a:r>
            <a:r>
              <a:rPr sz="1000" dirty="0" err="1"/>
              <a:t>Formality_Score</a:t>
            </a:r>
            <a:r>
              <a:rPr sz="1000" dirty="0"/>
              <a:t> +</a:t>
            </a:r>
          </a:p>
          <a:p>
            <a:pPr>
              <a:defRPr sz="850">
                <a:solidFill>
                  <a:srgbClr val="E6F5F2"/>
                </a:solidFill>
                <a:latin typeface="Consolas"/>
              </a:defRPr>
            </a:pPr>
            <a:r>
              <a:rPr sz="1000" dirty="0"/>
              <a:t>         0.25 * </a:t>
            </a:r>
            <a:r>
              <a:rPr sz="1000" dirty="0" err="1"/>
              <a:t>Category_Structure</a:t>
            </a:r>
            <a:r>
              <a:rPr sz="1000" dirty="0"/>
              <a:t>) * (1.0 - </a:t>
            </a:r>
            <a:r>
              <a:rPr sz="1000" dirty="0" err="1"/>
              <a:t>Pattern_Clash</a:t>
            </a:r>
            <a:r>
              <a:rPr sz="1000" dirty="0"/>
              <a:t>)</a:t>
            </a:r>
          </a:p>
          <a:p>
            <a:pPr>
              <a:defRPr sz="850">
                <a:solidFill>
                  <a:srgbClr val="E6F5F2"/>
                </a:solidFill>
                <a:latin typeface="Consolas"/>
              </a:defRPr>
            </a:pPr>
            <a:endParaRPr sz="1000" dirty="0"/>
          </a:p>
          <a:p>
            <a:pPr>
              <a:defRPr sz="850">
                <a:solidFill>
                  <a:srgbClr val="E6F5F2"/>
                </a:solidFill>
                <a:latin typeface="Consolas"/>
              </a:defRPr>
            </a:pPr>
            <a:r>
              <a:rPr sz="1000" dirty="0"/>
              <a:t># Where:</a:t>
            </a:r>
          </a:p>
          <a:p>
            <a:pPr>
              <a:defRPr sz="850">
                <a:solidFill>
                  <a:srgbClr val="E6F5F2"/>
                </a:solidFill>
                <a:latin typeface="Consolas"/>
              </a:defRPr>
            </a:pPr>
            <a:r>
              <a:rPr sz="1000" dirty="0"/>
              <a:t># • </a:t>
            </a:r>
            <a:r>
              <a:rPr sz="1000" dirty="0" err="1"/>
              <a:t>Color_Harmony</a:t>
            </a:r>
            <a:r>
              <a:rPr sz="1000" dirty="0"/>
              <a:t>: Evaluates CIELAB delta E and complementary hues</a:t>
            </a:r>
          </a:p>
          <a:p>
            <a:pPr>
              <a:defRPr sz="850">
                <a:solidFill>
                  <a:srgbClr val="E6F5F2"/>
                </a:solidFill>
                <a:latin typeface="Consolas"/>
              </a:defRPr>
            </a:pPr>
            <a:r>
              <a:rPr sz="1000" dirty="0"/>
              <a:t># • </a:t>
            </a:r>
            <a:r>
              <a:rPr sz="1000" dirty="0" err="1"/>
              <a:t>Formality_Score</a:t>
            </a:r>
            <a:r>
              <a:rPr sz="1000" dirty="0"/>
              <a:t>: Penalizes formal/casual mismatch</a:t>
            </a:r>
          </a:p>
          <a:p>
            <a:pPr>
              <a:defRPr sz="850">
                <a:solidFill>
                  <a:srgbClr val="E6F5F2"/>
                </a:solidFill>
                <a:latin typeface="Consolas"/>
              </a:defRPr>
            </a:pPr>
            <a:r>
              <a:rPr sz="1000" dirty="0"/>
              <a:t># • </a:t>
            </a:r>
            <a:r>
              <a:rPr sz="1000" dirty="0" err="1"/>
              <a:t>Pattern_Clash</a:t>
            </a:r>
            <a:r>
              <a:rPr sz="1000" dirty="0"/>
              <a:t>: Penalizes multiple conflicting prints (striped + plaid)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3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Results &amp; Output</a:t>
            </a:r>
          </a:p>
          <a:p>
            <a:pPr>
              <a:defRPr sz="1200">
                <a:solidFill>
                  <a:srgbClr val="8CCDC3"/>
                </a:solidFill>
                <a:latin typeface="Arial"/>
              </a:defRPr>
            </a:pPr>
            <a:r>
              <a:t>Screenshots, sample output, and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CDC3"/>
                </a:solidFill>
                <a:latin typeface="Arial"/>
              </a:defRPr>
            </a:pPr>
            <a:r>
              <a:t>Minor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CDC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3291840"/>
          </a:xfrm>
          <a:prstGeom prst="roundRect">
            <a:avLst/>
          </a:prstGeom>
          <a:solidFill>
            <a:srgbClr val="E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1089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A8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5050"/>
                </a:solidFill>
                <a:latin typeface="Arial"/>
              </a:defRPr>
            </a:pPr>
            <a:r>
              <a:rPr dirty="0"/>
              <a:t>[ Insert Screenshot ]</a:t>
            </a:r>
            <a:br>
              <a:rPr dirty="0"/>
            </a:br>
            <a:br>
              <a:rPr dirty="0"/>
            </a:br>
            <a:r>
              <a:rPr dirty="0"/>
              <a:t>Digital Closet &amp; Tagging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A2D2D"/>
                </a:solidFill>
                <a:latin typeface="Arial"/>
              </a:defRPr>
            </a:pPr>
            <a:r>
              <a:t>Auto-classified wardrobe grid showing uploaded garments tagged with Category, Formality, Pattern, and Dominant Color chips.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030" y="1371600"/>
            <a:ext cx="3474720" cy="3291840"/>
          </a:xfrm>
          <a:prstGeom prst="roundRect">
            <a:avLst/>
          </a:prstGeom>
          <a:solidFill>
            <a:srgbClr val="E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40910" y="1554480"/>
            <a:ext cx="31089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A8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5050"/>
                </a:solidFill>
                <a:latin typeface="Arial"/>
              </a:defRPr>
            </a:pPr>
            <a:r>
              <a:t>[ Insert Screenshot ]</a:t>
            </a:r>
            <a:br/>
            <a:br/>
            <a:r>
              <a:t>Outfit Generator &amp;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190" y="3657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A2D2D"/>
                </a:solidFill>
                <a:latin typeface="Arial"/>
              </a:defRPr>
            </a:pPr>
            <a:r>
              <a:t>Ranked outfit combinations showing calculated compatibility scores (e.g. 92%), formality balance, and generated style tags.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335" y="1371600"/>
            <a:ext cx="3474720" cy="3291840"/>
          </a:xfrm>
          <a:prstGeom prst="roundRect">
            <a:avLst/>
          </a:prstGeom>
          <a:solidFill>
            <a:srgbClr val="E4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51215" y="1554480"/>
            <a:ext cx="31089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A8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5050"/>
                </a:solidFill>
                <a:latin typeface="Arial"/>
              </a:defRPr>
            </a:pPr>
            <a:r>
              <a:t>[ Insert Screenshot ]</a:t>
            </a:r>
            <a:br/>
            <a:br/>
            <a:r>
              <a:t>Virtual Try-On 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495" y="3657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A2D2D"/>
                </a:solidFill>
                <a:latin typeface="Arial"/>
              </a:defRPr>
            </a:pPr>
            <a:r>
              <a:t>Photorealistic CatVTON diffusion output rendering selected garments onto a mannequin silhouette with realistic drape and occlusion.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Georgia"/>
              </a:defRPr>
            </a:pPr>
            <a:r>
              <a:t>Observations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6F5F2"/>
                </a:solidFill>
                <a:latin typeface="Arial"/>
              </a:defRPr>
            </a:pPr>
            <a:r>
              <a:t>• Zero-Shot Accuracy: Fashion-CLIP achieves &gt;90% accuracy in garment category and formality classification without fine-tuning.</a:t>
            </a:r>
            <a:br/>
            <a:r>
              <a:t>• Recommendation Speed: Rule-based outfit engine generates and scores over 200 combinations in &lt;15ms on CPU.</a:t>
            </a:r>
            <a:br/>
            <a:r>
              <a:t>• Try-On Fidelity: CatVTON diffusion preserves intricate garment textures, logos, and natural creases with realistic body alignment in 90–120s on a free T4 GPU.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3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t>Conclusion &amp; Future Scope</a:t>
            </a:r>
          </a:p>
          <a:p>
            <a:pPr>
              <a:defRPr sz="1200">
                <a:solidFill>
                  <a:srgbClr val="8CCDC3"/>
                </a:solidFill>
                <a:latin typeface="Arial"/>
              </a:defRPr>
            </a:pPr>
            <a:r>
              <a:t>Project outcomes, system advantages, and upcoming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CCDC3"/>
                </a:solidFill>
                <a:latin typeface="Arial"/>
              </a:defRPr>
            </a:pPr>
            <a:r>
              <a:t>Minor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CDC3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6F5F2"/>
                </a:solidFill>
                <a:latin typeface="Arial"/>
              </a:defRPr>
            </a:pPr>
            <a:r>
              <a:t>AI Wardrobe bridges computer vision, recommender systems, and generative diffusion into an accessible, end-to-end digital fashion assistant. By automating item cataloging and providing instant color-theory outfit scoring with photorealistic virtual try-on, the project eliminates daily decision fatigue and revitalizes personal wardrobes.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96"/>
                </a:solidFill>
                <a:latin typeface="Georgia"/>
              </a:defRPr>
            </a:pPr>
            <a: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Zero Manual Tagging: </a:t>
            </a:r>
          </a:p>
          <a:p>
            <a:pPr>
              <a:defRPr sz="950">
                <a:solidFill>
                  <a:srgbClr val="E6F5F2"/>
                </a:solidFill>
                <a:latin typeface="Arial"/>
              </a:defRPr>
            </a:pPr>
            <a:r>
              <a:t>  Automated background subtraction and multimodal classification remove onboarding friction.</a:t>
            </a:r>
            <a:br/>
            <a:endParaRP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Cost-Effective Hybrid: </a:t>
            </a:r>
          </a:p>
          <a:p>
            <a:pPr>
              <a:defRPr sz="950">
                <a:solidFill>
                  <a:srgbClr val="E6F5F2"/>
                </a:solidFill>
                <a:latin typeface="Arial"/>
              </a:defRPr>
            </a:pPr>
            <a:r>
              <a:t>  Free cloud GPU (Colab T4) offloads heavy diffusion tasks while keeping the core server lightweight and fast.</a:t>
            </a:r>
            <a:br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58030" y="2011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96"/>
                </a:solidFill>
                <a:latin typeface="Georgia"/>
              </a:defRPr>
            </a:pPr>
            <a: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8030" y="23317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Two-Tower Neural Scorer: </a:t>
            </a:r>
          </a:p>
          <a:p>
            <a:pPr>
              <a:defRPr sz="950">
                <a:solidFill>
                  <a:srgbClr val="E6F5F2"/>
                </a:solidFill>
                <a:latin typeface="Arial"/>
              </a:defRPr>
            </a:pPr>
            <a:r>
              <a:t>  Train deep metric learning on the Polyvore Outfits dataset to capture subtle fashion trends.</a:t>
            </a:r>
            <a:br/>
            <a:endParaRPr/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Real-Time Try-On Latency: </a:t>
            </a:r>
          </a:p>
          <a:p>
            <a:pPr>
              <a:defRPr sz="950">
                <a:solidFill>
                  <a:srgbClr val="E6F5F2"/>
                </a:solidFill>
                <a:latin typeface="Arial"/>
              </a:defRPr>
            </a:pPr>
            <a:r>
              <a:t>  Leverage Latent Consistency Models (LCM) and 4-bit quantization to reduce VTON latency under 5 seconds.</a:t>
            </a:r>
            <a:br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8335" y="2011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96"/>
                </a:solidFill>
                <a:latin typeface="Georgia"/>
              </a:defRPr>
            </a:pPr>
            <a:r>
              <a:t>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335" y="23317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6F5F2"/>
                </a:solidFill>
                <a:latin typeface="Arial"/>
              </a:defRPr>
            </a:pPr>
            <a:r>
              <a:t>[1] Radford et al. (2021). 'Learning Transferable Visual Models From Natural Language Supervision (CLIP)'.</a:t>
            </a:r>
            <a:br/>
            <a:endParaRPr/>
          </a:p>
          <a:p>
            <a:pPr>
              <a:defRPr sz="950">
                <a:solidFill>
                  <a:srgbClr val="E6F5F2"/>
                </a:solidFill>
                <a:latin typeface="Arial"/>
              </a:defRPr>
            </a:pPr>
            <a:r>
              <a:t>[2] Choi et al. (2024). 'CatVTON: Improving Diffusion Models for Authentic Virtual Try-On in the Wild'.</a:t>
            </a:r>
            <a:br/>
            <a:endParaRPr/>
          </a:p>
          <a:p>
            <a:pPr>
              <a:defRPr sz="950">
                <a:solidFill>
                  <a:srgbClr val="E6F5F2"/>
                </a:solidFill>
                <a:latin typeface="Arial"/>
              </a:defRPr>
            </a:pPr>
            <a:r>
              <a:t>[3] FastAPI &amp; SQLAlchemy: 'High-Performance Asynchronous Python Framework Documentation' (2024).</a:t>
            </a:r>
            <a:br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4480560"/>
            <a:ext cx="11094415" cy="1828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CCDC3"/>
                </a:solidFill>
                <a:latin typeface="Arial"/>
              </a:defRPr>
            </a:pPr>
            <a:r>
              <a:t>Ranveer Panesar &amp; Tanish Dudeja  •  ranveerpanesar06@gmail.com  •  Department of Computer Science &amp;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1365</Words>
  <Application>Microsoft Office PowerPoint</Application>
  <PresentationFormat>Widescreen</PresentationFormat>
  <Paragraphs>148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Ranveer Singh</cp:lastModifiedBy>
  <cp:revision>2</cp:revision>
  <dcterms:created xsi:type="dcterms:W3CDTF">2013-01-27T09:14:16Z</dcterms:created>
  <dcterms:modified xsi:type="dcterms:W3CDTF">2026-09-29T20:05:40Z</dcterms:modified>
  <cp:category/>
</cp:coreProperties>
</file>