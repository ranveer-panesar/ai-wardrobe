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26B4B39-BE28-448E-AEBC-67359E3EC227}" type="doc">
      <dgm:prSet loTypeId="urn:microsoft.com/office/officeart/2005/8/layout/process2" loCatId="process" qsTypeId="urn:microsoft.com/office/officeart/2005/8/quickstyle/simple1" qsCatId="simple" csTypeId="urn:microsoft.com/office/officeart/2005/8/colors/colorful4" csCatId="colorful"/>
      <dgm:spPr/>
      <dgm:t>
        <a:bodyPr/>
        <a:lstStyle/>
        <a:p>
          <a:endParaRPr lang="en-IN"/>
        </a:p>
      </dgm:t>
    </dgm:pt>
    <dgm:pt modelId="{E8310B8A-4455-4764-BBDA-F16629895FAC}">
      <dgm:prSet/>
      <dgm:spPr/>
      <dgm:t>
        <a:bodyPr/>
        <a:lstStyle/>
        <a:p>
          <a:r>
            <a:rPr lang="en-IN"/>
            <a:t>1. Client sends authenticated garment upload</a:t>
          </a:r>
          <a:br>
            <a:rPr lang="en-IN"/>
          </a:br>
          <a:endParaRPr lang="en-IN"/>
        </a:p>
      </dgm:t>
    </dgm:pt>
    <dgm:pt modelId="{F174D264-42E2-4F67-9CFE-130039F2E840}" type="parTrans" cxnId="{C9613DE6-D619-433E-8280-C297761CEE2C}">
      <dgm:prSet/>
      <dgm:spPr/>
      <dgm:t>
        <a:bodyPr/>
        <a:lstStyle/>
        <a:p>
          <a:endParaRPr lang="en-IN"/>
        </a:p>
      </dgm:t>
    </dgm:pt>
    <dgm:pt modelId="{27ABB236-8013-4BC0-BA90-0CC2C3985825}" type="sibTrans" cxnId="{C9613DE6-D619-433E-8280-C297761CEE2C}">
      <dgm:prSet/>
      <dgm:spPr/>
      <dgm:t>
        <a:bodyPr/>
        <a:lstStyle/>
        <a:p>
          <a:endParaRPr lang="en-IN"/>
        </a:p>
      </dgm:t>
    </dgm:pt>
    <dgm:pt modelId="{5DE9E40B-DE88-4737-AC37-27C2CC4892A4}">
      <dgm:prSet/>
      <dgm:spPr/>
      <dgm:t>
        <a:bodyPr/>
        <a:lstStyle/>
        <a:p>
          <a:r>
            <a:rPr lang="en-IN"/>
            <a:t>2. JWT verified; user_id validated against users table</a:t>
          </a:r>
          <a:br>
            <a:rPr lang="en-IN"/>
          </a:br>
          <a:endParaRPr lang="en-IN"/>
        </a:p>
      </dgm:t>
    </dgm:pt>
    <dgm:pt modelId="{3798BBBE-8880-4348-98C1-43E166312D66}" type="parTrans" cxnId="{88D4371A-9BB3-4B29-8323-701C36F10729}">
      <dgm:prSet/>
      <dgm:spPr/>
      <dgm:t>
        <a:bodyPr/>
        <a:lstStyle/>
        <a:p>
          <a:endParaRPr lang="en-IN"/>
        </a:p>
      </dgm:t>
    </dgm:pt>
    <dgm:pt modelId="{C51A49F6-D588-45BC-8136-4D625DCC60AC}" type="sibTrans" cxnId="{88D4371A-9BB3-4B29-8323-701C36F10729}">
      <dgm:prSet/>
      <dgm:spPr/>
      <dgm:t>
        <a:bodyPr/>
        <a:lstStyle/>
        <a:p>
          <a:endParaRPr lang="en-IN"/>
        </a:p>
      </dgm:t>
    </dgm:pt>
    <dgm:pt modelId="{3437A3A1-046E-41AC-92B8-10D0031DB8A0}">
      <dgm:prSet/>
      <dgm:spPr/>
      <dgm:t>
        <a:bodyPr/>
        <a:lstStyle/>
        <a:p>
          <a:r>
            <a:rPr lang="en-IN"/>
            <a:t>3. Classification pipeline extracts category &amp; colors</a:t>
          </a:r>
          <a:br>
            <a:rPr lang="en-IN"/>
          </a:br>
          <a:endParaRPr lang="en-IN"/>
        </a:p>
      </dgm:t>
    </dgm:pt>
    <dgm:pt modelId="{DEC1C30E-C33D-41F7-9861-DCEC6F50CA0B}" type="parTrans" cxnId="{9D97B964-AA99-44D1-98C0-54DDB558EAA5}">
      <dgm:prSet/>
      <dgm:spPr/>
      <dgm:t>
        <a:bodyPr/>
        <a:lstStyle/>
        <a:p>
          <a:endParaRPr lang="en-IN"/>
        </a:p>
      </dgm:t>
    </dgm:pt>
    <dgm:pt modelId="{A7CCB45D-50BE-48ED-A859-AA6131C6B237}" type="sibTrans" cxnId="{9D97B964-AA99-44D1-98C0-54DDB558EAA5}">
      <dgm:prSet/>
      <dgm:spPr/>
      <dgm:t>
        <a:bodyPr/>
        <a:lstStyle/>
        <a:p>
          <a:endParaRPr lang="en-IN"/>
        </a:p>
      </dgm:t>
    </dgm:pt>
    <dgm:pt modelId="{AE082F85-B519-4EF5-9282-16020B4E10EB}">
      <dgm:prSet/>
      <dgm:spPr/>
      <dgm:t>
        <a:bodyPr/>
        <a:lstStyle/>
        <a:p>
          <a:r>
            <a:rPr lang="en-IN"/>
            <a:t>4. db.begin(): INSERT INTO garments with GUID PK</a:t>
          </a:r>
          <a:br>
            <a:rPr lang="en-IN"/>
          </a:br>
          <a:endParaRPr lang="en-IN"/>
        </a:p>
      </dgm:t>
    </dgm:pt>
    <dgm:pt modelId="{D6DB0728-0ABA-4DA5-B6E3-B1BC0D15DB10}" type="parTrans" cxnId="{8C90E5D0-9871-4218-9C21-5796EF9F185D}">
      <dgm:prSet/>
      <dgm:spPr/>
      <dgm:t>
        <a:bodyPr/>
        <a:lstStyle/>
        <a:p>
          <a:endParaRPr lang="en-IN"/>
        </a:p>
      </dgm:t>
    </dgm:pt>
    <dgm:pt modelId="{2AE8409A-D8B3-4349-A889-CE7A9341149A}" type="sibTrans" cxnId="{8C90E5D0-9871-4218-9C21-5796EF9F185D}">
      <dgm:prSet/>
      <dgm:spPr/>
      <dgm:t>
        <a:bodyPr/>
        <a:lstStyle/>
        <a:p>
          <a:endParaRPr lang="en-IN"/>
        </a:p>
      </dgm:t>
    </dgm:pt>
    <dgm:pt modelId="{864FE131-7C65-46F3-9987-B2DDDBE293B5}">
      <dgm:prSet/>
      <dgm:spPr/>
      <dgm:t>
        <a:bodyPr/>
        <a:lstStyle/>
        <a:p>
          <a:r>
            <a:rPr lang="en-IN"/>
            <a:t>5. db.commit() persists row; db.rollback() on exception</a:t>
          </a:r>
          <a:br>
            <a:rPr lang="en-IN"/>
          </a:br>
          <a:endParaRPr lang="en-IN"/>
        </a:p>
      </dgm:t>
    </dgm:pt>
    <dgm:pt modelId="{A47D42FC-446F-4C46-B09F-74D5405CEBBF}" type="parTrans" cxnId="{A0D0D86B-7F7B-4296-8278-ECB197F3139C}">
      <dgm:prSet/>
      <dgm:spPr/>
      <dgm:t>
        <a:bodyPr/>
        <a:lstStyle/>
        <a:p>
          <a:endParaRPr lang="en-IN"/>
        </a:p>
      </dgm:t>
    </dgm:pt>
    <dgm:pt modelId="{F7C0CAE8-391E-481D-ABA2-BB5E1B1ED955}" type="sibTrans" cxnId="{A0D0D86B-7F7B-4296-8278-ECB197F3139C}">
      <dgm:prSet/>
      <dgm:spPr/>
      <dgm:t>
        <a:bodyPr/>
        <a:lstStyle/>
        <a:p>
          <a:endParaRPr lang="en-IN"/>
        </a:p>
      </dgm:t>
    </dgm:pt>
    <dgm:pt modelId="{B0D3E1F3-9553-4F32-90FE-A79A76B045B5}" type="pres">
      <dgm:prSet presAssocID="{326B4B39-BE28-448E-AEBC-67359E3EC227}" presName="linearFlow" presStyleCnt="0">
        <dgm:presLayoutVars>
          <dgm:resizeHandles val="exact"/>
        </dgm:presLayoutVars>
      </dgm:prSet>
      <dgm:spPr/>
    </dgm:pt>
    <dgm:pt modelId="{FBBBB75F-B4DF-4A53-B18A-40B572502AB2}" type="pres">
      <dgm:prSet presAssocID="{E8310B8A-4455-4764-BBDA-F16629895FAC}" presName="node" presStyleLbl="node1" presStyleIdx="0" presStyleCnt="5">
        <dgm:presLayoutVars>
          <dgm:bulletEnabled val="1"/>
        </dgm:presLayoutVars>
      </dgm:prSet>
      <dgm:spPr/>
    </dgm:pt>
    <dgm:pt modelId="{3590487E-9985-437F-BE1D-AB3E9EE9F920}" type="pres">
      <dgm:prSet presAssocID="{27ABB236-8013-4BC0-BA90-0CC2C3985825}" presName="sibTrans" presStyleLbl="sibTrans2D1" presStyleIdx="0" presStyleCnt="4"/>
      <dgm:spPr/>
    </dgm:pt>
    <dgm:pt modelId="{C4713850-646E-4C65-9B95-7660AD22B631}" type="pres">
      <dgm:prSet presAssocID="{27ABB236-8013-4BC0-BA90-0CC2C3985825}" presName="connectorText" presStyleLbl="sibTrans2D1" presStyleIdx="0" presStyleCnt="4"/>
      <dgm:spPr/>
    </dgm:pt>
    <dgm:pt modelId="{4E0D32BA-C67B-4460-89FA-D3474C5B9BD1}" type="pres">
      <dgm:prSet presAssocID="{5DE9E40B-DE88-4737-AC37-27C2CC4892A4}" presName="node" presStyleLbl="node1" presStyleIdx="1" presStyleCnt="5">
        <dgm:presLayoutVars>
          <dgm:bulletEnabled val="1"/>
        </dgm:presLayoutVars>
      </dgm:prSet>
      <dgm:spPr/>
    </dgm:pt>
    <dgm:pt modelId="{30E76580-B6D7-4527-AC71-81778B59FC83}" type="pres">
      <dgm:prSet presAssocID="{C51A49F6-D588-45BC-8136-4D625DCC60AC}" presName="sibTrans" presStyleLbl="sibTrans2D1" presStyleIdx="1" presStyleCnt="4"/>
      <dgm:spPr/>
    </dgm:pt>
    <dgm:pt modelId="{ECE2AFD6-CF62-4A28-929C-24B951AD361D}" type="pres">
      <dgm:prSet presAssocID="{C51A49F6-D588-45BC-8136-4D625DCC60AC}" presName="connectorText" presStyleLbl="sibTrans2D1" presStyleIdx="1" presStyleCnt="4"/>
      <dgm:spPr/>
    </dgm:pt>
    <dgm:pt modelId="{48EF01F5-1D0D-4261-AA68-E19794F03249}" type="pres">
      <dgm:prSet presAssocID="{3437A3A1-046E-41AC-92B8-10D0031DB8A0}" presName="node" presStyleLbl="node1" presStyleIdx="2" presStyleCnt="5">
        <dgm:presLayoutVars>
          <dgm:bulletEnabled val="1"/>
        </dgm:presLayoutVars>
      </dgm:prSet>
      <dgm:spPr/>
    </dgm:pt>
    <dgm:pt modelId="{884FBE69-0EDE-4EEF-9979-A318301E6DBA}" type="pres">
      <dgm:prSet presAssocID="{A7CCB45D-50BE-48ED-A859-AA6131C6B237}" presName="sibTrans" presStyleLbl="sibTrans2D1" presStyleIdx="2" presStyleCnt="4"/>
      <dgm:spPr/>
    </dgm:pt>
    <dgm:pt modelId="{24A48E6F-A23D-4C9F-B79B-EDF87F6CC52D}" type="pres">
      <dgm:prSet presAssocID="{A7CCB45D-50BE-48ED-A859-AA6131C6B237}" presName="connectorText" presStyleLbl="sibTrans2D1" presStyleIdx="2" presStyleCnt="4"/>
      <dgm:spPr/>
    </dgm:pt>
    <dgm:pt modelId="{475A9193-8CE8-44B5-BF8B-64E6F37809B7}" type="pres">
      <dgm:prSet presAssocID="{AE082F85-B519-4EF5-9282-16020B4E10EB}" presName="node" presStyleLbl="node1" presStyleIdx="3" presStyleCnt="5">
        <dgm:presLayoutVars>
          <dgm:bulletEnabled val="1"/>
        </dgm:presLayoutVars>
      </dgm:prSet>
      <dgm:spPr/>
    </dgm:pt>
    <dgm:pt modelId="{609906AC-4C06-4464-9091-DDD0073D5C83}" type="pres">
      <dgm:prSet presAssocID="{2AE8409A-D8B3-4349-A889-CE7A9341149A}" presName="sibTrans" presStyleLbl="sibTrans2D1" presStyleIdx="3" presStyleCnt="4"/>
      <dgm:spPr/>
    </dgm:pt>
    <dgm:pt modelId="{BB214946-95F6-490D-B92A-09C55BD5E52F}" type="pres">
      <dgm:prSet presAssocID="{2AE8409A-D8B3-4349-A889-CE7A9341149A}" presName="connectorText" presStyleLbl="sibTrans2D1" presStyleIdx="3" presStyleCnt="4"/>
      <dgm:spPr/>
    </dgm:pt>
    <dgm:pt modelId="{9DB84BC1-8B71-4ED9-A445-F0E5361DCE94}" type="pres">
      <dgm:prSet presAssocID="{864FE131-7C65-46F3-9987-B2DDDBE293B5}" presName="node" presStyleLbl="node1" presStyleIdx="4" presStyleCnt="5">
        <dgm:presLayoutVars>
          <dgm:bulletEnabled val="1"/>
        </dgm:presLayoutVars>
      </dgm:prSet>
      <dgm:spPr/>
    </dgm:pt>
  </dgm:ptLst>
  <dgm:cxnLst>
    <dgm:cxn modelId="{A39E5004-7A9A-44BB-8611-E2081204BB08}" type="presOf" srcId="{2AE8409A-D8B3-4349-A889-CE7A9341149A}" destId="{609906AC-4C06-4464-9091-DDD0073D5C83}" srcOrd="0" destOrd="0" presId="urn:microsoft.com/office/officeart/2005/8/layout/process2"/>
    <dgm:cxn modelId="{88D4371A-9BB3-4B29-8323-701C36F10729}" srcId="{326B4B39-BE28-448E-AEBC-67359E3EC227}" destId="{5DE9E40B-DE88-4737-AC37-27C2CC4892A4}" srcOrd="1" destOrd="0" parTransId="{3798BBBE-8880-4348-98C1-43E166312D66}" sibTransId="{C51A49F6-D588-45BC-8136-4D625DCC60AC}"/>
    <dgm:cxn modelId="{7510FA1E-AFE4-4FE2-B7B7-930B06D81198}" type="presOf" srcId="{27ABB236-8013-4BC0-BA90-0CC2C3985825}" destId="{C4713850-646E-4C65-9B95-7660AD22B631}" srcOrd="1" destOrd="0" presId="urn:microsoft.com/office/officeart/2005/8/layout/process2"/>
    <dgm:cxn modelId="{577AE961-4539-4A5A-ADA7-546FBD1FDF06}" type="presOf" srcId="{326B4B39-BE28-448E-AEBC-67359E3EC227}" destId="{B0D3E1F3-9553-4F32-90FE-A79A76B045B5}" srcOrd="0" destOrd="0" presId="urn:microsoft.com/office/officeart/2005/8/layout/process2"/>
    <dgm:cxn modelId="{5B8DD862-3EAD-46B2-927F-E618A16B0392}" type="presOf" srcId="{27ABB236-8013-4BC0-BA90-0CC2C3985825}" destId="{3590487E-9985-437F-BE1D-AB3E9EE9F920}" srcOrd="0" destOrd="0" presId="urn:microsoft.com/office/officeart/2005/8/layout/process2"/>
    <dgm:cxn modelId="{9D97B964-AA99-44D1-98C0-54DDB558EAA5}" srcId="{326B4B39-BE28-448E-AEBC-67359E3EC227}" destId="{3437A3A1-046E-41AC-92B8-10D0031DB8A0}" srcOrd="2" destOrd="0" parTransId="{DEC1C30E-C33D-41F7-9861-DCEC6F50CA0B}" sibTransId="{A7CCB45D-50BE-48ED-A859-AA6131C6B237}"/>
    <dgm:cxn modelId="{9118EB67-06FC-4EF8-BA3F-B436C2F89A44}" type="presOf" srcId="{3437A3A1-046E-41AC-92B8-10D0031DB8A0}" destId="{48EF01F5-1D0D-4261-AA68-E19794F03249}" srcOrd="0" destOrd="0" presId="urn:microsoft.com/office/officeart/2005/8/layout/process2"/>
    <dgm:cxn modelId="{A0D0D86B-7F7B-4296-8278-ECB197F3139C}" srcId="{326B4B39-BE28-448E-AEBC-67359E3EC227}" destId="{864FE131-7C65-46F3-9987-B2DDDBE293B5}" srcOrd="4" destOrd="0" parTransId="{A47D42FC-446F-4C46-B09F-74D5405CEBBF}" sibTransId="{F7C0CAE8-391E-481D-ABA2-BB5E1B1ED955}"/>
    <dgm:cxn modelId="{7C794A8D-4333-4328-B188-F4959C2C828F}" type="presOf" srcId="{C51A49F6-D588-45BC-8136-4D625DCC60AC}" destId="{ECE2AFD6-CF62-4A28-929C-24B951AD361D}" srcOrd="1" destOrd="0" presId="urn:microsoft.com/office/officeart/2005/8/layout/process2"/>
    <dgm:cxn modelId="{F162F88D-3365-4368-82D1-DDC1E394F9C3}" type="presOf" srcId="{AE082F85-B519-4EF5-9282-16020B4E10EB}" destId="{475A9193-8CE8-44B5-BF8B-64E6F37809B7}" srcOrd="0" destOrd="0" presId="urn:microsoft.com/office/officeart/2005/8/layout/process2"/>
    <dgm:cxn modelId="{CA55F992-9308-44C8-B68D-97DEEE3F5A9C}" type="presOf" srcId="{2AE8409A-D8B3-4349-A889-CE7A9341149A}" destId="{BB214946-95F6-490D-B92A-09C55BD5E52F}" srcOrd="1" destOrd="0" presId="urn:microsoft.com/office/officeart/2005/8/layout/process2"/>
    <dgm:cxn modelId="{7D10ED9D-6C3E-40C7-BC59-D66704544D11}" type="presOf" srcId="{C51A49F6-D588-45BC-8136-4D625DCC60AC}" destId="{30E76580-B6D7-4527-AC71-81778B59FC83}" srcOrd="0" destOrd="0" presId="urn:microsoft.com/office/officeart/2005/8/layout/process2"/>
    <dgm:cxn modelId="{57AC60A6-1F77-48A8-8E96-A950295B4D6E}" type="presOf" srcId="{5DE9E40B-DE88-4737-AC37-27C2CC4892A4}" destId="{4E0D32BA-C67B-4460-89FA-D3474C5B9BD1}" srcOrd="0" destOrd="0" presId="urn:microsoft.com/office/officeart/2005/8/layout/process2"/>
    <dgm:cxn modelId="{F94920BA-40EE-4ADA-9BD3-298D1259EB51}" type="presOf" srcId="{E8310B8A-4455-4764-BBDA-F16629895FAC}" destId="{FBBBB75F-B4DF-4A53-B18A-40B572502AB2}" srcOrd="0" destOrd="0" presId="urn:microsoft.com/office/officeart/2005/8/layout/process2"/>
    <dgm:cxn modelId="{8C90E5D0-9871-4218-9C21-5796EF9F185D}" srcId="{326B4B39-BE28-448E-AEBC-67359E3EC227}" destId="{AE082F85-B519-4EF5-9282-16020B4E10EB}" srcOrd="3" destOrd="0" parTransId="{D6DB0728-0ABA-4DA5-B6E3-B1BC0D15DB10}" sibTransId="{2AE8409A-D8B3-4349-A889-CE7A9341149A}"/>
    <dgm:cxn modelId="{603E3BD3-99C8-430C-950D-19FF1E8570B1}" type="presOf" srcId="{864FE131-7C65-46F3-9987-B2DDDBE293B5}" destId="{9DB84BC1-8B71-4ED9-A445-F0E5361DCE94}" srcOrd="0" destOrd="0" presId="urn:microsoft.com/office/officeart/2005/8/layout/process2"/>
    <dgm:cxn modelId="{C9613DE6-D619-433E-8280-C297761CEE2C}" srcId="{326B4B39-BE28-448E-AEBC-67359E3EC227}" destId="{E8310B8A-4455-4764-BBDA-F16629895FAC}" srcOrd="0" destOrd="0" parTransId="{F174D264-42E2-4F67-9CFE-130039F2E840}" sibTransId="{27ABB236-8013-4BC0-BA90-0CC2C3985825}"/>
    <dgm:cxn modelId="{87B70CF9-EF95-4DF8-AABA-172279C04468}" type="presOf" srcId="{A7CCB45D-50BE-48ED-A859-AA6131C6B237}" destId="{884FBE69-0EDE-4EEF-9979-A318301E6DBA}" srcOrd="0" destOrd="0" presId="urn:microsoft.com/office/officeart/2005/8/layout/process2"/>
    <dgm:cxn modelId="{DBC772FC-25A5-4B00-AA94-46AD8464D068}" type="presOf" srcId="{A7CCB45D-50BE-48ED-A859-AA6131C6B237}" destId="{24A48E6F-A23D-4C9F-B79B-EDF87F6CC52D}" srcOrd="1" destOrd="0" presId="urn:microsoft.com/office/officeart/2005/8/layout/process2"/>
    <dgm:cxn modelId="{5B367CFF-AF12-4956-925F-578A3BA803BF}" type="presParOf" srcId="{B0D3E1F3-9553-4F32-90FE-A79A76B045B5}" destId="{FBBBB75F-B4DF-4A53-B18A-40B572502AB2}" srcOrd="0" destOrd="0" presId="urn:microsoft.com/office/officeart/2005/8/layout/process2"/>
    <dgm:cxn modelId="{146EBA5C-1C24-4538-8AB2-9DBCFED4EC19}" type="presParOf" srcId="{B0D3E1F3-9553-4F32-90FE-A79A76B045B5}" destId="{3590487E-9985-437F-BE1D-AB3E9EE9F920}" srcOrd="1" destOrd="0" presId="urn:microsoft.com/office/officeart/2005/8/layout/process2"/>
    <dgm:cxn modelId="{28773B1B-44DF-40EE-B126-B02F5D26348A}" type="presParOf" srcId="{3590487E-9985-437F-BE1D-AB3E9EE9F920}" destId="{C4713850-646E-4C65-9B95-7660AD22B631}" srcOrd="0" destOrd="0" presId="urn:microsoft.com/office/officeart/2005/8/layout/process2"/>
    <dgm:cxn modelId="{494A61E0-EA23-4423-8A91-2E25AC64BED2}" type="presParOf" srcId="{B0D3E1F3-9553-4F32-90FE-A79A76B045B5}" destId="{4E0D32BA-C67B-4460-89FA-D3474C5B9BD1}" srcOrd="2" destOrd="0" presId="urn:microsoft.com/office/officeart/2005/8/layout/process2"/>
    <dgm:cxn modelId="{D76200C0-5D52-4A4D-8C4B-F18D0920A949}" type="presParOf" srcId="{B0D3E1F3-9553-4F32-90FE-A79A76B045B5}" destId="{30E76580-B6D7-4527-AC71-81778B59FC83}" srcOrd="3" destOrd="0" presId="urn:microsoft.com/office/officeart/2005/8/layout/process2"/>
    <dgm:cxn modelId="{3518F77B-CAA1-49D5-A089-D8D164FCD740}" type="presParOf" srcId="{30E76580-B6D7-4527-AC71-81778B59FC83}" destId="{ECE2AFD6-CF62-4A28-929C-24B951AD361D}" srcOrd="0" destOrd="0" presId="urn:microsoft.com/office/officeart/2005/8/layout/process2"/>
    <dgm:cxn modelId="{8B9B2EC1-F87F-4404-8082-6DE94846454C}" type="presParOf" srcId="{B0D3E1F3-9553-4F32-90FE-A79A76B045B5}" destId="{48EF01F5-1D0D-4261-AA68-E19794F03249}" srcOrd="4" destOrd="0" presId="urn:microsoft.com/office/officeart/2005/8/layout/process2"/>
    <dgm:cxn modelId="{FC33ECFB-C83D-4F5B-8170-8C2A2FAF7782}" type="presParOf" srcId="{B0D3E1F3-9553-4F32-90FE-A79A76B045B5}" destId="{884FBE69-0EDE-4EEF-9979-A318301E6DBA}" srcOrd="5" destOrd="0" presId="urn:microsoft.com/office/officeart/2005/8/layout/process2"/>
    <dgm:cxn modelId="{856BD9D9-C97B-4E1A-B09D-EB2060278263}" type="presParOf" srcId="{884FBE69-0EDE-4EEF-9979-A318301E6DBA}" destId="{24A48E6F-A23D-4C9F-B79B-EDF87F6CC52D}" srcOrd="0" destOrd="0" presId="urn:microsoft.com/office/officeart/2005/8/layout/process2"/>
    <dgm:cxn modelId="{0422DEE1-34DC-4794-AE27-3246884C52E6}" type="presParOf" srcId="{B0D3E1F3-9553-4F32-90FE-A79A76B045B5}" destId="{475A9193-8CE8-44B5-BF8B-64E6F37809B7}" srcOrd="6" destOrd="0" presId="urn:microsoft.com/office/officeart/2005/8/layout/process2"/>
    <dgm:cxn modelId="{6C1BCD02-A5AE-45EC-9CB7-944F036DB43A}" type="presParOf" srcId="{B0D3E1F3-9553-4F32-90FE-A79A76B045B5}" destId="{609906AC-4C06-4464-9091-DDD0073D5C83}" srcOrd="7" destOrd="0" presId="urn:microsoft.com/office/officeart/2005/8/layout/process2"/>
    <dgm:cxn modelId="{769740E1-4480-4E6B-9E99-ACC76D567B53}" type="presParOf" srcId="{609906AC-4C06-4464-9091-DDD0073D5C83}" destId="{BB214946-95F6-490D-B92A-09C55BD5E52F}" srcOrd="0" destOrd="0" presId="urn:microsoft.com/office/officeart/2005/8/layout/process2"/>
    <dgm:cxn modelId="{A73C9258-5E36-4CD2-ADD1-F7B97B762701}" type="presParOf" srcId="{B0D3E1F3-9553-4F32-90FE-A79A76B045B5}" destId="{9DB84BC1-8B71-4ED9-A445-F0E5361DCE94}"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5D4F06-6A19-4B29-AB9C-FDCC8751F72D}" type="doc">
      <dgm:prSet loTypeId="urn:microsoft.com/office/officeart/2005/8/layout/process2" loCatId="process" qsTypeId="urn:microsoft.com/office/officeart/2005/8/quickstyle/simple1" qsCatId="simple" csTypeId="urn:microsoft.com/office/officeart/2005/8/colors/colorful4" csCatId="colorful"/>
      <dgm:spPr/>
      <dgm:t>
        <a:bodyPr/>
        <a:lstStyle/>
        <a:p>
          <a:endParaRPr lang="en-IN"/>
        </a:p>
      </dgm:t>
    </dgm:pt>
    <dgm:pt modelId="{5D5E16AE-BC15-4600-AD6C-F319FB3897D0}">
      <dgm:prSet/>
      <dgm:spPr/>
      <dgm:t>
        <a:bodyPr/>
        <a:lstStyle/>
        <a:p>
          <a:r>
            <a:rPr lang="en-IN"/>
            <a:t>1. Client requests outfit combinations for user</a:t>
          </a:r>
          <a:br>
            <a:rPr lang="en-IN"/>
          </a:br>
          <a:endParaRPr lang="en-IN"/>
        </a:p>
      </dgm:t>
    </dgm:pt>
    <dgm:pt modelId="{6BD2FEC0-EB3F-4B7B-946C-FD9B147EB2F2}" type="parTrans" cxnId="{AB9E8C96-6ED6-4056-8FDF-1FFC4087B9D8}">
      <dgm:prSet/>
      <dgm:spPr/>
      <dgm:t>
        <a:bodyPr/>
        <a:lstStyle/>
        <a:p>
          <a:endParaRPr lang="en-IN"/>
        </a:p>
      </dgm:t>
    </dgm:pt>
    <dgm:pt modelId="{8090C3B6-73BB-4C5B-AA16-D4E0EC68E78D}" type="sibTrans" cxnId="{AB9E8C96-6ED6-4056-8FDF-1FFC4087B9D8}">
      <dgm:prSet/>
      <dgm:spPr/>
      <dgm:t>
        <a:bodyPr/>
        <a:lstStyle/>
        <a:p>
          <a:endParaRPr lang="en-IN"/>
        </a:p>
      </dgm:t>
    </dgm:pt>
    <dgm:pt modelId="{C335FE10-2D68-4285-8419-E11915890A10}">
      <dgm:prSet/>
      <dgm:spPr/>
      <dgm:t>
        <a:bodyPr/>
        <a:lstStyle/>
        <a:p>
          <a:r>
            <a:rPr lang="en-IN"/>
            <a:t>2. B-Tree index query: SELECT * WHERE user_id = :uid</a:t>
          </a:r>
          <a:br>
            <a:rPr lang="en-IN"/>
          </a:br>
          <a:endParaRPr lang="en-IN"/>
        </a:p>
      </dgm:t>
    </dgm:pt>
    <dgm:pt modelId="{9DB46F41-7247-49AC-ADD0-53E5D3154318}" type="parTrans" cxnId="{F64A4EBD-3444-4FD4-BF9C-23FEE5F1945F}">
      <dgm:prSet/>
      <dgm:spPr/>
      <dgm:t>
        <a:bodyPr/>
        <a:lstStyle/>
        <a:p>
          <a:endParaRPr lang="en-IN"/>
        </a:p>
      </dgm:t>
    </dgm:pt>
    <dgm:pt modelId="{3BB0E94D-1B3B-48B3-9B67-FBD89BC4C737}" type="sibTrans" cxnId="{F64A4EBD-3444-4FD4-BF9C-23FEE5F1945F}">
      <dgm:prSet/>
      <dgm:spPr/>
      <dgm:t>
        <a:bodyPr/>
        <a:lstStyle/>
        <a:p>
          <a:endParaRPr lang="en-IN"/>
        </a:p>
      </dgm:t>
    </dgm:pt>
    <dgm:pt modelId="{47352A8A-7FE0-47F9-AF89-2061A868F94E}">
      <dgm:prSet/>
      <dgm:spPr/>
      <dgm:t>
        <a:bodyPr/>
        <a:lstStyle/>
        <a:p>
          <a:r>
            <a:rPr lang="en-IN"/>
            <a:t>3. Group garments into tops, bottoms, and outer layers</a:t>
          </a:r>
          <a:br>
            <a:rPr lang="en-IN"/>
          </a:br>
          <a:endParaRPr lang="en-IN"/>
        </a:p>
      </dgm:t>
    </dgm:pt>
    <dgm:pt modelId="{540FC4F8-C5DF-4117-83E1-91087E6C3417}" type="parTrans" cxnId="{5B8FDC3C-D27D-4285-BDBD-4DC667CF6B90}">
      <dgm:prSet/>
      <dgm:spPr/>
      <dgm:t>
        <a:bodyPr/>
        <a:lstStyle/>
        <a:p>
          <a:endParaRPr lang="en-IN"/>
        </a:p>
      </dgm:t>
    </dgm:pt>
    <dgm:pt modelId="{8566649A-C7FF-4CB3-B691-C25959E866C4}" type="sibTrans" cxnId="{5B8FDC3C-D27D-4285-BDBD-4DC667CF6B90}">
      <dgm:prSet/>
      <dgm:spPr/>
      <dgm:t>
        <a:bodyPr/>
        <a:lstStyle/>
        <a:p>
          <a:endParaRPr lang="en-IN"/>
        </a:p>
      </dgm:t>
    </dgm:pt>
    <dgm:pt modelId="{E09A6D8C-77F2-4C44-9C85-8ABC2E3A7A04}">
      <dgm:prSet/>
      <dgm:spPr/>
      <dgm:t>
        <a:bodyPr/>
        <a:lstStyle/>
        <a:p>
          <a:r>
            <a:rPr lang="en-IN"/>
            <a:t>4. Cartesian candidate join with compatibility scoring</a:t>
          </a:r>
          <a:br>
            <a:rPr lang="en-IN"/>
          </a:br>
          <a:endParaRPr lang="en-IN"/>
        </a:p>
      </dgm:t>
    </dgm:pt>
    <dgm:pt modelId="{06EA0E96-DA28-4708-BAF5-D605238306CD}" type="parTrans" cxnId="{2DBB8965-CC61-4C70-A563-1BA5185116FD}">
      <dgm:prSet/>
      <dgm:spPr/>
      <dgm:t>
        <a:bodyPr/>
        <a:lstStyle/>
        <a:p>
          <a:endParaRPr lang="en-IN"/>
        </a:p>
      </dgm:t>
    </dgm:pt>
    <dgm:pt modelId="{BBF06075-E94C-44A1-99A8-3445E13654FB}" type="sibTrans" cxnId="{2DBB8965-CC61-4C70-A563-1BA5185116FD}">
      <dgm:prSet/>
      <dgm:spPr/>
      <dgm:t>
        <a:bodyPr/>
        <a:lstStyle/>
        <a:p>
          <a:endParaRPr lang="en-IN"/>
        </a:p>
      </dgm:t>
    </dgm:pt>
    <dgm:pt modelId="{18CD7CF5-B65B-4F5C-BE84-9B9A3FD84F22}">
      <dgm:prSet/>
      <dgm:spPr/>
      <dgm:t>
        <a:bodyPr/>
        <a:lstStyle/>
        <a:p>
          <a:r>
            <a:rPr lang="en-IN"/>
            <a:t>5. INSERT INTO outfits with foreign key link to users</a:t>
          </a:r>
          <a:br>
            <a:rPr lang="en-IN"/>
          </a:br>
          <a:endParaRPr lang="en-IN"/>
        </a:p>
      </dgm:t>
    </dgm:pt>
    <dgm:pt modelId="{6166195E-6EF2-4C3F-B451-5CAC3EA59D22}" type="parTrans" cxnId="{789F16D5-043A-474C-9094-D9A6F9D02A36}">
      <dgm:prSet/>
      <dgm:spPr/>
      <dgm:t>
        <a:bodyPr/>
        <a:lstStyle/>
        <a:p>
          <a:endParaRPr lang="en-IN"/>
        </a:p>
      </dgm:t>
    </dgm:pt>
    <dgm:pt modelId="{AE6E17A8-491C-49D7-8231-C9B9F699A3BB}" type="sibTrans" cxnId="{789F16D5-043A-474C-9094-D9A6F9D02A36}">
      <dgm:prSet/>
      <dgm:spPr/>
      <dgm:t>
        <a:bodyPr/>
        <a:lstStyle/>
        <a:p>
          <a:endParaRPr lang="en-IN"/>
        </a:p>
      </dgm:t>
    </dgm:pt>
    <dgm:pt modelId="{D61207B7-C186-4553-BDC9-AA1D4214FA24}" type="pres">
      <dgm:prSet presAssocID="{9D5D4F06-6A19-4B29-AB9C-FDCC8751F72D}" presName="linearFlow" presStyleCnt="0">
        <dgm:presLayoutVars>
          <dgm:resizeHandles val="exact"/>
        </dgm:presLayoutVars>
      </dgm:prSet>
      <dgm:spPr/>
    </dgm:pt>
    <dgm:pt modelId="{9D661C65-2820-45D9-B18A-247138C6E88D}" type="pres">
      <dgm:prSet presAssocID="{5D5E16AE-BC15-4600-AD6C-F319FB3897D0}" presName="node" presStyleLbl="node1" presStyleIdx="0" presStyleCnt="5">
        <dgm:presLayoutVars>
          <dgm:bulletEnabled val="1"/>
        </dgm:presLayoutVars>
      </dgm:prSet>
      <dgm:spPr/>
    </dgm:pt>
    <dgm:pt modelId="{E79BBC9C-57A0-4E20-8488-95120ED2E2F2}" type="pres">
      <dgm:prSet presAssocID="{8090C3B6-73BB-4C5B-AA16-D4E0EC68E78D}" presName="sibTrans" presStyleLbl="sibTrans2D1" presStyleIdx="0" presStyleCnt="4"/>
      <dgm:spPr/>
    </dgm:pt>
    <dgm:pt modelId="{F7BFBF6F-CB58-40A1-9022-A405B4AA2936}" type="pres">
      <dgm:prSet presAssocID="{8090C3B6-73BB-4C5B-AA16-D4E0EC68E78D}" presName="connectorText" presStyleLbl="sibTrans2D1" presStyleIdx="0" presStyleCnt="4"/>
      <dgm:spPr/>
    </dgm:pt>
    <dgm:pt modelId="{6BE4A934-C633-4A4D-83A4-BC98527FF461}" type="pres">
      <dgm:prSet presAssocID="{C335FE10-2D68-4285-8419-E11915890A10}" presName="node" presStyleLbl="node1" presStyleIdx="1" presStyleCnt="5">
        <dgm:presLayoutVars>
          <dgm:bulletEnabled val="1"/>
        </dgm:presLayoutVars>
      </dgm:prSet>
      <dgm:spPr/>
    </dgm:pt>
    <dgm:pt modelId="{F1F3461A-D7F6-4F0E-BEF1-02984AEB9FBD}" type="pres">
      <dgm:prSet presAssocID="{3BB0E94D-1B3B-48B3-9B67-FBD89BC4C737}" presName="sibTrans" presStyleLbl="sibTrans2D1" presStyleIdx="1" presStyleCnt="4"/>
      <dgm:spPr/>
    </dgm:pt>
    <dgm:pt modelId="{0D160785-A265-4782-8C0F-E46CA94938B7}" type="pres">
      <dgm:prSet presAssocID="{3BB0E94D-1B3B-48B3-9B67-FBD89BC4C737}" presName="connectorText" presStyleLbl="sibTrans2D1" presStyleIdx="1" presStyleCnt="4"/>
      <dgm:spPr/>
    </dgm:pt>
    <dgm:pt modelId="{04F2F612-31B7-493E-B01E-DE2D5777E780}" type="pres">
      <dgm:prSet presAssocID="{47352A8A-7FE0-47F9-AF89-2061A868F94E}" presName="node" presStyleLbl="node1" presStyleIdx="2" presStyleCnt="5">
        <dgm:presLayoutVars>
          <dgm:bulletEnabled val="1"/>
        </dgm:presLayoutVars>
      </dgm:prSet>
      <dgm:spPr/>
    </dgm:pt>
    <dgm:pt modelId="{B85B7B50-8E1E-410B-B273-BF1E38E49485}" type="pres">
      <dgm:prSet presAssocID="{8566649A-C7FF-4CB3-B691-C25959E866C4}" presName="sibTrans" presStyleLbl="sibTrans2D1" presStyleIdx="2" presStyleCnt="4"/>
      <dgm:spPr/>
    </dgm:pt>
    <dgm:pt modelId="{BC4FAF79-6C79-4532-8FE8-67221D52A764}" type="pres">
      <dgm:prSet presAssocID="{8566649A-C7FF-4CB3-B691-C25959E866C4}" presName="connectorText" presStyleLbl="sibTrans2D1" presStyleIdx="2" presStyleCnt="4"/>
      <dgm:spPr/>
    </dgm:pt>
    <dgm:pt modelId="{A92F2EB4-F1C9-431B-B3C8-C0DFFCB07E88}" type="pres">
      <dgm:prSet presAssocID="{E09A6D8C-77F2-4C44-9C85-8ABC2E3A7A04}" presName="node" presStyleLbl="node1" presStyleIdx="3" presStyleCnt="5">
        <dgm:presLayoutVars>
          <dgm:bulletEnabled val="1"/>
        </dgm:presLayoutVars>
      </dgm:prSet>
      <dgm:spPr/>
    </dgm:pt>
    <dgm:pt modelId="{F5C26ED3-20C1-4014-8C8C-BACF5B05D926}" type="pres">
      <dgm:prSet presAssocID="{BBF06075-E94C-44A1-99A8-3445E13654FB}" presName="sibTrans" presStyleLbl="sibTrans2D1" presStyleIdx="3" presStyleCnt="4"/>
      <dgm:spPr/>
    </dgm:pt>
    <dgm:pt modelId="{3FCB0B1E-2690-4A43-B3EB-758275DFFF7D}" type="pres">
      <dgm:prSet presAssocID="{BBF06075-E94C-44A1-99A8-3445E13654FB}" presName="connectorText" presStyleLbl="sibTrans2D1" presStyleIdx="3" presStyleCnt="4"/>
      <dgm:spPr/>
    </dgm:pt>
    <dgm:pt modelId="{3CAF4473-5D41-4D9E-BE38-D29E2E78AE9E}" type="pres">
      <dgm:prSet presAssocID="{18CD7CF5-B65B-4F5C-BE84-9B9A3FD84F22}" presName="node" presStyleLbl="node1" presStyleIdx="4" presStyleCnt="5">
        <dgm:presLayoutVars>
          <dgm:bulletEnabled val="1"/>
        </dgm:presLayoutVars>
      </dgm:prSet>
      <dgm:spPr/>
    </dgm:pt>
  </dgm:ptLst>
  <dgm:cxnLst>
    <dgm:cxn modelId="{9786030E-4976-447D-9B61-318B35FB80C8}" type="presOf" srcId="{8566649A-C7FF-4CB3-B691-C25959E866C4}" destId="{BC4FAF79-6C79-4532-8FE8-67221D52A764}" srcOrd="1" destOrd="0" presId="urn:microsoft.com/office/officeart/2005/8/layout/process2"/>
    <dgm:cxn modelId="{A90A5212-6AAB-4373-AF98-3BE6C84AF31D}" type="presOf" srcId="{C335FE10-2D68-4285-8419-E11915890A10}" destId="{6BE4A934-C633-4A4D-83A4-BC98527FF461}" srcOrd="0" destOrd="0" presId="urn:microsoft.com/office/officeart/2005/8/layout/process2"/>
    <dgm:cxn modelId="{DF381F3A-5DC9-4E9D-9211-3B47DE6F7A0D}" type="presOf" srcId="{3BB0E94D-1B3B-48B3-9B67-FBD89BC4C737}" destId="{F1F3461A-D7F6-4F0E-BEF1-02984AEB9FBD}" srcOrd="0" destOrd="0" presId="urn:microsoft.com/office/officeart/2005/8/layout/process2"/>
    <dgm:cxn modelId="{5B8FDC3C-D27D-4285-BDBD-4DC667CF6B90}" srcId="{9D5D4F06-6A19-4B29-AB9C-FDCC8751F72D}" destId="{47352A8A-7FE0-47F9-AF89-2061A868F94E}" srcOrd="2" destOrd="0" parTransId="{540FC4F8-C5DF-4117-83E1-91087E6C3417}" sibTransId="{8566649A-C7FF-4CB3-B691-C25959E866C4}"/>
    <dgm:cxn modelId="{3D9B0A3E-53F2-4A45-A4BA-26F8A5D89DA9}" type="presOf" srcId="{3BB0E94D-1B3B-48B3-9B67-FBD89BC4C737}" destId="{0D160785-A265-4782-8C0F-E46CA94938B7}" srcOrd="1" destOrd="0" presId="urn:microsoft.com/office/officeart/2005/8/layout/process2"/>
    <dgm:cxn modelId="{0ED2E65E-FDC6-4837-92D7-F5B8EBA73C56}" type="presOf" srcId="{8566649A-C7FF-4CB3-B691-C25959E866C4}" destId="{B85B7B50-8E1E-410B-B273-BF1E38E49485}" srcOrd="0" destOrd="0" presId="urn:microsoft.com/office/officeart/2005/8/layout/process2"/>
    <dgm:cxn modelId="{B7519662-C91D-419C-B444-B7C2D583065C}" type="presOf" srcId="{5D5E16AE-BC15-4600-AD6C-F319FB3897D0}" destId="{9D661C65-2820-45D9-B18A-247138C6E88D}" srcOrd="0" destOrd="0" presId="urn:microsoft.com/office/officeart/2005/8/layout/process2"/>
    <dgm:cxn modelId="{2DBB8965-CC61-4C70-A563-1BA5185116FD}" srcId="{9D5D4F06-6A19-4B29-AB9C-FDCC8751F72D}" destId="{E09A6D8C-77F2-4C44-9C85-8ABC2E3A7A04}" srcOrd="3" destOrd="0" parTransId="{06EA0E96-DA28-4708-BAF5-D605238306CD}" sibTransId="{BBF06075-E94C-44A1-99A8-3445E13654FB}"/>
    <dgm:cxn modelId="{70F2D468-E6AA-4E1D-A9F5-6FDEDEA36EB9}" type="presOf" srcId="{8090C3B6-73BB-4C5B-AA16-D4E0EC68E78D}" destId="{E79BBC9C-57A0-4E20-8488-95120ED2E2F2}" srcOrd="0" destOrd="0" presId="urn:microsoft.com/office/officeart/2005/8/layout/process2"/>
    <dgm:cxn modelId="{30705B6C-67B3-4B7F-A6BF-61084230902A}" type="presOf" srcId="{8090C3B6-73BB-4C5B-AA16-D4E0EC68E78D}" destId="{F7BFBF6F-CB58-40A1-9022-A405B4AA2936}" srcOrd="1" destOrd="0" presId="urn:microsoft.com/office/officeart/2005/8/layout/process2"/>
    <dgm:cxn modelId="{4D94156F-F630-4E4D-AB7B-56BB3E2C95AA}" type="presOf" srcId="{BBF06075-E94C-44A1-99A8-3445E13654FB}" destId="{F5C26ED3-20C1-4014-8C8C-BACF5B05D926}" srcOrd="0" destOrd="0" presId="urn:microsoft.com/office/officeart/2005/8/layout/process2"/>
    <dgm:cxn modelId="{0A3F6A77-E6A4-4A53-877A-6E9A101E94D5}" type="presOf" srcId="{E09A6D8C-77F2-4C44-9C85-8ABC2E3A7A04}" destId="{A92F2EB4-F1C9-431B-B3C8-C0DFFCB07E88}" srcOrd="0" destOrd="0" presId="urn:microsoft.com/office/officeart/2005/8/layout/process2"/>
    <dgm:cxn modelId="{EF0ECB86-01D4-453C-B4C6-DD9AB003F61E}" type="presOf" srcId="{47352A8A-7FE0-47F9-AF89-2061A868F94E}" destId="{04F2F612-31B7-493E-B01E-DE2D5777E780}" srcOrd="0" destOrd="0" presId="urn:microsoft.com/office/officeart/2005/8/layout/process2"/>
    <dgm:cxn modelId="{AB9E8C96-6ED6-4056-8FDF-1FFC4087B9D8}" srcId="{9D5D4F06-6A19-4B29-AB9C-FDCC8751F72D}" destId="{5D5E16AE-BC15-4600-AD6C-F319FB3897D0}" srcOrd="0" destOrd="0" parTransId="{6BD2FEC0-EB3F-4B7B-946C-FD9B147EB2F2}" sibTransId="{8090C3B6-73BB-4C5B-AA16-D4E0EC68E78D}"/>
    <dgm:cxn modelId="{FFE9C39C-9E59-4CCB-8952-F65DF9081FF1}" type="presOf" srcId="{9D5D4F06-6A19-4B29-AB9C-FDCC8751F72D}" destId="{D61207B7-C186-4553-BDC9-AA1D4214FA24}" srcOrd="0" destOrd="0" presId="urn:microsoft.com/office/officeart/2005/8/layout/process2"/>
    <dgm:cxn modelId="{7C79809E-246E-4D5B-833D-4E97BB0384DA}" type="presOf" srcId="{18CD7CF5-B65B-4F5C-BE84-9B9A3FD84F22}" destId="{3CAF4473-5D41-4D9E-BE38-D29E2E78AE9E}" srcOrd="0" destOrd="0" presId="urn:microsoft.com/office/officeart/2005/8/layout/process2"/>
    <dgm:cxn modelId="{F64A4EBD-3444-4FD4-BF9C-23FEE5F1945F}" srcId="{9D5D4F06-6A19-4B29-AB9C-FDCC8751F72D}" destId="{C335FE10-2D68-4285-8419-E11915890A10}" srcOrd="1" destOrd="0" parTransId="{9DB46F41-7247-49AC-ADD0-53E5D3154318}" sibTransId="{3BB0E94D-1B3B-48B3-9B67-FBD89BC4C737}"/>
    <dgm:cxn modelId="{D5EB18D0-EDDE-4F97-801E-C87DA8A37551}" type="presOf" srcId="{BBF06075-E94C-44A1-99A8-3445E13654FB}" destId="{3FCB0B1E-2690-4A43-B3EB-758275DFFF7D}" srcOrd="1" destOrd="0" presId="urn:microsoft.com/office/officeart/2005/8/layout/process2"/>
    <dgm:cxn modelId="{789F16D5-043A-474C-9094-D9A6F9D02A36}" srcId="{9D5D4F06-6A19-4B29-AB9C-FDCC8751F72D}" destId="{18CD7CF5-B65B-4F5C-BE84-9B9A3FD84F22}" srcOrd="4" destOrd="0" parTransId="{6166195E-6EF2-4C3F-B451-5CAC3EA59D22}" sibTransId="{AE6E17A8-491C-49D7-8231-C9B9F699A3BB}"/>
    <dgm:cxn modelId="{0C8F6C1C-B395-417F-8BF6-4BAA42FB8FC6}" type="presParOf" srcId="{D61207B7-C186-4553-BDC9-AA1D4214FA24}" destId="{9D661C65-2820-45D9-B18A-247138C6E88D}" srcOrd="0" destOrd="0" presId="urn:microsoft.com/office/officeart/2005/8/layout/process2"/>
    <dgm:cxn modelId="{D3300D89-27C1-403E-9389-D11B28F52090}" type="presParOf" srcId="{D61207B7-C186-4553-BDC9-AA1D4214FA24}" destId="{E79BBC9C-57A0-4E20-8488-95120ED2E2F2}" srcOrd="1" destOrd="0" presId="urn:microsoft.com/office/officeart/2005/8/layout/process2"/>
    <dgm:cxn modelId="{8035A462-CEFB-4CAB-9CEB-C8478D8741C6}" type="presParOf" srcId="{E79BBC9C-57A0-4E20-8488-95120ED2E2F2}" destId="{F7BFBF6F-CB58-40A1-9022-A405B4AA2936}" srcOrd="0" destOrd="0" presId="urn:microsoft.com/office/officeart/2005/8/layout/process2"/>
    <dgm:cxn modelId="{CC4DEBDC-9F6F-402B-95AE-43886E5A3163}" type="presParOf" srcId="{D61207B7-C186-4553-BDC9-AA1D4214FA24}" destId="{6BE4A934-C633-4A4D-83A4-BC98527FF461}" srcOrd="2" destOrd="0" presId="urn:microsoft.com/office/officeart/2005/8/layout/process2"/>
    <dgm:cxn modelId="{F1235E25-7D59-4EB3-B6CE-181AFCB25AAB}" type="presParOf" srcId="{D61207B7-C186-4553-BDC9-AA1D4214FA24}" destId="{F1F3461A-D7F6-4F0E-BEF1-02984AEB9FBD}" srcOrd="3" destOrd="0" presId="urn:microsoft.com/office/officeart/2005/8/layout/process2"/>
    <dgm:cxn modelId="{2C0FE425-204E-4B2A-B6CB-1CD00E3CEB11}" type="presParOf" srcId="{F1F3461A-D7F6-4F0E-BEF1-02984AEB9FBD}" destId="{0D160785-A265-4782-8C0F-E46CA94938B7}" srcOrd="0" destOrd="0" presId="urn:microsoft.com/office/officeart/2005/8/layout/process2"/>
    <dgm:cxn modelId="{34D295EC-12A8-4DF8-AD92-F6FA53129AE8}" type="presParOf" srcId="{D61207B7-C186-4553-BDC9-AA1D4214FA24}" destId="{04F2F612-31B7-493E-B01E-DE2D5777E780}" srcOrd="4" destOrd="0" presId="urn:microsoft.com/office/officeart/2005/8/layout/process2"/>
    <dgm:cxn modelId="{00B891DC-B644-4F58-BF37-8FD450D0DCAC}" type="presParOf" srcId="{D61207B7-C186-4553-BDC9-AA1D4214FA24}" destId="{B85B7B50-8E1E-410B-B273-BF1E38E49485}" srcOrd="5" destOrd="0" presId="urn:microsoft.com/office/officeart/2005/8/layout/process2"/>
    <dgm:cxn modelId="{E155F1E3-BE9C-42FC-B064-9678CE3559FF}" type="presParOf" srcId="{B85B7B50-8E1E-410B-B273-BF1E38E49485}" destId="{BC4FAF79-6C79-4532-8FE8-67221D52A764}" srcOrd="0" destOrd="0" presId="urn:microsoft.com/office/officeart/2005/8/layout/process2"/>
    <dgm:cxn modelId="{55CA7EE3-48BC-402A-964C-DD4E0149BB5C}" type="presParOf" srcId="{D61207B7-C186-4553-BDC9-AA1D4214FA24}" destId="{A92F2EB4-F1C9-431B-B3C8-C0DFFCB07E88}" srcOrd="6" destOrd="0" presId="urn:microsoft.com/office/officeart/2005/8/layout/process2"/>
    <dgm:cxn modelId="{7F3E8D49-74F7-4023-8F77-4C5277DC27DB}" type="presParOf" srcId="{D61207B7-C186-4553-BDC9-AA1D4214FA24}" destId="{F5C26ED3-20C1-4014-8C8C-BACF5B05D926}" srcOrd="7" destOrd="0" presId="urn:microsoft.com/office/officeart/2005/8/layout/process2"/>
    <dgm:cxn modelId="{CA474E98-5D30-46EC-98C4-BAFCA6F1BFB1}" type="presParOf" srcId="{F5C26ED3-20C1-4014-8C8C-BACF5B05D926}" destId="{3FCB0B1E-2690-4A43-B3EB-758275DFFF7D}" srcOrd="0" destOrd="0" presId="urn:microsoft.com/office/officeart/2005/8/layout/process2"/>
    <dgm:cxn modelId="{B36527C4-DD1D-4788-BB50-4008A4E51944}" type="presParOf" srcId="{D61207B7-C186-4553-BDC9-AA1D4214FA24}" destId="{3CAF4473-5D41-4D9E-BE38-D29E2E78AE9E}" srcOrd="8"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F53E09-4062-45C6-B26C-D61A02D1F993}" type="doc">
      <dgm:prSet loTypeId="urn:microsoft.com/office/officeart/2005/8/layout/process2" loCatId="process" qsTypeId="urn:microsoft.com/office/officeart/2005/8/quickstyle/simple1" qsCatId="simple" csTypeId="urn:microsoft.com/office/officeart/2005/8/colors/colorful4" csCatId="colorful"/>
      <dgm:spPr/>
      <dgm:t>
        <a:bodyPr/>
        <a:lstStyle/>
        <a:p>
          <a:endParaRPr lang="en-IN"/>
        </a:p>
      </dgm:t>
    </dgm:pt>
    <dgm:pt modelId="{C0FE541B-D5F2-4F94-9C44-2E71A4A0D504}">
      <dgm:prSet/>
      <dgm:spPr/>
      <dgm:t>
        <a:bodyPr/>
        <a:lstStyle/>
        <a:p>
          <a:r>
            <a:rPr lang="en-IN"/>
            <a:t>1. Try-on request creates RenderJob (status=queued)</a:t>
          </a:r>
          <a:br>
            <a:rPr lang="en-IN"/>
          </a:br>
          <a:endParaRPr lang="en-IN"/>
        </a:p>
      </dgm:t>
    </dgm:pt>
    <dgm:pt modelId="{83EC3185-C7DE-49B6-968C-5037B98EE2B7}" type="parTrans" cxnId="{70742744-64CF-4753-B73C-A656183DC36F}">
      <dgm:prSet/>
      <dgm:spPr/>
      <dgm:t>
        <a:bodyPr/>
        <a:lstStyle/>
        <a:p>
          <a:endParaRPr lang="en-IN"/>
        </a:p>
      </dgm:t>
    </dgm:pt>
    <dgm:pt modelId="{177F8CD0-E287-42EA-8AB2-A08A8A5BD622}" type="sibTrans" cxnId="{70742744-64CF-4753-B73C-A656183DC36F}">
      <dgm:prSet/>
      <dgm:spPr/>
      <dgm:t>
        <a:bodyPr/>
        <a:lstStyle/>
        <a:p>
          <a:endParaRPr lang="en-IN"/>
        </a:p>
      </dgm:t>
    </dgm:pt>
    <dgm:pt modelId="{DE963185-2534-4961-A484-F7BD966F0AC9}">
      <dgm:prSet/>
      <dgm:spPr/>
      <dgm:t>
        <a:bodyPr/>
        <a:lstStyle/>
        <a:p>
          <a:r>
            <a:rPr lang="en-IN"/>
            <a:t>2. FK link to users.id (CASCADE) &amp; outfits.id (SET NULL)</a:t>
          </a:r>
          <a:br>
            <a:rPr lang="en-IN"/>
          </a:br>
          <a:endParaRPr lang="en-IN"/>
        </a:p>
      </dgm:t>
    </dgm:pt>
    <dgm:pt modelId="{772E9358-817A-4C0F-80F3-FC19C095AB14}" type="parTrans" cxnId="{24FD27A6-2639-4285-B3CB-D7A242C05909}">
      <dgm:prSet/>
      <dgm:spPr/>
      <dgm:t>
        <a:bodyPr/>
        <a:lstStyle/>
        <a:p>
          <a:endParaRPr lang="en-IN"/>
        </a:p>
      </dgm:t>
    </dgm:pt>
    <dgm:pt modelId="{B8CD7641-5EA3-467E-BCA8-3AE5C79103DA}" type="sibTrans" cxnId="{24FD27A6-2639-4285-B3CB-D7A242C05909}">
      <dgm:prSet/>
      <dgm:spPr/>
      <dgm:t>
        <a:bodyPr/>
        <a:lstStyle/>
        <a:p>
          <a:endParaRPr lang="en-IN"/>
        </a:p>
      </dgm:t>
    </dgm:pt>
    <dgm:pt modelId="{2E8E402C-28BA-432C-BC04-0425C9DA35E2}">
      <dgm:prSet/>
      <dgm:spPr/>
      <dgm:t>
        <a:bodyPr/>
        <a:lstStyle/>
        <a:p>
          <a:r>
            <a:rPr lang="en-IN"/>
            <a:t>3. Background worker updates status to 'processing'</a:t>
          </a:r>
          <a:br>
            <a:rPr lang="en-IN"/>
          </a:br>
          <a:endParaRPr lang="en-IN"/>
        </a:p>
      </dgm:t>
    </dgm:pt>
    <dgm:pt modelId="{87E41EC2-A44A-4D7F-8A92-103597DE3240}" type="parTrans" cxnId="{DA256047-EFCC-45F7-B47B-A166B6611993}">
      <dgm:prSet/>
      <dgm:spPr/>
      <dgm:t>
        <a:bodyPr/>
        <a:lstStyle/>
        <a:p>
          <a:endParaRPr lang="en-IN"/>
        </a:p>
      </dgm:t>
    </dgm:pt>
    <dgm:pt modelId="{2B063CA8-B9D8-4423-B5E7-33480B2660B1}" type="sibTrans" cxnId="{DA256047-EFCC-45F7-B47B-A166B6611993}">
      <dgm:prSet/>
      <dgm:spPr/>
      <dgm:t>
        <a:bodyPr/>
        <a:lstStyle/>
        <a:p>
          <a:endParaRPr lang="en-IN"/>
        </a:p>
      </dgm:t>
    </dgm:pt>
    <dgm:pt modelId="{000B3783-9A81-437B-BC0C-EDE4B2C888F4}">
      <dgm:prSet/>
      <dgm:spPr/>
      <dgm:t>
        <a:bodyPr/>
        <a:lstStyle/>
        <a:p>
          <a:r>
            <a:rPr lang="en-IN"/>
            <a:t>4. Output image URL stored; status updated to 'done'</a:t>
          </a:r>
          <a:br>
            <a:rPr lang="en-IN"/>
          </a:br>
          <a:endParaRPr lang="en-IN"/>
        </a:p>
      </dgm:t>
    </dgm:pt>
    <dgm:pt modelId="{0FA5B1C6-2707-4DE4-9EDA-11A4A7256D9C}" type="parTrans" cxnId="{B1F69062-E7D3-49B8-910A-822F5BFEA5AC}">
      <dgm:prSet/>
      <dgm:spPr/>
      <dgm:t>
        <a:bodyPr/>
        <a:lstStyle/>
        <a:p>
          <a:endParaRPr lang="en-IN"/>
        </a:p>
      </dgm:t>
    </dgm:pt>
    <dgm:pt modelId="{14026E94-7A1B-4230-9941-8C78FDC0D968}" type="sibTrans" cxnId="{B1F69062-E7D3-49B8-910A-822F5BFEA5AC}">
      <dgm:prSet/>
      <dgm:spPr/>
      <dgm:t>
        <a:bodyPr/>
        <a:lstStyle/>
        <a:p>
          <a:endParaRPr lang="en-IN"/>
        </a:p>
      </dgm:t>
    </dgm:pt>
    <dgm:pt modelId="{3A7028E2-B823-457F-B037-0A2D888E77A6}">
      <dgm:prSet/>
      <dgm:spPr/>
      <dgm:t>
        <a:bodyPr/>
        <a:lstStyle/>
        <a:p>
          <a:r>
            <a:rPr lang="en-IN"/>
            <a:t>5. Client polls job status via indexed query</a:t>
          </a:r>
          <a:br>
            <a:rPr lang="en-IN"/>
          </a:br>
          <a:endParaRPr lang="en-IN"/>
        </a:p>
      </dgm:t>
    </dgm:pt>
    <dgm:pt modelId="{2447154E-F7EC-403B-910E-B17403EAD404}" type="parTrans" cxnId="{9F0AC206-4EE5-4F0E-A251-E7C77BFEAF99}">
      <dgm:prSet/>
      <dgm:spPr/>
      <dgm:t>
        <a:bodyPr/>
        <a:lstStyle/>
        <a:p>
          <a:endParaRPr lang="en-IN"/>
        </a:p>
      </dgm:t>
    </dgm:pt>
    <dgm:pt modelId="{09E9269F-EFF8-458B-81DE-B578CB637E47}" type="sibTrans" cxnId="{9F0AC206-4EE5-4F0E-A251-E7C77BFEAF99}">
      <dgm:prSet/>
      <dgm:spPr/>
      <dgm:t>
        <a:bodyPr/>
        <a:lstStyle/>
        <a:p>
          <a:endParaRPr lang="en-IN"/>
        </a:p>
      </dgm:t>
    </dgm:pt>
    <dgm:pt modelId="{EC753CC1-98E1-4DC4-957D-CC8AF0499AF2}" type="pres">
      <dgm:prSet presAssocID="{F2F53E09-4062-45C6-B26C-D61A02D1F993}" presName="linearFlow" presStyleCnt="0">
        <dgm:presLayoutVars>
          <dgm:resizeHandles val="exact"/>
        </dgm:presLayoutVars>
      </dgm:prSet>
      <dgm:spPr/>
    </dgm:pt>
    <dgm:pt modelId="{E5B91E88-A366-41D4-A7BE-7EF926D269C4}" type="pres">
      <dgm:prSet presAssocID="{C0FE541B-D5F2-4F94-9C44-2E71A4A0D504}" presName="node" presStyleLbl="node1" presStyleIdx="0" presStyleCnt="5">
        <dgm:presLayoutVars>
          <dgm:bulletEnabled val="1"/>
        </dgm:presLayoutVars>
      </dgm:prSet>
      <dgm:spPr/>
    </dgm:pt>
    <dgm:pt modelId="{BE75415D-E4EF-4DC5-B44D-56929CD4F716}" type="pres">
      <dgm:prSet presAssocID="{177F8CD0-E287-42EA-8AB2-A08A8A5BD622}" presName="sibTrans" presStyleLbl="sibTrans2D1" presStyleIdx="0" presStyleCnt="4"/>
      <dgm:spPr/>
    </dgm:pt>
    <dgm:pt modelId="{43A49A7E-AC3C-48A4-8A83-4137B558D790}" type="pres">
      <dgm:prSet presAssocID="{177F8CD0-E287-42EA-8AB2-A08A8A5BD622}" presName="connectorText" presStyleLbl="sibTrans2D1" presStyleIdx="0" presStyleCnt="4"/>
      <dgm:spPr/>
    </dgm:pt>
    <dgm:pt modelId="{A5AC30A8-0C79-456F-8539-A98B9FA2057D}" type="pres">
      <dgm:prSet presAssocID="{DE963185-2534-4961-A484-F7BD966F0AC9}" presName="node" presStyleLbl="node1" presStyleIdx="1" presStyleCnt="5">
        <dgm:presLayoutVars>
          <dgm:bulletEnabled val="1"/>
        </dgm:presLayoutVars>
      </dgm:prSet>
      <dgm:spPr/>
    </dgm:pt>
    <dgm:pt modelId="{A3B3EECC-83E7-4321-9CD0-36E136FE5079}" type="pres">
      <dgm:prSet presAssocID="{B8CD7641-5EA3-467E-BCA8-3AE5C79103DA}" presName="sibTrans" presStyleLbl="sibTrans2D1" presStyleIdx="1" presStyleCnt="4"/>
      <dgm:spPr/>
    </dgm:pt>
    <dgm:pt modelId="{1A6A2F5A-6D12-452F-92EC-D40956D6D556}" type="pres">
      <dgm:prSet presAssocID="{B8CD7641-5EA3-467E-BCA8-3AE5C79103DA}" presName="connectorText" presStyleLbl="sibTrans2D1" presStyleIdx="1" presStyleCnt="4"/>
      <dgm:spPr/>
    </dgm:pt>
    <dgm:pt modelId="{F7458F61-06C4-4EB5-AE40-054F7952C71F}" type="pres">
      <dgm:prSet presAssocID="{2E8E402C-28BA-432C-BC04-0425C9DA35E2}" presName="node" presStyleLbl="node1" presStyleIdx="2" presStyleCnt="5">
        <dgm:presLayoutVars>
          <dgm:bulletEnabled val="1"/>
        </dgm:presLayoutVars>
      </dgm:prSet>
      <dgm:spPr/>
    </dgm:pt>
    <dgm:pt modelId="{DF8E895C-03DD-41ED-A74A-806C2C3F66E5}" type="pres">
      <dgm:prSet presAssocID="{2B063CA8-B9D8-4423-B5E7-33480B2660B1}" presName="sibTrans" presStyleLbl="sibTrans2D1" presStyleIdx="2" presStyleCnt="4"/>
      <dgm:spPr/>
    </dgm:pt>
    <dgm:pt modelId="{CEAEC2A0-ECD9-4C58-930E-446FAA016927}" type="pres">
      <dgm:prSet presAssocID="{2B063CA8-B9D8-4423-B5E7-33480B2660B1}" presName="connectorText" presStyleLbl="sibTrans2D1" presStyleIdx="2" presStyleCnt="4"/>
      <dgm:spPr/>
    </dgm:pt>
    <dgm:pt modelId="{89EE4B28-1A2E-45ED-90A1-D99F71CC331D}" type="pres">
      <dgm:prSet presAssocID="{000B3783-9A81-437B-BC0C-EDE4B2C888F4}" presName="node" presStyleLbl="node1" presStyleIdx="3" presStyleCnt="5">
        <dgm:presLayoutVars>
          <dgm:bulletEnabled val="1"/>
        </dgm:presLayoutVars>
      </dgm:prSet>
      <dgm:spPr/>
    </dgm:pt>
    <dgm:pt modelId="{704AF1FB-6102-47A1-A96B-EBB0D2F52F88}" type="pres">
      <dgm:prSet presAssocID="{14026E94-7A1B-4230-9941-8C78FDC0D968}" presName="sibTrans" presStyleLbl="sibTrans2D1" presStyleIdx="3" presStyleCnt="4"/>
      <dgm:spPr/>
    </dgm:pt>
    <dgm:pt modelId="{8BB010E5-79E6-44AF-96D2-51972084FF99}" type="pres">
      <dgm:prSet presAssocID="{14026E94-7A1B-4230-9941-8C78FDC0D968}" presName="connectorText" presStyleLbl="sibTrans2D1" presStyleIdx="3" presStyleCnt="4"/>
      <dgm:spPr/>
    </dgm:pt>
    <dgm:pt modelId="{E6898288-4A4D-4812-9AB4-17ED2ECE0BF2}" type="pres">
      <dgm:prSet presAssocID="{3A7028E2-B823-457F-B037-0A2D888E77A6}" presName="node" presStyleLbl="node1" presStyleIdx="4" presStyleCnt="5">
        <dgm:presLayoutVars>
          <dgm:bulletEnabled val="1"/>
        </dgm:presLayoutVars>
      </dgm:prSet>
      <dgm:spPr/>
    </dgm:pt>
  </dgm:ptLst>
  <dgm:cxnLst>
    <dgm:cxn modelId="{9F0AC206-4EE5-4F0E-A251-E7C77BFEAF99}" srcId="{F2F53E09-4062-45C6-B26C-D61A02D1F993}" destId="{3A7028E2-B823-457F-B037-0A2D888E77A6}" srcOrd="4" destOrd="0" parTransId="{2447154E-F7EC-403B-910E-B17403EAD404}" sibTransId="{09E9269F-EFF8-458B-81DE-B578CB637E47}"/>
    <dgm:cxn modelId="{E31C8B0A-778F-469E-81B8-8B3417C34665}" type="presOf" srcId="{2B063CA8-B9D8-4423-B5E7-33480B2660B1}" destId="{CEAEC2A0-ECD9-4C58-930E-446FAA016927}" srcOrd="1" destOrd="0" presId="urn:microsoft.com/office/officeart/2005/8/layout/process2"/>
    <dgm:cxn modelId="{976BAA14-CE48-40BD-B3D2-2971E7C9FFA3}" type="presOf" srcId="{B8CD7641-5EA3-467E-BCA8-3AE5C79103DA}" destId="{1A6A2F5A-6D12-452F-92EC-D40956D6D556}" srcOrd="1" destOrd="0" presId="urn:microsoft.com/office/officeart/2005/8/layout/process2"/>
    <dgm:cxn modelId="{08941015-BF76-455C-A4BE-C59443EFD377}" type="presOf" srcId="{C0FE541B-D5F2-4F94-9C44-2E71A4A0D504}" destId="{E5B91E88-A366-41D4-A7BE-7EF926D269C4}" srcOrd="0" destOrd="0" presId="urn:microsoft.com/office/officeart/2005/8/layout/process2"/>
    <dgm:cxn modelId="{43574C34-6535-472C-B465-27E8DB05FACD}" type="presOf" srcId="{177F8CD0-E287-42EA-8AB2-A08A8A5BD622}" destId="{BE75415D-E4EF-4DC5-B44D-56929CD4F716}" srcOrd="0" destOrd="0" presId="urn:microsoft.com/office/officeart/2005/8/layout/process2"/>
    <dgm:cxn modelId="{50212C3E-8E2A-4649-AFBD-A2B240AD7A38}" type="presOf" srcId="{3A7028E2-B823-457F-B037-0A2D888E77A6}" destId="{E6898288-4A4D-4812-9AB4-17ED2ECE0BF2}" srcOrd="0" destOrd="0" presId="urn:microsoft.com/office/officeart/2005/8/layout/process2"/>
    <dgm:cxn modelId="{F0D5B15B-9624-4141-8D8A-79F9903755DF}" type="presOf" srcId="{F2F53E09-4062-45C6-B26C-D61A02D1F993}" destId="{EC753CC1-98E1-4DC4-957D-CC8AF0499AF2}" srcOrd="0" destOrd="0" presId="urn:microsoft.com/office/officeart/2005/8/layout/process2"/>
    <dgm:cxn modelId="{57C4C660-3156-4985-89F6-B7F76EDC8C17}" type="presOf" srcId="{14026E94-7A1B-4230-9941-8C78FDC0D968}" destId="{8BB010E5-79E6-44AF-96D2-51972084FF99}" srcOrd="1" destOrd="0" presId="urn:microsoft.com/office/officeart/2005/8/layout/process2"/>
    <dgm:cxn modelId="{B1F69062-E7D3-49B8-910A-822F5BFEA5AC}" srcId="{F2F53E09-4062-45C6-B26C-D61A02D1F993}" destId="{000B3783-9A81-437B-BC0C-EDE4B2C888F4}" srcOrd="3" destOrd="0" parTransId="{0FA5B1C6-2707-4DE4-9EDA-11A4A7256D9C}" sibTransId="{14026E94-7A1B-4230-9941-8C78FDC0D968}"/>
    <dgm:cxn modelId="{73C2BD63-74E7-4E51-8FDF-F36D9C27244E}" type="presOf" srcId="{2E8E402C-28BA-432C-BC04-0425C9DA35E2}" destId="{F7458F61-06C4-4EB5-AE40-054F7952C71F}" srcOrd="0" destOrd="0" presId="urn:microsoft.com/office/officeart/2005/8/layout/process2"/>
    <dgm:cxn modelId="{70742744-64CF-4753-B73C-A656183DC36F}" srcId="{F2F53E09-4062-45C6-B26C-D61A02D1F993}" destId="{C0FE541B-D5F2-4F94-9C44-2E71A4A0D504}" srcOrd="0" destOrd="0" parTransId="{83EC3185-C7DE-49B6-968C-5037B98EE2B7}" sibTransId="{177F8CD0-E287-42EA-8AB2-A08A8A5BD622}"/>
    <dgm:cxn modelId="{64CE1567-18E8-4338-8A12-6F2890543526}" type="presOf" srcId="{14026E94-7A1B-4230-9941-8C78FDC0D968}" destId="{704AF1FB-6102-47A1-A96B-EBB0D2F52F88}" srcOrd="0" destOrd="0" presId="urn:microsoft.com/office/officeart/2005/8/layout/process2"/>
    <dgm:cxn modelId="{DA256047-EFCC-45F7-B47B-A166B6611993}" srcId="{F2F53E09-4062-45C6-B26C-D61A02D1F993}" destId="{2E8E402C-28BA-432C-BC04-0425C9DA35E2}" srcOrd="2" destOrd="0" parTransId="{87E41EC2-A44A-4D7F-8A92-103597DE3240}" sibTransId="{2B063CA8-B9D8-4423-B5E7-33480B2660B1}"/>
    <dgm:cxn modelId="{D3EE8E4B-951D-431A-A4E1-ED79F15368C1}" type="presOf" srcId="{B8CD7641-5EA3-467E-BCA8-3AE5C79103DA}" destId="{A3B3EECC-83E7-4321-9CD0-36E136FE5079}" srcOrd="0" destOrd="0" presId="urn:microsoft.com/office/officeart/2005/8/layout/process2"/>
    <dgm:cxn modelId="{830C9054-82D4-4658-85D0-803D6738A1EB}" type="presOf" srcId="{DE963185-2534-4961-A484-F7BD966F0AC9}" destId="{A5AC30A8-0C79-456F-8539-A98B9FA2057D}" srcOrd="0" destOrd="0" presId="urn:microsoft.com/office/officeart/2005/8/layout/process2"/>
    <dgm:cxn modelId="{C963F180-9DB6-49F9-93C8-C9625CA70B4E}" type="presOf" srcId="{000B3783-9A81-437B-BC0C-EDE4B2C888F4}" destId="{89EE4B28-1A2E-45ED-90A1-D99F71CC331D}" srcOrd="0" destOrd="0" presId="urn:microsoft.com/office/officeart/2005/8/layout/process2"/>
    <dgm:cxn modelId="{24FD27A6-2639-4285-B3CB-D7A242C05909}" srcId="{F2F53E09-4062-45C6-B26C-D61A02D1F993}" destId="{DE963185-2534-4961-A484-F7BD966F0AC9}" srcOrd="1" destOrd="0" parTransId="{772E9358-817A-4C0F-80F3-FC19C095AB14}" sibTransId="{B8CD7641-5EA3-467E-BCA8-3AE5C79103DA}"/>
    <dgm:cxn modelId="{5F320CCB-B420-4150-AB34-A1A94AA70AC0}" type="presOf" srcId="{2B063CA8-B9D8-4423-B5E7-33480B2660B1}" destId="{DF8E895C-03DD-41ED-A74A-806C2C3F66E5}" srcOrd="0" destOrd="0" presId="urn:microsoft.com/office/officeart/2005/8/layout/process2"/>
    <dgm:cxn modelId="{BE8233EE-9078-4F5E-A561-4B9BD1FB7633}" type="presOf" srcId="{177F8CD0-E287-42EA-8AB2-A08A8A5BD622}" destId="{43A49A7E-AC3C-48A4-8A83-4137B558D790}" srcOrd="1" destOrd="0" presId="urn:microsoft.com/office/officeart/2005/8/layout/process2"/>
    <dgm:cxn modelId="{6D60B06B-2F70-43B5-AC6D-76C5E345D3F3}" type="presParOf" srcId="{EC753CC1-98E1-4DC4-957D-CC8AF0499AF2}" destId="{E5B91E88-A366-41D4-A7BE-7EF926D269C4}" srcOrd="0" destOrd="0" presId="urn:microsoft.com/office/officeart/2005/8/layout/process2"/>
    <dgm:cxn modelId="{08C9C178-B044-4D1E-B4CC-4F0B5AC05EA9}" type="presParOf" srcId="{EC753CC1-98E1-4DC4-957D-CC8AF0499AF2}" destId="{BE75415D-E4EF-4DC5-B44D-56929CD4F716}" srcOrd="1" destOrd="0" presId="urn:microsoft.com/office/officeart/2005/8/layout/process2"/>
    <dgm:cxn modelId="{EA934F35-93A8-4170-B7D7-02B28490571F}" type="presParOf" srcId="{BE75415D-E4EF-4DC5-B44D-56929CD4F716}" destId="{43A49A7E-AC3C-48A4-8A83-4137B558D790}" srcOrd="0" destOrd="0" presId="urn:microsoft.com/office/officeart/2005/8/layout/process2"/>
    <dgm:cxn modelId="{3B0B4BBD-7177-45B4-B10E-1192AB34F35B}" type="presParOf" srcId="{EC753CC1-98E1-4DC4-957D-CC8AF0499AF2}" destId="{A5AC30A8-0C79-456F-8539-A98B9FA2057D}" srcOrd="2" destOrd="0" presId="urn:microsoft.com/office/officeart/2005/8/layout/process2"/>
    <dgm:cxn modelId="{34083959-B9B2-4A68-ADC5-76255BD6D469}" type="presParOf" srcId="{EC753CC1-98E1-4DC4-957D-CC8AF0499AF2}" destId="{A3B3EECC-83E7-4321-9CD0-36E136FE5079}" srcOrd="3" destOrd="0" presId="urn:microsoft.com/office/officeart/2005/8/layout/process2"/>
    <dgm:cxn modelId="{B42E585D-53F0-4F41-8046-EB5AA385B975}" type="presParOf" srcId="{A3B3EECC-83E7-4321-9CD0-36E136FE5079}" destId="{1A6A2F5A-6D12-452F-92EC-D40956D6D556}" srcOrd="0" destOrd="0" presId="urn:microsoft.com/office/officeart/2005/8/layout/process2"/>
    <dgm:cxn modelId="{12C71B36-CF96-42C9-8924-B48D47386EC2}" type="presParOf" srcId="{EC753CC1-98E1-4DC4-957D-CC8AF0499AF2}" destId="{F7458F61-06C4-4EB5-AE40-054F7952C71F}" srcOrd="4" destOrd="0" presId="urn:microsoft.com/office/officeart/2005/8/layout/process2"/>
    <dgm:cxn modelId="{459103D5-0662-447B-955F-6150D9BE2849}" type="presParOf" srcId="{EC753CC1-98E1-4DC4-957D-CC8AF0499AF2}" destId="{DF8E895C-03DD-41ED-A74A-806C2C3F66E5}" srcOrd="5" destOrd="0" presId="urn:microsoft.com/office/officeart/2005/8/layout/process2"/>
    <dgm:cxn modelId="{43D6B5D0-CB60-47B8-9A1F-05CA940074DD}" type="presParOf" srcId="{DF8E895C-03DD-41ED-A74A-806C2C3F66E5}" destId="{CEAEC2A0-ECD9-4C58-930E-446FAA016927}" srcOrd="0" destOrd="0" presId="urn:microsoft.com/office/officeart/2005/8/layout/process2"/>
    <dgm:cxn modelId="{ACDD2D3A-B7BB-4FD1-BD34-38AC34BDD4C9}" type="presParOf" srcId="{EC753CC1-98E1-4DC4-957D-CC8AF0499AF2}" destId="{89EE4B28-1A2E-45ED-90A1-D99F71CC331D}" srcOrd="6" destOrd="0" presId="urn:microsoft.com/office/officeart/2005/8/layout/process2"/>
    <dgm:cxn modelId="{B8C64284-E7DB-4347-B3F0-205901BA9C6A}" type="presParOf" srcId="{EC753CC1-98E1-4DC4-957D-CC8AF0499AF2}" destId="{704AF1FB-6102-47A1-A96B-EBB0D2F52F88}" srcOrd="7" destOrd="0" presId="urn:microsoft.com/office/officeart/2005/8/layout/process2"/>
    <dgm:cxn modelId="{022F675E-C112-4FA5-8C1E-AB2065DFAA9D}" type="presParOf" srcId="{704AF1FB-6102-47A1-A96B-EBB0D2F52F88}" destId="{8BB010E5-79E6-44AF-96D2-51972084FF99}" srcOrd="0" destOrd="0" presId="urn:microsoft.com/office/officeart/2005/8/layout/process2"/>
    <dgm:cxn modelId="{4B746122-EA80-473A-8A70-F654D39836D4}" type="presParOf" srcId="{EC753CC1-98E1-4DC4-957D-CC8AF0499AF2}" destId="{E6898288-4A4D-4812-9AB4-17ED2ECE0BF2}" srcOrd="8" destOrd="0" presId="urn:microsoft.com/office/officeart/2005/8/layout/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BB75F-B4DF-4A53-B18A-40B572502AB2}">
      <dsp:nvSpPr>
        <dsp:cNvPr id="0" name=""/>
        <dsp:cNvSpPr/>
      </dsp:nvSpPr>
      <dsp:spPr>
        <a:xfrm>
          <a:off x="907395" y="435"/>
          <a:ext cx="1477048" cy="50932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1. Client sends authenticated garment upload</a:t>
          </a:r>
          <a:br>
            <a:rPr lang="en-IN" sz="900" kern="1200"/>
          </a:br>
          <a:endParaRPr lang="en-IN" sz="900" kern="1200"/>
        </a:p>
      </dsp:txBody>
      <dsp:txXfrm>
        <a:off x="922313" y="15353"/>
        <a:ext cx="1447212" cy="479491"/>
      </dsp:txXfrm>
    </dsp:sp>
    <dsp:sp modelId="{3590487E-9985-437F-BE1D-AB3E9EE9F920}">
      <dsp:nvSpPr>
        <dsp:cNvPr id="0" name=""/>
        <dsp:cNvSpPr/>
      </dsp:nvSpPr>
      <dsp:spPr>
        <a:xfrm rot="5400000">
          <a:off x="1550421" y="522495"/>
          <a:ext cx="190997" cy="22919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541595"/>
        <a:ext cx="137519" cy="133698"/>
      </dsp:txXfrm>
    </dsp:sp>
    <dsp:sp modelId="{4E0D32BA-C67B-4460-89FA-D3474C5B9BD1}">
      <dsp:nvSpPr>
        <dsp:cNvPr id="0" name=""/>
        <dsp:cNvSpPr/>
      </dsp:nvSpPr>
      <dsp:spPr>
        <a:xfrm>
          <a:off x="907395" y="764425"/>
          <a:ext cx="1477048" cy="509327"/>
        </a:xfrm>
        <a:prstGeom prst="roundRect">
          <a:avLst>
            <a:gd name="adj" fmla="val 10000"/>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2. JWT verified; user_id validated against users table</a:t>
          </a:r>
          <a:br>
            <a:rPr lang="en-IN" sz="900" kern="1200"/>
          </a:br>
          <a:endParaRPr lang="en-IN" sz="900" kern="1200"/>
        </a:p>
      </dsp:txBody>
      <dsp:txXfrm>
        <a:off x="922313" y="779343"/>
        <a:ext cx="1447212" cy="479491"/>
      </dsp:txXfrm>
    </dsp:sp>
    <dsp:sp modelId="{30E76580-B6D7-4527-AC71-81778B59FC83}">
      <dsp:nvSpPr>
        <dsp:cNvPr id="0" name=""/>
        <dsp:cNvSpPr/>
      </dsp:nvSpPr>
      <dsp:spPr>
        <a:xfrm rot="5400000">
          <a:off x="1550421" y="1286486"/>
          <a:ext cx="190997" cy="229197"/>
        </a:xfrm>
        <a:prstGeom prst="rightArrow">
          <a:avLst>
            <a:gd name="adj1" fmla="val 60000"/>
            <a:gd name="adj2" fmla="val 50000"/>
          </a:avLst>
        </a:prstGeom>
        <a:solidFill>
          <a:schemeClr val="accent4">
            <a:hueOff val="-1488257"/>
            <a:satOff val="8966"/>
            <a:lumOff val="7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1305586"/>
        <a:ext cx="137519" cy="133698"/>
      </dsp:txXfrm>
    </dsp:sp>
    <dsp:sp modelId="{48EF01F5-1D0D-4261-AA68-E19794F03249}">
      <dsp:nvSpPr>
        <dsp:cNvPr id="0" name=""/>
        <dsp:cNvSpPr/>
      </dsp:nvSpPr>
      <dsp:spPr>
        <a:xfrm>
          <a:off x="907395" y="1528416"/>
          <a:ext cx="1477048" cy="509327"/>
        </a:xfrm>
        <a:prstGeom prst="roundRect">
          <a:avLst>
            <a:gd name="adj" fmla="val 1000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3. Classification pipeline extracts category &amp; colors</a:t>
          </a:r>
          <a:br>
            <a:rPr lang="en-IN" sz="900" kern="1200"/>
          </a:br>
          <a:endParaRPr lang="en-IN" sz="900" kern="1200"/>
        </a:p>
      </dsp:txBody>
      <dsp:txXfrm>
        <a:off x="922313" y="1543334"/>
        <a:ext cx="1447212" cy="479491"/>
      </dsp:txXfrm>
    </dsp:sp>
    <dsp:sp modelId="{884FBE69-0EDE-4EEF-9979-A318301E6DBA}">
      <dsp:nvSpPr>
        <dsp:cNvPr id="0" name=""/>
        <dsp:cNvSpPr/>
      </dsp:nvSpPr>
      <dsp:spPr>
        <a:xfrm rot="5400000">
          <a:off x="1550421" y="2050476"/>
          <a:ext cx="190997" cy="229197"/>
        </a:xfrm>
        <a:prstGeom prst="rightArrow">
          <a:avLst>
            <a:gd name="adj1" fmla="val 60000"/>
            <a:gd name="adj2" fmla="val 50000"/>
          </a:avLst>
        </a:prstGeom>
        <a:solidFill>
          <a:schemeClr val="accent4">
            <a:hueOff val="-2976513"/>
            <a:satOff val="17933"/>
            <a:lumOff val="143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2069576"/>
        <a:ext cx="137519" cy="133698"/>
      </dsp:txXfrm>
    </dsp:sp>
    <dsp:sp modelId="{475A9193-8CE8-44B5-BF8B-64E6F37809B7}">
      <dsp:nvSpPr>
        <dsp:cNvPr id="0" name=""/>
        <dsp:cNvSpPr/>
      </dsp:nvSpPr>
      <dsp:spPr>
        <a:xfrm>
          <a:off x="907395" y="2292407"/>
          <a:ext cx="1477048" cy="509327"/>
        </a:xfrm>
        <a:prstGeom prst="roundRect">
          <a:avLst>
            <a:gd name="adj" fmla="val 10000"/>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4. db.begin(): INSERT INTO garments with GUID PK</a:t>
          </a:r>
          <a:br>
            <a:rPr lang="en-IN" sz="900" kern="1200"/>
          </a:br>
          <a:endParaRPr lang="en-IN" sz="900" kern="1200"/>
        </a:p>
      </dsp:txBody>
      <dsp:txXfrm>
        <a:off x="922313" y="2307325"/>
        <a:ext cx="1447212" cy="479491"/>
      </dsp:txXfrm>
    </dsp:sp>
    <dsp:sp modelId="{609906AC-4C06-4464-9091-DDD0073D5C83}">
      <dsp:nvSpPr>
        <dsp:cNvPr id="0" name=""/>
        <dsp:cNvSpPr/>
      </dsp:nvSpPr>
      <dsp:spPr>
        <a:xfrm rot="5400000">
          <a:off x="1550421" y="2814467"/>
          <a:ext cx="190997" cy="229197"/>
        </a:xfrm>
        <a:prstGeom prst="rightArrow">
          <a:avLst>
            <a:gd name="adj1" fmla="val 60000"/>
            <a:gd name="adj2" fmla="val 50000"/>
          </a:avLst>
        </a:prstGeom>
        <a:solidFill>
          <a:schemeClr val="accent4">
            <a:hueOff val="-4464770"/>
            <a:satOff val="26899"/>
            <a:lumOff val="215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2833567"/>
        <a:ext cx="137519" cy="133698"/>
      </dsp:txXfrm>
    </dsp:sp>
    <dsp:sp modelId="{9DB84BC1-8B71-4ED9-A445-F0E5361DCE94}">
      <dsp:nvSpPr>
        <dsp:cNvPr id="0" name=""/>
        <dsp:cNvSpPr/>
      </dsp:nvSpPr>
      <dsp:spPr>
        <a:xfrm>
          <a:off x="907395" y="3056397"/>
          <a:ext cx="1477048" cy="509327"/>
        </a:xfrm>
        <a:prstGeom prst="roundRect">
          <a:avLst>
            <a:gd name="adj" fmla="val 1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5. db.commit() persists row; db.rollback() on exception</a:t>
          </a:r>
          <a:br>
            <a:rPr lang="en-IN" sz="900" kern="1200"/>
          </a:br>
          <a:endParaRPr lang="en-IN" sz="900" kern="1200"/>
        </a:p>
      </dsp:txBody>
      <dsp:txXfrm>
        <a:off x="922313" y="3071315"/>
        <a:ext cx="1447212" cy="4794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661C65-2820-45D9-B18A-247138C6E88D}">
      <dsp:nvSpPr>
        <dsp:cNvPr id="0" name=""/>
        <dsp:cNvSpPr/>
      </dsp:nvSpPr>
      <dsp:spPr>
        <a:xfrm>
          <a:off x="903018" y="435"/>
          <a:ext cx="1485802" cy="50932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1. Client requests outfit combinations for user</a:t>
          </a:r>
          <a:br>
            <a:rPr lang="en-IN" sz="900" kern="1200"/>
          </a:br>
          <a:endParaRPr lang="en-IN" sz="900" kern="1200"/>
        </a:p>
      </dsp:txBody>
      <dsp:txXfrm>
        <a:off x="917936" y="15353"/>
        <a:ext cx="1455966" cy="479491"/>
      </dsp:txXfrm>
    </dsp:sp>
    <dsp:sp modelId="{E79BBC9C-57A0-4E20-8488-95120ED2E2F2}">
      <dsp:nvSpPr>
        <dsp:cNvPr id="0" name=""/>
        <dsp:cNvSpPr/>
      </dsp:nvSpPr>
      <dsp:spPr>
        <a:xfrm rot="5400000">
          <a:off x="1550421" y="522495"/>
          <a:ext cx="190997" cy="22919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541595"/>
        <a:ext cx="137519" cy="133698"/>
      </dsp:txXfrm>
    </dsp:sp>
    <dsp:sp modelId="{6BE4A934-C633-4A4D-83A4-BC98527FF461}">
      <dsp:nvSpPr>
        <dsp:cNvPr id="0" name=""/>
        <dsp:cNvSpPr/>
      </dsp:nvSpPr>
      <dsp:spPr>
        <a:xfrm>
          <a:off x="903018" y="764425"/>
          <a:ext cx="1485802" cy="509327"/>
        </a:xfrm>
        <a:prstGeom prst="roundRect">
          <a:avLst>
            <a:gd name="adj" fmla="val 10000"/>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2. B-Tree index query: SELECT * WHERE user_id = :uid</a:t>
          </a:r>
          <a:br>
            <a:rPr lang="en-IN" sz="900" kern="1200"/>
          </a:br>
          <a:endParaRPr lang="en-IN" sz="900" kern="1200"/>
        </a:p>
      </dsp:txBody>
      <dsp:txXfrm>
        <a:off x="917936" y="779343"/>
        <a:ext cx="1455966" cy="479491"/>
      </dsp:txXfrm>
    </dsp:sp>
    <dsp:sp modelId="{F1F3461A-D7F6-4F0E-BEF1-02984AEB9FBD}">
      <dsp:nvSpPr>
        <dsp:cNvPr id="0" name=""/>
        <dsp:cNvSpPr/>
      </dsp:nvSpPr>
      <dsp:spPr>
        <a:xfrm rot="5400000">
          <a:off x="1550421" y="1286486"/>
          <a:ext cx="190997" cy="229197"/>
        </a:xfrm>
        <a:prstGeom prst="rightArrow">
          <a:avLst>
            <a:gd name="adj1" fmla="val 60000"/>
            <a:gd name="adj2" fmla="val 50000"/>
          </a:avLst>
        </a:prstGeom>
        <a:solidFill>
          <a:schemeClr val="accent4">
            <a:hueOff val="-1488257"/>
            <a:satOff val="8966"/>
            <a:lumOff val="7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1305586"/>
        <a:ext cx="137519" cy="133698"/>
      </dsp:txXfrm>
    </dsp:sp>
    <dsp:sp modelId="{04F2F612-31B7-493E-B01E-DE2D5777E780}">
      <dsp:nvSpPr>
        <dsp:cNvPr id="0" name=""/>
        <dsp:cNvSpPr/>
      </dsp:nvSpPr>
      <dsp:spPr>
        <a:xfrm>
          <a:off x="903018" y="1528416"/>
          <a:ext cx="1485802" cy="509327"/>
        </a:xfrm>
        <a:prstGeom prst="roundRect">
          <a:avLst>
            <a:gd name="adj" fmla="val 1000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3. Group garments into tops, bottoms, and outer layers</a:t>
          </a:r>
          <a:br>
            <a:rPr lang="en-IN" sz="900" kern="1200"/>
          </a:br>
          <a:endParaRPr lang="en-IN" sz="900" kern="1200"/>
        </a:p>
      </dsp:txBody>
      <dsp:txXfrm>
        <a:off x="917936" y="1543334"/>
        <a:ext cx="1455966" cy="479491"/>
      </dsp:txXfrm>
    </dsp:sp>
    <dsp:sp modelId="{B85B7B50-8E1E-410B-B273-BF1E38E49485}">
      <dsp:nvSpPr>
        <dsp:cNvPr id="0" name=""/>
        <dsp:cNvSpPr/>
      </dsp:nvSpPr>
      <dsp:spPr>
        <a:xfrm rot="5400000">
          <a:off x="1550421" y="2050476"/>
          <a:ext cx="190997" cy="229197"/>
        </a:xfrm>
        <a:prstGeom prst="rightArrow">
          <a:avLst>
            <a:gd name="adj1" fmla="val 60000"/>
            <a:gd name="adj2" fmla="val 50000"/>
          </a:avLst>
        </a:prstGeom>
        <a:solidFill>
          <a:schemeClr val="accent4">
            <a:hueOff val="-2976513"/>
            <a:satOff val="17933"/>
            <a:lumOff val="143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2069576"/>
        <a:ext cx="137519" cy="133698"/>
      </dsp:txXfrm>
    </dsp:sp>
    <dsp:sp modelId="{A92F2EB4-F1C9-431B-B3C8-C0DFFCB07E88}">
      <dsp:nvSpPr>
        <dsp:cNvPr id="0" name=""/>
        <dsp:cNvSpPr/>
      </dsp:nvSpPr>
      <dsp:spPr>
        <a:xfrm>
          <a:off x="903018" y="2292407"/>
          <a:ext cx="1485802" cy="509327"/>
        </a:xfrm>
        <a:prstGeom prst="roundRect">
          <a:avLst>
            <a:gd name="adj" fmla="val 10000"/>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4. Cartesian candidate join with compatibility scoring</a:t>
          </a:r>
          <a:br>
            <a:rPr lang="en-IN" sz="900" kern="1200"/>
          </a:br>
          <a:endParaRPr lang="en-IN" sz="900" kern="1200"/>
        </a:p>
      </dsp:txBody>
      <dsp:txXfrm>
        <a:off x="917936" y="2307325"/>
        <a:ext cx="1455966" cy="479491"/>
      </dsp:txXfrm>
    </dsp:sp>
    <dsp:sp modelId="{F5C26ED3-20C1-4014-8C8C-BACF5B05D926}">
      <dsp:nvSpPr>
        <dsp:cNvPr id="0" name=""/>
        <dsp:cNvSpPr/>
      </dsp:nvSpPr>
      <dsp:spPr>
        <a:xfrm rot="5400000">
          <a:off x="1550421" y="2814467"/>
          <a:ext cx="190997" cy="229197"/>
        </a:xfrm>
        <a:prstGeom prst="rightArrow">
          <a:avLst>
            <a:gd name="adj1" fmla="val 60000"/>
            <a:gd name="adj2" fmla="val 50000"/>
          </a:avLst>
        </a:prstGeom>
        <a:solidFill>
          <a:schemeClr val="accent4">
            <a:hueOff val="-4464770"/>
            <a:satOff val="26899"/>
            <a:lumOff val="215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2833567"/>
        <a:ext cx="137519" cy="133698"/>
      </dsp:txXfrm>
    </dsp:sp>
    <dsp:sp modelId="{3CAF4473-5D41-4D9E-BE38-D29E2E78AE9E}">
      <dsp:nvSpPr>
        <dsp:cNvPr id="0" name=""/>
        <dsp:cNvSpPr/>
      </dsp:nvSpPr>
      <dsp:spPr>
        <a:xfrm>
          <a:off x="903018" y="3056397"/>
          <a:ext cx="1485802" cy="509327"/>
        </a:xfrm>
        <a:prstGeom prst="roundRect">
          <a:avLst>
            <a:gd name="adj" fmla="val 1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5. INSERT INTO outfits with foreign key link to users</a:t>
          </a:r>
          <a:br>
            <a:rPr lang="en-IN" sz="900" kern="1200"/>
          </a:br>
          <a:endParaRPr lang="en-IN" sz="900" kern="1200"/>
        </a:p>
      </dsp:txBody>
      <dsp:txXfrm>
        <a:off x="917936" y="3071315"/>
        <a:ext cx="1455966" cy="4794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91E88-A366-41D4-A7BE-7EF926D269C4}">
      <dsp:nvSpPr>
        <dsp:cNvPr id="0" name=""/>
        <dsp:cNvSpPr/>
      </dsp:nvSpPr>
      <dsp:spPr>
        <a:xfrm>
          <a:off x="863625" y="435"/>
          <a:ext cx="1564589" cy="50932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1. Try-on request creates RenderJob (status=queued)</a:t>
          </a:r>
          <a:br>
            <a:rPr lang="en-IN" sz="900" kern="1200"/>
          </a:br>
          <a:endParaRPr lang="en-IN" sz="900" kern="1200"/>
        </a:p>
      </dsp:txBody>
      <dsp:txXfrm>
        <a:off x="878543" y="15353"/>
        <a:ext cx="1534753" cy="479491"/>
      </dsp:txXfrm>
    </dsp:sp>
    <dsp:sp modelId="{BE75415D-E4EF-4DC5-B44D-56929CD4F716}">
      <dsp:nvSpPr>
        <dsp:cNvPr id="0" name=""/>
        <dsp:cNvSpPr/>
      </dsp:nvSpPr>
      <dsp:spPr>
        <a:xfrm rot="5400000">
          <a:off x="1550421" y="522495"/>
          <a:ext cx="190997" cy="22919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541595"/>
        <a:ext cx="137519" cy="133698"/>
      </dsp:txXfrm>
    </dsp:sp>
    <dsp:sp modelId="{A5AC30A8-0C79-456F-8539-A98B9FA2057D}">
      <dsp:nvSpPr>
        <dsp:cNvPr id="0" name=""/>
        <dsp:cNvSpPr/>
      </dsp:nvSpPr>
      <dsp:spPr>
        <a:xfrm>
          <a:off x="863625" y="764425"/>
          <a:ext cx="1564589" cy="509327"/>
        </a:xfrm>
        <a:prstGeom prst="roundRect">
          <a:avLst>
            <a:gd name="adj" fmla="val 10000"/>
          </a:avLst>
        </a:prstGeom>
        <a:solidFill>
          <a:schemeClr val="accent4">
            <a:hueOff val="-1116192"/>
            <a:satOff val="6725"/>
            <a:lumOff val="53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2. FK link to users.id (CASCADE) &amp; outfits.id (SET NULL)</a:t>
          </a:r>
          <a:br>
            <a:rPr lang="en-IN" sz="900" kern="1200"/>
          </a:br>
          <a:endParaRPr lang="en-IN" sz="900" kern="1200"/>
        </a:p>
      </dsp:txBody>
      <dsp:txXfrm>
        <a:off x="878543" y="779343"/>
        <a:ext cx="1534753" cy="479491"/>
      </dsp:txXfrm>
    </dsp:sp>
    <dsp:sp modelId="{A3B3EECC-83E7-4321-9CD0-36E136FE5079}">
      <dsp:nvSpPr>
        <dsp:cNvPr id="0" name=""/>
        <dsp:cNvSpPr/>
      </dsp:nvSpPr>
      <dsp:spPr>
        <a:xfrm rot="5400000">
          <a:off x="1550421" y="1286486"/>
          <a:ext cx="190997" cy="229197"/>
        </a:xfrm>
        <a:prstGeom prst="rightArrow">
          <a:avLst>
            <a:gd name="adj1" fmla="val 60000"/>
            <a:gd name="adj2" fmla="val 50000"/>
          </a:avLst>
        </a:prstGeom>
        <a:solidFill>
          <a:schemeClr val="accent4">
            <a:hueOff val="-1488257"/>
            <a:satOff val="8966"/>
            <a:lumOff val="7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1305586"/>
        <a:ext cx="137519" cy="133698"/>
      </dsp:txXfrm>
    </dsp:sp>
    <dsp:sp modelId="{F7458F61-06C4-4EB5-AE40-054F7952C71F}">
      <dsp:nvSpPr>
        <dsp:cNvPr id="0" name=""/>
        <dsp:cNvSpPr/>
      </dsp:nvSpPr>
      <dsp:spPr>
        <a:xfrm>
          <a:off x="863625" y="1528416"/>
          <a:ext cx="1564589" cy="509327"/>
        </a:xfrm>
        <a:prstGeom prst="roundRect">
          <a:avLst>
            <a:gd name="adj" fmla="val 1000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3. Background worker updates status to 'processing'</a:t>
          </a:r>
          <a:br>
            <a:rPr lang="en-IN" sz="900" kern="1200"/>
          </a:br>
          <a:endParaRPr lang="en-IN" sz="900" kern="1200"/>
        </a:p>
      </dsp:txBody>
      <dsp:txXfrm>
        <a:off x="878543" y="1543334"/>
        <a:ext cx="1534753" cy="479491"/>
      </dsp:txXfrm>
    </dsp:sp>
    <dsp:sp modelId="{DF8E895C-03DD-41ED-A74A-806C2C3F66E5}">
      <dsp:nvSpPr>
        <dsp:cNvPr id="0" name=""/>
        <dsp:cNvSpPr/>
      </dsp:nvSpPr>
      <dsp:spPr>
        <a:xfrm rot="5400000">
          <a:off x="1550421" y="2050476"/>
          <a:ext cx="190997" cy="229197"/>
        </a:xfrm>
        <a:prstGeom prst="rightArrow">
          <a:avLst>
            <a:gd name="adj1" fmla="val 60000"/>
            <a:gd name="adj2" fmla="val 50000"/>
          </a:avLst>
        </a:prstGeom>
        <a:solidFill>
          <a:schemeClr val="accent4">
            <a:hueOff val="-2976513"/>
            <a:satOff val="17933"/>
            <a:lumOff val="143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2069576"/>
        <a:ext cx="137519" cy="133698"/>
      </dsp:txXfrm>
    </dsp:sp>
    <dsp:sp modelId="{89EE4B28-1A2E-45ED-90A1-D99F71CC331D}">
      <dsp:nvSpPr>
        <dsp:cNvPr id="0" name=""/>
        <dsp:cNvSpPr/>
      </dsp:nvSpPr>
      <dsp:spPr>
        <a:xfrm>
          <a:off x="863625" y="2292407"/>
          <a:ext cx="1564589" cy="509327"/>
        </a:xfrm>
        <a:prstGeom prst="roundRect">
          <a:avLst>
            <a:gd name="adj" fmla="val 10000"/>
          </a:avLst>
        </a:prstGeom>
        <a:solidFill>
          <a:schemeClr val="accent4">
            <a:hueOff val="-3348577"/>
            <a:satOff val="20174"/>
            <a:lumOff val="16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4. Output image URL stored; status updated to 'done'</a:t>
          </a:r>
          <a:br>
            <a:rPr lang="en-IN" sz="900" kern="1200"/>
          </a:br>
          <a:endParaRPr lang="en-IN" sz="900" kern="1200"/>
        </a:p>
      </dsp:txBody>
      <dsp:txXfrm>
        <a:off x="878543" y="2307325"/>
        <a:ext cx="1534753" cy="479491"/>
      </dsp:txXfrm>
    </dsp:sp>
    <dsp:sp modelId="{704AF1FB-6102-47A1-A96B-EBB0D2F52F88}">
      <dsp:nvSpPr>
        <dsp:cNvPr id="0" name=""/>
        <dsp:cNvSpPr/>
      </dsp:nvSpPr>
      <dsp:spPr>
        <a:xfrm rot="5400000">
          <a:off x="1550421" y="2814467"/>
          <a:ext cx="190997" cy="229197"/>
        </a:xfrm>
        <a:prstGeom prst="rightArrow">
          <a:avLst>
            <a:gd name="adj1" fmla="val 60000"/>
            <a:gd name="adj2" fmla="val 50000"/>
          </a:avLst>
        </a:prstGeom>
        <a:solidFill>
          <a:schemeClr val="accent4">
            <a:hueOff val="-4464770"/>
            <a:satOff val="26899"/>
            <a:lumOff val="215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rot="-5400000">
        <a:off x="1577161" y="2833567"/>
        <a:ext cx="137519" cy="133698"/>
      </dsp:txXfrm>
    </dsp:sp>
    <dsp:sp modelId="{E6898288-4A4D-4812-9AB4-17ED2ECE0BF2}">
      <dsp:nvSpPr>
        <dsp:cNvPr id="0" name=""/>
        <dsp:cNvSpPr/>
      </dsp:nvSpPr>
      <dsp:spPr>
        <a:xfrm>
          <a:off x="863625" y="3056397"/>
          <a:ext cx="1564589" cy="509327"/>
        </a:xfrm>
        <a:prstGeom prst="roundRect">
          <a:avLst>
            <a:gd name="adj" fmla="val 1000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IN" sz="900" kern="1200"/>
            <a:t>5. Client polls job status via indexed query</a:t>
          </a:r>
          <a:br>
            <a:rPr lang="en-IN" sz="900" kern="1200"/>
          </a:br>
          <a:endParaRPr lang="en-IN" sz="900" kern="1200"/>
        </a:p>
      </dsp:txBody>
      <dsp:txXfrm>
        <a:off x="878543" y="3071315"/>
        <a:ext cx="1534753" cy="47949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48640"/>
            <a:ext cx="4572000" cy="365760"/>
          </a:xfrm>
          <a:prstGeom prst="rect">
            <a:avLst/>
          </a:prstGeom>
          <a:noFill/>
        </p:spPr>
        <p:txBody>
          <a:bodyPr wrap="none">
            <a:spAutoFit/>
          </a:bodyPr>
          <a:lstStyle/>
          <a:p>
            <a:pPr>
              <a:defRPr sz="1300" b="1">
                <a:solidFill>
                  <a:srgbClr val="00A896"/>
                </a:solidFill>
                <a:latin typeface="Arial"/>
              </a:defRPr>
            </a:pPr>
            <a:r>
              <a:t>M I N O R   P R O J E C T</a:t>
            </a:r>
          </a:p>
        </p:txBody>
      </p:sp>
      <p:sp>
        <p:nvSpPr>
          <p:cNvPr id="4" name="TextBox 3"/>
          <p:cNvSpPr txBox="1"/>
          <p:nvPr/>
        </p:nvSpPr>
        <p:spPr>
          <a:xfrm>
            <a:off x="640080" y="1005840"/>
            <a:ext cx="8324715" cy="584775"/>
          </a:xfrm>
          <a:prstGeom prst="rect">
            <a:avLst/>
          </a:prstGeom>
          <a:noFill/>
        </p:spPr>
        <p:txBody>
          <a:bodyPr wrap="none">
            <a:spAutoFit/>
          </a:bodyPr>
          <a:lstStyle/>
          <a:p>
            <a:pPr>
              <a:defRPr sz="3200" b="1">
                <a:solidFill>
                  <a:srgbClr val="FFFFFF"/>
                </a:solidFill>
                <a:latin typeface="Georgia"/>
              </a:defRPr>
            </a:pPr>
            <a:r>
              <a:rPr dirty="0"/>
              <a:t>AI Wardrobe: Relational Digital Closet</a:t>
            </a:r>
          </a:p>
        </p:txBody>
      </p:sp>
      <p:sp>
        <p:nvSpPr>
          <p:cNvPr id="5" name="TextBox 4"/>
          <p:cNvSpPr txBox="1"/>
          <p:nvPr/>
        </p:nvSpPr>
        <p:spPr>
          <a:xfrm>
            <a:off x="640080" y="2011680"/>
            <a:ext cx="10515600" cy="548640"/>
          </a:xfrm>
          <a:prstGeom prst="rect">
            <a:avLst/>
          </a:prstGeom>
          <a:noFill/>
        </p:spPr>
        <p:txBody>
          <a:bodyPr wrap="none">
            <a:spAutoFit/>
          </a:bodyPr>
          <a:lstStyle/>
          <a:p>
            <a:pPr>
              <a:defRPr sz="1200" i="1">
                <a:solidFill>
                  <a:srgbClr val="8CCDC3"/>
                </a:solidFill>
                <a:latin typeface="Arial"/>
              </a:defRPr>
            </a:pPr>
            <a:r>
              <a:t>Concept Used: Relational Database Design (3NF), Entity-Relationship (ER) Modeling, ACID Transactions, Foreign Key Cascades &amp; B-Tree Indexing</a:t>
            </a:r>
          </a:p>
        </p:txBody>
      </p:sp>
      <p:sp>
        <p:nvSpPr>
          <p:cNvPr id="6" name="TextBox 5"/>
          <p:cNvSpPr txBox="1"/>
          <p:nvPr/>
        </p:nvSpPr>
        <p:spPr>
          <a:xfrm>
            <a:off x="640080" y="2697480"/>
            <a:ext cx="3657600" cy="365760"/>
          </a:xfrm>
          <a:prstGeom prst="rect">
            <a:avLst/>
          </a:prstGeom>
          <a:noFill/>
        </p:spPr>
        <p:txBody>
          <a:bodyPr wrap="none">
            <a:spAutoFit/>
          </a:bodyPr>
          <a:lstStyle/>
          <a:p>
            <a:pPr>
              <a:defRPr sz="1400" b="1">
                <a:solidFill>
                  <a:srgbClr val="00A896"/>
                </a:solidFill>
                <a:latin typeface="Georgia"/>
              </a:defRPr>
            </a:pPr>
            <a:r>
              <a:t>Student Details</a:t>
            </a:r>
          </a:p>
        </p:txBody>
      </p:sp>
      <p:sp>
        <p:nvSpPr>
          <p:cNvPr id="8" name="Rectangle 7"/>
          <p:cNvSpPr/>
          <p:nvPr/>
        </p:nvSpPr>
        <p:spPr>
          <a:xfrm>
            <a:off x="640080" y="4892040"/>
            <a:ext cx="10789920" cy="1828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5029200"/>
            <a:ext cx="5594801" cy="769441"/>
          </a:xfrm>
          <a:prstGeom prst="rect">
            <a:avLst/>
          </a:prstGeom>
          <a:noFill/>
        </p:spPr>
        <p:txBody>
          <a:bodyPr wrap="none">
            <a:spAutoFit/>
          </a:bodyPr>
          <a:lstStyle/>
          <a:p>
            <a:pPr>
              <a:defRPr sz="1100">
                <a:solidFill>
                  <a:srgbClr val="E6F5F2"/>
                </a:solidFill>
                <a:latin typeface="Arial"/>
              </a:defRPr>
            </a:pPr>
            <a:r>
              <a:rPr dirty="0"/>
              <a:t>Subject / Course :        Database Management Systems (DBMS) / Minor Project</a:t>
            </a:r>
          </a:p>
          <a:p>
            <a:pPr>
              <a:defRPr sz="1100">
                <a:solidFill>
                  <a:srgbClr val="E6F5F2"/>
                </a:solidFill>
                <a:latin typeface="Arial"/>
              </a:defRPr>
            </a:pPr>
            <a:r>
              <a:rPr dirty="0"/>
              <a:t>Guided By :               </a:t>
            </a:r>
            <a:r>
              <a:rPr lang="en-US" dirty="0"/>
              <a:t>Ms. Nandini</a:t>
            </a:r>
            <a:endParaRPr dirty="0"/>
          </a:p>
          <a:p>
            <a:pPr>
              <a:defRPr sz="1100">
                <a:solidFill>
                  <a:srgbClr val="E6F5F2"/>
                </a:solidFill>
                <a:latin typeface="Arial"/>
              </a:defRPr>
            </a:pPr>
            <a:r>
              <a:rPr dirty="0"/>
              <a:t>Department &amp; College :    Department of Computer Science &amp; Engineering, C</a:t>
            </a:r>
            <a:r>
              <a:rPr lang="en-US" dirty="0"/>
              <a:t>GC COE</a:t>
            </a:r>
            <a:endParaRPr dirty="0"/>
          </a:p>
          <a:p>
            <a:pPr>
              <a:defRPr sz="1100">
                <a:solidFill>
                  <a:srgbClr val="E6F5F2"/>
                </a:solidFill>
                <a:latin typeface="Arial"/>
              </a:defRPr>
            </a:pPr>
            <a:r>
              <a:rPr dirty="0"/>
              <a:t>Academic Year :           202</a:t>
            </a:r>
            <a:r>
              <a:rPr lang="en-US" dirty="0"/>
              <a:t>4</a:t>
            </a:r>
            <a:r>
              <a:rPr dirty="0"/>
              <a:t> – 202</a:t>
            </a:r>
            <a:r>
              <a:rPr lang="en-US" dirty="0"/>
              <a:t>8</a:t>
            </a:r>
            <a:endParaRPr dirty="0"/>
          </a:p>
        </p:txBody>
      </p:sp>
      <p:graphicFrame>
        <p:nvGraphicFramePr>
          <p:cNvPr id="10" name="Table 9">
            <a:extLst>
              <a:ext uri="{FF2B5EF4-FFF2-40B4-BE49-F238E27FC236}">
                <a16:creationId xmlns:a16="http://schemas.microsoft.com/office/drawing/2014/main" id="{FBB2A3FB-FD59-CD3B-6809-0404D97753AA}"/>
              </a:ext>
            </a:extLst>
          </p:cNvPr>
          <p:cNvGraphicFramePr>
            <a:graphicFrameLocks noGrp="1"/>
          </p:cNvGraphicFramePr>
          <p:nvPr>
            <p:extLst>
              <p:ext uri="{D42A27DB-BD31-4B8C-83A1-F6EECF244321}">
                <p14:modId xmlns:p14="http://schemas.microsoft.com/office/powerpoint/2010/main" val="3399996407"/>
              </p:ext>
            </p:extLst>
          </p:nvPr>
        </p:nvGraphicFramePr>
        <p:xfrm>
          <a:off x="732876" y="3067525"/>
          <a:ext cx="5725160" cy="598806"/>
        </p:xfrm>
        <a:graphic>
          <a:graphicData uri="http://schemas.openxmlformats.org/drawingml/2006/table">
            <a:tbl>
              <a:tblPr firstRow="1" firstCol="1" bandRow="1">
                <a:tableStyleId>{5C22544A-7EE6-4342-B048-85BDC9FD1C3A}</a:tableStyleId>
              </a:tblPr>
              <a:tblGrid>
                <a:gridCol w="1908175">
                  <a:extLst>
                    <a:ext uri="{9D8B030D-6E8A-4147-A177-3AD203B41FA5}">
                      <a16:colId xmlns:a16="http://schemas.microsoft.com/office/drawing/2014/main" val="2777686993"/>
                    </a:ext>
                  </a:extLst>
                </a:gridCol>
                <a:gridCol w="1908175">
                  <a:extLst>
                    <a:ext uri="{9D8B030D-6E8A-4147-A177-3AD203B41FA5}">
                      <a16:colId xmlns:a16="http://schemas.microsoft.com/office/drawing/2014/main" val="3388437260"/>
                    </a:ext>
                  </a:extLst>
                </a:gridCol>
                <a:gridCol w="1908810">
                  <a:extLst>
                    <a:ext uri="{9D8B030D-6E8A-4147-A177-3AD203B41FA5}">
                      <a16:colId xmlns:a16="http://schemas.microsoft.com/office/drawing/2014/main" val="2119297347"/>
                    </a:ext>
                  </a:extLst>
                </a:gridCol>
              </a:tblGrid>
              <a:tr h="105331">
                <a:tc>
                  <a:txBody>
                    <a:bodyPr/>
                    <a:lstStyle/>
                    <a:p>
                      <a:pPr>
                        <a:lnSpc>
                          <a:spcPct val="115000"/>
                        </a:lnSpc>
                        <a:spcAft>
                          <a:spcPts val="800"/>
                        </a:spcAft>
                        <a:buNone/>
                      </a:pPr>
                      <a:r>
                        <a:rPr lang="en-IN" sz="1200" kern="100" dirty="0">
                          <a:solidFill>
                            <a:schemeClr val="bg1"/>
                          </a:solidFill>
                          <a:effectLst/>
                        </a:rPr>
                        <a:t>Name                                </a:t>
                      </a:r>
                      <a:endParaRPr lang="en-IN"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nSpc>
                          <a:spcPct val="115000"/>
                        </a:lnSpc>
                        <a:spcAft>
                          <a:spcPts val="800"/>
                        </a:spcAft>
                        <a:buNone/>
                      </a:pPr>
                      <a:r>
                        <a:rPr lang="en-IN" sz="1200" kern="100">
                          <a:solidFill>
                            <a:schemeClr val="bg1"/>
                          </a:solidFill>
                          <a:effectLst/>
                        </a:rPr>
                        <a:t>Roll No.                 </a:t>
                      </a:r>
                      <a:endParaRPr lang="en-IN"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nSpc>
                          <a:spcPct val="115000"/>
                        </a:lnSpc>
                        <a:spcAft>
                          <a:spcPts val="800"/>
                        </a:spcAft>
                        <a:buNone/>
                      </a:pPr>
                      <a:r>
                        <a:rPr lang="en-IN" sz="1200" kern="100">
                          <a:solidFill>
                            <a:schemeClr val="bg1"/>
                          </a:solidFill>
                          <a:effectLst/>
                        </a:rPr>
                        <a:t>Enrollment No.           </a:t>
                      </a:r>
                      <a:endParaRPr lang="en-IN"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9941256"/>
                  </a:ext>
                </a:extLst>
              </a:tr>
              <a:tr h="0">
                <a:tc>
                  <a:txBody>
                    <a:bodyPr/>
                    <a:lstStyle/>
                    <a:p>
                      <a:pPr>
                        <a:lnSpc>
                          <a:spcPct val="115000"/>
                        </a:lnSpc>
                        <a:spcAft>
                          <a:spcPts val="800"/>
                        </a:spcAft>
                        <a:buNone/>
                      </a:pPr>
                      <a:r>
                        <a:rPr lang="en-IN" sz="1200" kern="100">
                          <a:solidFill>
                            <a:schemeClr val="bg1"/>
                          </a:solidFill>
                          <a:effectLst/>
                        </a:rPr>
                        <a:t>Ranveer </a:t>
                      </a:r>
                      <a:r>
                        <a:rPr lang="en-US" sz="1200" kern="100">
                          <a:solidFill>
                            <a:schemeClr val="bg1"/>
                          </a:solidFill>
                          <a:effectLst/>
                        </a:rPr>
                        <a:t>Singh</a:t>
                      </a:r>
                      <a:r>
                        <a:rPr lang="en-IN" sz="1200" kern="100">
                          <a:solidFill>
                            <a:schemeClr val="bg1"/>
                          </a:solidFill>
                          <a:effectLst/>
                        </a:rPr>
                        <a:t>                     </a:t>
                      </a:r>
                      <a:endParaRPr lang="en-IN"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nSpc>
                          <a:spcPct val="115000"/>
                        </a:lnSpc>
                        <a:spcAft>
                          <a:spcPts val="800"/>
                        </a:spcAft>
                        <a:buNone/>
                      </a:pPr>
                      <a:r>
                        <a:rPr lang="en-IN" sz="1200" kern="100" dirty="0">
                          <a:solidFill>
                            <a:schemeClr val="bg1"/>
                          </a:solidFill>
                          <a:effectLst/>
                        </a:rPr>
                        <a:t>2417076          </a:t>
                      </a:r>
                      <a:endParaRPr lang="en-IN"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nSpc>
                          <a:spcPct val="115000"/>
                        </a:lnSpc>
                        <a:spcAft>
                          <a:spcPts val="800"/>
                        </a:spcAft>
                        <a:buNone/>
                      </a:pPr>
                      <a:r>
                        <a:rPr lang="en-IN" sz="1200" kern="100" dirty="0">
                          <a:solidFill>
                            <a:schemeClr val="bg1"/>
                          </a:solidFill>
                          <a:effectLst/>
                        </a:rPr>
                        <a:t>COE242544     </a:t>
                      </a:r>
                      <a:endParaRPr lang="en-IN"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20545642"/>
                  </a:ext>
                </a:extLst>
              </a:tr>
              <a:tr h="0">
                <a:tc>
                  <a:txBody>
                    <a:bodyPr/>
                    <a:lstStyle/>
                    <a:p>
                      <a:pPr>
                        <a:lnSpc>
                          <a:spcPct val="115000"/>
                        </a:lnSpc>
                        <a:spcAft>
                          <a:spcPts val="800"/>
                        </a:spcAft>
                        <a:buNone/>
                      </a:pPr>
                      <a:r>
                        <a:rPr lang="en-IN" sz="1200" kern="100">
                          <a:solidFill>
                            <a:schemeClr val="bg1"/>
                          </a:solidFill>
                          <a:effectLst/>
                        </a:rPr>
                        <a:t>Tanish Dudeja                       </a:t>
                      </a:r>
                      <a:endParaRPr lang="en-IN"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2417087</a:t>
                      </a:r>
                      <a:endParaRPr lang="en-IN"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nSpc>
                          <a:spcPct val="115000"/>
                        </a:lnSpc>
                        <a:spcAft>
                          <a:spcPts val="800"/>
                        </a:spcAft>
                        <a:buNone/>
                      </a:pPr>
                      <a:r>
                        <a:rPr lang="en-IN" sz="1200" kern="100" dirty="0">
                          <a:solidFill>
                            <a:schemeClr val="bg1"/>
                          </a:solidFill>
                          <a:effectLst/>
                        </a:rPr>
                        <a:t>[</a:t>
                      </a:r>
                      <a:r>
                        <a:rPr lang="en-IN" sz="1200" kern="100" dirty="0" err="1">
                          <a:solidFill>
                            <a:schemeClr val="bg1"/>
                          </a:solidFill>
                          <a:effectLst/>
                        </a:rPr>
                        <a:t>Enrollment</a:t>
                      </a:r>
                      <a:r>
                        <a:rPr lang="en-IN" sz="1200" kern="100" dirty="0">
                          <a:solidFill>
                            <a:schemeClr val="bg1"/>
                          </a:solidFill>
                          <a:effectLst/>
                        </a:rPr>
                        <a:t> No. 2]       </a:t>
                      </a:r>
                      <a:endParaRPr lang="en-IN"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434287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03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
            <a:ext cx="10972800" cy="502920"/>
          </a:xfrm>
          <a:prstGeom prst="rect">
            <a:avLst/>
          </a:prstGeom>
          <a:noFill/>
        </p:spPr>
        <p:txBody>
          <a:bodyPr wrap="square">
            <a:spAutoFit/>
          </a:bodyPr>
          <a:lstStyle/>
          <a:p>
            <a:pPr>
              <a:defRPr sz="2400" b="1">
                <a:solidFill>
                  <a:srgbClr val="FFFFFF"/>
                </a:solidFill>
                <a:latin typeface="Georgia"/>
              </a:defRPr>
            </a:pPr>
            <a:r>
              <a:t>Introduction &amp; Concept Used</a:t>
            </a:r>
          </a:p>
          <a:p>
            <a:pPr>
              <a:defRPr sz="1200">
                <a:solidFill>
                  <a:srgbClr val="8CCDC3"/>
                </a:solidFill>
                <a:latin typeface="Arial"/>
              </a:defRPr>
            </a:pPr>
            <a:r>
              <a:t>Background, relational database concepts applied, and project objectives</a:t>
            </a:r>
          </a:p>
        </p:txBody>
      </p:sp>
      <p:sp>
        <p:nvSpPr>
          <p:cNvPr id="5" name="TextBox 4"/>
          <p:cNvSpPr txBox="1"/>
          <p:nvPr/>
        </p:nvSpPr>
        <p:spPr>
          <a:xfrm>
            <a:off x="548640" y="6446520"/>
            <a:ext cx="10972800" cy="274320"/>
          </a:xfrm>
          <a:prstGeom prst="rect">
            <a:avLst/>
          </a:prstGeom>
          <a:noFill/>
        </p:spPr>
        <p:txBody>
          <a:bodyPr wrap="none">
            <a:spAutoFit/>
          </a:bodyPr>
          <a:lstStyle/>
          <a:p>
            <a:pPr>
              <a:defRPr sz="900">
                <a:solidFill>
                  <a:srgbClr val="8CCDC3"/>
                </a:solidFill>
                <a:latin typeface="Arial"/>
              </a:defRPr>
            </a:pPr>
            <a:r>
              <a:t>DBMS Minor Project Presentation</a:t>
            </a:r>
          </a:p>
        </p:txBody>
      </p:sp>
      <p:sp>
        <p:nvSpPr>
          <p:cNvPr id="6" name="TextBox 5"/>
          <p:cNvSpPr txBox="1"/>
          <p:nvPr/>
        </p:nvSpPr>
        <p:spPr>
          <a:xfrm>
            <a:off x="11155680" y="6446520"/>
            <a:ext cx="548640" cy="274320"/>
          </a:xfrm>
          <a:prstGeom prst="rect">
            <a:avLst/>
          </a:prstGeom>
          <a:noFill/>
        </p:spPr>
        <p:txBody>
          <a:bodyPr wrap="none">
            <a:spAutoFit/>
          </a:bodyPr>
          <a:lstStyle/>
          <a:p>
            <a:pPr algn="r">
              <a:defRPr sz="900">
                <a:solidFill>
                  <a:srgbClr val="8CCDC3"/>
                </a:solidFill>
                <a:latin typeface="Arial"/>
              </a:defRPr>
            </a:pPr>
            <a:r>
              <a:t>2</a:t>
            </a:r>
          </a:p>
        </p:txBody>
      </p:sp>
      <p:sp>
        <p:nvSpPr>
          <p:cNvPr id="7" name="Rounded Rectangle 6"/>
          <p:cNvSpPr/>
          <p:nvPr/>
        </p:nvSpPr>
        <p:spPr>
          <a:xfrm>
            <a:off x="548640" y="1371600"/>
            <a:ext cx="6400800" cy="4846320"/>
          </a:xfrm>
          <a:prstGeom prst="roundRect">
            <a:avLst/>
          </a:prstGeom>
          <a:solidFill>
            <a:srgbClr val="E4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08760"/>
            <a:ext cx="5943600" cy="3016210"/>
          </a:xfrm>
          <a:prstGeom prst="rect">
            <a:avLst/>
          </a:prstGeom>
          <a:noFill/>
        </p:spPr>
        <p:txBody>
          <a:bodyPr wrap="square">
            <a:spAutoFit/>
          </a:bodyPr>
          <a:lstStyle/>
          <a:p>
            <a:pPr>
              <a:defRPr sz="1400" b="1">
                <a:solidFill>
                  <a:srgbClr val="0A2D2D"/>
                </a:solidFill>
                <a:latin typeface="Georgia"/>
              </a:defRPr>
            </a:pPr>
            <a:endParaRPr lang="en-US" dirty="0"/>
          </a:p>
          <a:p>
            <a:pPr>
              <a:defRPr sz="1400" b="1">
                <a:solidFill>
                  <a:srgbClr val="0A2D2D"/>
                </a:solidFill>
                <a:latin typeface="Georgia"/>
              </a:defRPr>
            </a:pPr>
            <a:r>
              <a:rPr dirty="0"/>
              <a:t>Background / Problem Statement</a:t>
            </a:r>
          </a:p>
          <a:p>
            <a:pPr>
              <a:defRPr sz="1000">
                <a:solidFill>
                  <a:srgbClr val="285050"/>
                </a:solidFill>
                <a:latin typeface="Arial"/>
              </a:defRPr>
            </a:pPr>
            <a:r>
              <a:rPr dirty="0"/>
              <a:t>Personal clothing inventories remain unstructured, causing data redundancy, inconsistent categorization, and lack of relational tracking across outfits. Without formal database schemas and referential constraints, managing garment compatibility leads to update anomalies and data corruption.</a:t>
            </a:r>
          </a:p>
          <a:p>
            <a:br>
              <a:rPr dirty="0"/>
            </a:br>
            <a:r>
              <a:rPr dirty="0"/>
              <a:t>Concept Used</a:t>
            </a:r>
          </a:p>
          <a:p>
            <a:pPr>
              <a:defRPr sz="1000">
                <a:solidFill>
                  <a:srgbClr val="285050"/>
                </a:solidFill>
                <a:latin typeface="Arial"/>
              </a:defRPr>
            </a:pPr>
            <a:r>
              <a:rPr dirty="0"/>
              <a:t>Normalized 3NF Relational Database Design (SQLite/PostgreSQL) with strict primary &amp; foreign key constraints (Users -&gt; Garments -&gt; Outfits -&gt; </a:t>
            </a:r>
            <a:r>
              <a:rPr dirty="0" err="1"/>
              <a:t>RenderJobs</a:t>
            </a:r>
            <a:r>
              <a:rPr dirty="0"/>
              <a:t>). Leverages ACID transaction units of work (commit/rollback), B-Tree secondary indexes for O(log N) filtered lookups, and hybrid relational/JSON document storage for multi-value color vectors.</a:t>
            </a:r>
          </a:p>
          <a:p>
            <a:br>
              <a:rPr dirty="0"/>
            </a:br>
            <a:r>
              <a:rPr dirty="0"/>
              <a:t>Who is affected?</a:t>
            </a:r>
          </a:p>
          <a:p>
            <a:pPr>
              <a:defRPr sz="1000">
                <a:solidFill>
                  <a:srgbClr val="285050"/>
                </a:solidFill>
                <a:latin typeface="Arial"/>
              </a:defRPr>
            </a:pPr>
            <a:r>
              <a:rPr dirty="0"/>
              <a:t>Digital wardrobe owners requiring structured item cataloging; e-commerce styling engines querying multi-table associations; database administrators managing transactional consistency.</a:t>
            </a:r>
          </a:p>
        </p:txBody>
      </p:sp>
      <p:sp>
        <p:nvSpPr>
          <p:cNvPr id="9" name="TextBox 8"/>
          <p:cNvSpPr txBox="1"/>
          <p:nvPr/>
        </p:nvSpPr>
        <p:spPr>
          <a:xfrm>
            <a:off x="7315200" y="1371600"/>
            <a:ext cx="4114800" cy="365760"/>
          </a:xfrm>
          <a:prstGeom prst="rect">
            <a:avLst/>
          </a:prstGeom>
          <a:noFill/>
        </p:spPr>
        <p:txBody>
          <a:bodyPr wrap="none">
            <a:spAutoFit/>
          </a:bodyPr>
          <a:lstStyle/>
          <a:p>
            <a:pPr>
              <a:defRPr sz="1800" b="1">
                <a:solidFill>
                  <a:srgbClr val="FFFFFF"/>
                </a:solidFill>
                <a:latin typeface="Georgia"/>
              </a:defRPr>
            </a:pPr>
            <a:r>
              <a:t>Objectives</a:t>
            </a:r>
          </a:p>
        </p:txBody>
      </p:sp>
      <p:sp>
        <p:nvSpPr>
          <p:cNvPr id="10" name="Oval 9"/>
          <p:cNvSpPr/>
          <p:nvPr/>
        </p:nvSpPr>
        <p:spPr>
          <a:xfrm>
            <a:off x="7315200" y="2011680"/>
            <a:ext cx="411480" cy="41148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1</a:t>
            </a:r>
          </a:p>
        </p:txBody>
      </p:sp>
      <p:sp>
        <p:nvSpPr>
          <p:cNvPr id="11" name="TextBox 10"/>
          <p:cNvSpPr txBox="1"/>
          <p:nvPr/>
        </p:nvSpPr>
        <p:spPr>
          <a:xfrm>
            <a:off x="7909560" y="1938528"/>
            <a:ext cx="3657600" cy="914400"/>
          </a:xfrm>
          <a:prstGeom prst="rect">
            <a:avLst/>
          </a:prstGeom>
          <a:noFill/>
        </p:spPr>
        <p:txBody>
          <a:bodyPr wrap="square">
            <a:spAutoFit/>
          </a:bodyPr>
          <a:lstStyle/>
          <a:p>
            <a:pPr>
              <a:defRPr sz="1000">
                <a:solidFill>
                  <a:srgbClr val="E6F5F2"/>
                </a:solidFill>
                <a:latin typeface="Arial"/>
              </a:defRPr>
            </a:pPr>
            <a:r>
              <a:t>3NF Relational Data Modeling: Design normalized schemas for Users, Garments, Outfits, and RenderJobs, eliminating transitive dependencies.</a:t>
            </a:r>
          </a:p>
        </p:txBody>
      </p:sp>
      <p:sp>
        <p:nvSpPr>
          <p:cNvPr id="12" name="Oval 11"/>
          <p:cNvSpPr/>
          <p:nvPr/>
        </p:nvSpPr>
        <p:spPr>
          <a:xfrm>
            <a:off x="7315200" y="3063240"/>
            <a:ext cx="411480" cy="41148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2</a:t>
            </a:r>
          </a:p>
        </p:txBody>
      </p:sp>
      <p:sp>
        <p:nvSpPr>
          <p:cNvPr id="13" name="TextBox 12"/>
          <p:cNvSpPr txBox="1"/>
          <p:nvPr/>
        </p:nvSpPr>
        <p:spPr>
          <a:xfrm>
            <a:off x="7909560" y="2990088"/>
            <a:ext cx="3657600" cy="914400"/>
          </a:xfrm>
          <a:prstGeom prst="rect">
            <a:avLst/>
          </a:prstGeom>
          <a:noFill/>
        </p:spPr>
        <p:txBody>
          <a:bodyPr wrap="square">
            <a:spAutoFit/>
          </a:bodyPr>
          <a:lstStyle/>
          <a:p>
            <a:pPr>
              <a:defRPr sz="1000">
                <a:solidFill>
                  <a:srgbClr val="E6F5F2"/>
                </a:solidFill>
                <a:latin typeface="Arial"/>
              </a:defRPr>
            </a:pPr>
            <a:r>
              <a:t>ACID Transaction Integrity: Guarantee Atomicity, Consistency, Isolation, and Durability across garment uploads, outfit creation, and state updates.</a:t>
            </a:r>
          </a:p>
        </p:txBody>
      </p:sp>
      <p:sp>
        <p:nvSpPr>
          <p:cNvPr id="14" name="Oval 13"/>
          <p:cNvSpPr/>
          <p:nvPr/>
        </p:nvSpPr>
        <p:spPr>
          <a:xfrm>
            <a:off x="7315200" y="4114800"/>
            <a:ext cx="411480" cy="41148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3</a:t>
            </a:r>
          </a:p>
        </p:txBody>
      </p:sp>
      <p:sp>
        <p:nvSpPr>
          <p:cNvPr id="15" name="TextBox 14"/>
          <p:cNvSpPr txBox="1"/>
          <p:nvPr/>
        </p:nvSpPr>
        <p:spPr>
          <a:xfrm>
            <a:off x="7909560" y="4041648"/>
            <a:ext cx="3657600" cy="914400"/>
          </a:xfrm>
          <a:prstGeom prst="rect">
            <a:avLst/>
          </a:prstGeom>
          <a:noFill/>
        </p:spPr>
        <p:txBody>
          <a:bodyPr wrap="square">
            <a:spAutoFit/>
          </a:bodyPr>
          <a:lstStyle/>
          <a:p>
            <a:pPr>
              <a:defRPr sz="1000">
                <a:solidFill>
                  <a:srgbClr val="E6F5F2"/>
                </a:solidFill>
                <a:latin typeface="Arial"/>
              </a:defRPr>
            </a:pPr>
            <a:r>
              <a:t>Referential Integrity &amp; Cascading Deletes: Implement ON DELETE CASCADE and SET NULL foreign key rules to prevent dangling orphan records.</a:t>
            </a:r>
          </a:p>
        </p:txBody>
      </p:sp>
      <p:sp>
        <p:nvSpPr>
          <p:cNvPr id="16" name="Oval 15"/>
          <p:cNvSpPr/>
          <p:nvPr/>
        </p:nvSpPr>
        <p:spPr>
          <a:xfrm>
            <a:off x="7315200" y="5166360"/>
            <a:ext cx="411480" cy="41148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4</a:t>
            </a:r>
          </a:p>
        </p:txBody>
      </p:sp>
      <p:sp>
        <p:nvSpPr>
          <p:cNvPr id="17" name="TextBox 16"/>
          <p:cNvSpPr txBox="1"/>
          <p:nvPr/>
        </p:nvSpPr>
        <p:spPr>
          <a:xfrm>
            <a:off x="7909560" y="5093208"/>
            <a:ext cx="3657600" cy="914400"/>
          </a:xfrm>
          <a:prstGeom prst="rect">
            <a:avLst/>
          </a:prstGeom>
          <a:noFill/>
        </p:spPr>
        <p:txBody>
          <a:bodyPr wrap="square">
            <a:spAutoFit/>
          </a:bodyPr>
          <a:lstStyle/>
          <a:p>
            <a:pPr>
              <a:defRPr sz="1000">
                <a:solidFill>
                  <a:srgbClr val="E6F5F2"/>
                </a:solidFill>
                <a:latin typeface="Arial"/>
              </a:defRPr>
            </a:pPr>
            <a:r>
              <a:t>Query Optimization &amp; B-Tree Indexing: Index user_id, category, and outfit_id columns to achieve sub-millisecond retrieval on large closets.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03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
            <a:ext cx="10972800" cy="502920"/>
          </a:xfrm>
          <a:prstGeom prst="rect">
            <a:avLst/>
          </a:prstGeom>
          <a:noFill/>
        </p:spPr>
        <p:txBody>
          <a:bodyPr wrap="square">
            <a:spAutoFit/>
          </a:bodyPr>
          <a:lstStyle/>
          <a:p>
            <a:pPr>
              <a:defRPr sz="2400" b="1">
                <a:solidFill>
                  <a:srgbClr val="FFFFFF"/>
                </a:solidFill>
                <a:latin typeface="Georgia"/>
              </a:defRPr>
            </a:pPr>
            <a:r>
              <a:t>Existing System &amp; Proposed Approach</a:t>
            </a:r>
          </a:p>
          <a:p>
            <a:pPr>
              <a:defRPr sz="1200">
                <a:solidFill>
                  <a:srgbClr val="8CCDC3"/>
                </a:solidFill>
                <a:latin typeface="Arial"/>
              </a:defRPr>
            </a:pPr>
            <a:r>
              <a:t>Data storage limitations, DBMS vulnerabilities, and proposed relational solution</a:t>
            </a:r>
          </a:p>
        </p:txBody>
      </p:sp>
      <p:sp>
        <p:nvSpPr>
          <p:cNvPr id="5" name="TextBox 4"/>
          <p:cNvSpPr txBox="1"/>
          <p:nvPr/>
        </p:nvSpPr>
        <p:spPr>
          <a:xfrm>
            <a:off x="548640" y="6446520"/>
            <a:ext cx="10972800" cy="274320"/>
          </a:xfrm>
          <a:prstGeom prst="rect">
            <a:avLst/>
          </a:prstGeom>
          <a:noFill/>
        </p:spPr>
        <p:txBody>
          <a:bodyPr wrap="none">
            <a:spAutoFit/>
          </a:bodyPr>
          <a:lstStyle/>
          <a:p>
            <a:pPr>
              <a:defRPr sz="900">
                <a:solidFill>
                  <a:srgbClr val="8CCDC3"/>
                </a:solidFill>
                <a:latin typeface="Arial"/>
              </a:defRPr>
            </a:pPr>
            <a:r>
              <a:t>DBMS Minor Project Presentation</a:t>
            </a:r>
          </a:p>
        </p:txBody>
      </p:sp>
      <p:sp>
        <p:nvSpPr>
          <p:cNvPr id="6" name="TextBox 5"/>
          <p:cNvSpPr txBox="1"/>
          <p:nvPr/>
        </p:nvSpPr>
        <p:spPr>
          <a:xfrm>
            <a:off x="11155680" y="6446520"/>
            <a:ext cx="548640" cy="274320"/>
          </a:xfrm>
          <a:prstGeom prst="rect">
            <a:avLst/>
          </a:prstGeom>
          <a:noFill/>
        </p:spPr>
        <p:txBody>
          <a:bodyPr wrap="none">
            <a:spAutoFit/>
          </a:bodyPr>
          <a:lstStyle/>
          <a:p>
            <a:pPr algn="r">
              <a:defRPr sz="900">
                <a:solidFill>
                  <a:srgbClr val="8CCDC3"/>
                </a:solidFill>
                <a:latin typeface="Arial"/>
              </a:defRPr>
            </a:pPr>
            <a:r>
              <a:t>3</a:t>
            </a:r>
          </a:p>
        </p:txBody>
      </p:sp>
      <p:sp>
        <p:nvSpPr>
          <p:cNvPr id="7" name="TextBox 6"/>
          <p:cNvSpPr txBox="1"/>
          <p:nvPr/>
        </p:nvSpPr>
        <p:spPr>
          <a:xfrm>
            <a:off x="548640" y="1371600"/>
            <a:ext cx="5303520" cy="365760"/>
          </a:xfrm>
          <a:prstGeom prst="rect">
            <a:avLst/>
          </a:prstGeom>
          <a:noFill/>
        </p:spPr>
        <p:txBody>
          <a:bodyPr wrap="none">
            <a:spAutoFit/>
          </a:bodyPr>
          <a:lstStyle/>
          <a:p>
            <a:pPr>
              <a:defRPr sz="1600" b="1">
                <a:solidFill>
                  <a:srgbClr val="FFFFFF"/>
                </a:solidFill>
                <a:latin typeface="Georgia"/>
              </a:defRPr>
            </a:pPr>
            <a:r>
              <a:t>Existing System / Limitations</a:t>
            </a:r>
          </a:p>
        </p:txBody>
      </p:sp>
      <p:sp>
        <p:nvSpPr>
          <p:cNvPr id="8" name="TextBox 7"/>
          <p:cNvSpPr txBox="1"/>
          <p:nvPr/>
        </p:nvSpPr>
        <p:spPr>
          <a:xfrm>
            <a:off x="548640" y="1874519"/>
            <a:ext cx="5303520" cy="4389120"/>
          </a:xfrm>
          <a:prstGeom prst="rect">
            <a:avLst/>
          </a:prstGeom>
          <a:noFill/>
        </p:spPr>
        <p:txBody>
          <a:bodyPr wrap="square">
            <a:spAutoFit/>
          </a:bodyPr>
          <a:lstStyle/>
          <a:p>
            <a:pPr>
              <a:defRPr sz="1100" b="1">
                <a:solidFill>
                  <a:srgbClr val="8CCDC3"/>
                </a:solidFill>
                <a:latin typeface="Arial"/>
              </a:defRPr>
            </a:pPr>
            <a:r>
              <a:t>• Unstructured Flat-File Storage: </a:t>
            </a:r>
          </a:p>
          <a:p>
            <a:pPr>
              <a:defRPr sz="1000">
                <a:solidFill>
                  <a:srgbClr val="E6F5F2"/>
                </a:solidFill>
                <a:latin typeface="Arial"/>
              </a:defRPr>
            </a:pPr>
            <a:r>
              <a:t>  Files saved in loose directories with no schema enforcement, leading to corrupted, missing, or mismatched item attributes.</a:t>
            </a:r>
            <a:br/>
            <a:endParaRPr/>
          </a:p>
          <a:p>
            <a:pPr>
              <a:defRPr sz="1100" b="1">
                <a:solidFill>
                  <a:srgbClr val="8CCDC3"/>
                </a:solidFill>
                <a:latin typeface="Arial"/>
              </a:defRPr>
            </a:pPr>
            <a:r>
              <a:t>• Lack of ACID Guarantees: </a:t>
            </a:r>
          </a:p>
          <a:p>
            <a:pPr>
              <a:defRPr sz="1000">
                <a:solidFill>
                  <a:srgbClr val="E6F5F2"/>
                </a:solidFill>
                <a:latin typeface="Arial"/>
              </a:defRPr>
            </a:pPr>
            <a:r>
              <a:t>  No atomic transactions; failed image uploads or network drops leave partial records and corrupted state in application caches.</a:t>
            </a:r>
            <a:br/>
            <a:endParaRPr/>
          </a:p>
          <a:p>
            <a:pPr>
              <a:defRPr sz="1100" b="1">
                <a:solidFill>
                  <a:srgbClr val="8CCDC3"/>
                </a:solidFill>
                <a:latin typeface="Arial"/>
              </a:defRPr>
            </a:pPr>
            <a:r>
              <a:t>• Unindexed Sequential Table Scans: </a:t>
            </a:r>
          </a:p>
          <a:p>
            <a:pPr>
              <a:defRPr sz="1000">
                <a:solidFill>
                  <a:srgbClr val="E6F5F2"/>
                </a:solidFill>
                <a:latin typeface="Arial"/>
              </a:defRPr>
            </a:pPr>
            <a:r>
              <a:t>  Searching garments by category or formality performs full scans (O(N) latency), causing latency spikes as user wardrobes grow.</a:t>
            </a:r>
            <a:br/>
            <a:endParaRPr/>
          </a:p>
          <a:p>
            <a:pPr>
              <a:defRPr sz="1100" b="1">
                <a:solidFill>
                  <a:srgbClr val="8CCDC3"/>
                </a:solidFill>
                <a:latin typeface="Arial"/>
              </a:defRPr>
            </a:pPr>
            <a:r>
              <a:t>• Orphaned Records &amp; Broken Integrity: </a:t>
            </a:r>
          </a:p>
          <a:p>
            <a:pPr>
              <a:defRPr sz="1000">
                <a:solidFill>
                  <a:srgbClr val="E6F5F2"/>
                </a:solidFill>
                <a:latin typeface="Arial"/>
              </a:defRPr>
            </a:pPr>
            <a:r>
              <a:t>  Deleting a garment or user fails to cascade, leaving dangling foreign keys in outfit assemblies and render queues.</a:t>
            </a:r>
            <a:br/>
            <a:endParaRPr/>
          </a:p>
        </p:txBody>
      </p:sp>
      <p:sp>
        <p:nvSpPr>
          <p:cNvPr id="9" name="TextBox 8"/>
          <p:cNvSpPr txBox="1"/>
          <p:nvPr/>
        </p:nvSpPr>
        <p:spPr>
          <a:xfrm>
            <a:off x="6217920" y="1371600"/>
            <a:ext cx="5303520" cy="365760"/>
          </a:xfrm>
          <a:prstGeom prst="rect">
            <a:avLst/>
          </a:prstGeom>
          <a:noFill/>
        </p:spPr>
        <p:txBody>
          <a:bodyPr wrap="none">
            <a:spAutoFit/>
          </a:bodyPr>
          <a:lstStyle/>
          <a:p>
            <a:pPr>
              <a:defRPr sz="1600" b="1">
                <a:solidFill>
                  <a:srgbClr val="FFFFFF"/>
                </a:solidFill>
                <a:latin typeface="Georgia"/>
              </a:defRPr>
            </a:pPr>
            <a:r>
              <a:t>Proposed Methodology</a:t>
            </a:r>
          </a:p>
        </p:txBody>
      </p:sp>
      <p:sp>
        <p:nvSpPr>
          <p:cNvPr id="10" name="Rounded Rectangle 9"/>
          <p:cNvSpPr/>
          <p:nvPr/>
        </p:nvSpPr>
        <p:spPr>
          <a:xfrm>
            <a:off x="6217920" y="1874519"/>
            <a:ext cx="5303520" cy="9601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1947671"/>
            <a:ext cx="411480" cy="731520"/>
          </a:xfrm>
          <a:prstGeom prst="rect">
            <a:avLst/>
          </a:prstGeom>
          <a:noFill/>
        </p:spPr>
        <p:txBody>
          <a:bodyPr wrap="none">
            <a:spAutoFit/>
          </a:bodyPr>
          <a:lstStyle/>
          <a:p>
            <a:pPr algn="ctr">
              <a:defRPr sz="2000" b="1">
                <a:solidFill>
                  <a:srgbClr val="FFFFFF"/>
                </a:solidFill>
                <a:latin typeface="Georgia"/>
              </a:defRPr>
            </a:pPr>
            <a:r>
              <a:t>1</a:t>
            </a:r>
          </a:p>
        </p:txBody>
      </p:sp>
      <p:sp>
        <p:nvSpPr>
          <p:cNvPr id="12" name="TextBox 11"/>
          <p:cNvSpPr txBox="1"/>
          <p:nvPr/>
        </p:nvSpPr>
        <p:spPr>
          <a:xfrm>
            <a:off x="6812280" y="1920239"/>
            <a:ext cx="4572000" cy="868680"/>
          </a:xfrm>
          <a:prstGeom prst="rect">
            <a:avLst/>
          </a:prstGeom>
          <a:noFill/>
        </p:spPr>
        <p:txBody>
          <a:bodyPr wrap="square">
            <a:spAutoFit/>
          </a:bodyPr>
          <a:lstStyle/>
          <a:p>
            <a:pPr>
              <a:defRPr sz="950">
                <a:solidFill>
                  <a:srgbClr val="FFFFFF"/>
                </a:solidFill>
                <a:latin typeface="Arial"/>
              </a:defRPr>
            </a:pPr>
            <a:r>
              <a:t>Step 1 — Requirement Analysis &amp; Conceptual ER Modeling: Identify entities (User, Garment, Outfit, RenderJob), define cardinalities (1:N), and establish primary key domains.</a:t>
            </a:r>
          </a:p>
        </p:txBody>
      </p:sp>
      <p:sp>
        <p:nvSpPr>
          <p:cNvPr id="13" name="Rounded Rectangle 12"/>
          <p:cNvSpPr/>
          <p:nvPr/>
        </p:nvSpPr>
        <p:spPr>
          <a:xfrm>
            <a:off x="6217920" y="2990087"/>
            <a:ext cx="5303520" cy="9601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3063239"/>
            <a:ext cx="411480" cy="731520"/>
          </a:xfrm>
          <a:prstGeom prst="rect">
            <a:avLst/>
          </a:prstGeom>
          <a:noFill/>
        </p:spPr>
        <p:txBody>
          <a:bodyPr wrap="none">
            <a:spAutoFit/>
          </a:bodyPr>
          <a:lstStyle/>
          <a:p>
            <a:pPr algn="ctr">
              <a:defRPr sz="2000" b="1">
                <a:solidFill>
                  <a:srgbClr val="FFFFFF"/>
                </a:solidFill>
                <a:latin typeface="Georgia"/>
              </a:defRPr>
            </a:pPr>
            <a:r>
              <a:t>2</a:t>
            </a:r>
          </a:p>
        </p:txBody>
      </p:sp>
      <p:sp>
        <p:nvSpPr>
          <p:cNvPr id="15" name="TextBox 14"/>
          <p:cNvSpPr txBox="1"/>
          <p:nvPr/>
        </p:nvSpPr>
        <p:spPr>
          <a:xfrm>
            <a:off x="6812280" y="3035807"/>
            <a:ext cx="4572000" cy="868680"/>
          </a:xfrm>
          <a:prstGeom prst="rect">
            <a:avLst/>
          </a:prstGeom>
          <a:noFill/>
        </p:spPr>
        <p:txBody>
          <a:bodyPr wrap="square">
            <a:spAutoFit/>
          </a:bodyPr>
          <a:lstStyle/>
          <a:p>
            <a:pPr>
              <a:defRPr sz="950">
                <a:solidFill>
                  <a:srgbClr val="FFFFFF"/>
                </a:solidFill>
                <a:latin typeface="Arial"/>
              </a:defRPr>
            </a:pPr>
            <a:r>
              <a:t>Step 2 — Logical Schema &amp; 3NF Normalization: Decompose entities to Third Normal Form (3NF), eliminate insertion/deletion anomalies, and specify Foreign Keys with ON DELETE CASCADE.</a:t>
            </a:r>
          </a:p>
        </p:txBody>
      </p:sp>
      <p:sp>
        <p:nvSpPr>
          <p:cNvPr id="16" name="Rounded Rectangle 15"/>
          <p:cNvSpPr/>
          <p:nvPr/>
        </p:nvSpPr>
        <p:spPr>
          <a:xfrm>
            <a:off x="6217920" y="4105656"/>
            <a:ext cx="5303520" cy="9601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4178808"/>
            <a:ext cx="411480" cy="731520"/>
          </a:xfrm>
          <a:prstGeom prst="rect">
            <a:avLst/>
          </a:prstGeom>
          <a:noFill/>
        </p:spPr>
        <p:txBody>
          <a:bodyPr wrap="none">
            <a:spAutoFit/>
          </a:bodyPr>
          <a:lstStyle/>
          <a:p>
            <a:pPr algn="ctr">
              <a:defRPr sz="2000" b="1">
                <a:solidFill>
                  <a:srgbClr val="FFFFFF"/>
                </a:solidFill>
                <a:latin typeface="Georgia"/>
              </a:defRPr>
            </a:pPr>
            <a:r>
              <a:t>3</a:t>
            </a:r>
          </a:p>
        </p:txBody>
      </p:sp>
      <p:sp>
        <p:nvSpPr>
          <p:cNvPr id="18" name="TextBox 17"/>
          <p:cNvSpPr txBox="1"/>
          <p:nvPr/>
        </p:nvSpPr>
        <p:spPr>
          <a:xfrm>
            <a:off x="6812280" y="4151376"/>
            <a:ext cx="4572000" cy="868680"/>
          </a:xfrm>
          <a:prstGeom prst="rect">
            <a:avLst/>
          </a:prstGeom>
          <a:noFill/>
        </p:spPr>
        <p:txBody>
          <a:bodyPr wrap="square">
            <a:spAutoFit/>
          </a:bodyPr>
          <a:lstStyle/>
          <a:p>
            <a:pPr>
              <a:defRPr sz="950">
                <a:solidFill>
                  <a:srgbClr val="FFFFFF"/>
                </a:solidFill>
                <a:latin typeface="Arial"/>
              </a:defRPr>
            </a:pPr>
            <a:r>
              <a:t>Step 3 — ACID Transactional Layer &amp; ORM Mapping: Implement SQLAlchemy 2.0 ORM sessions with atomic commit/rollback mechanisms, connection pooling, and hybrid JSON columns.</a:t>
            </a:r>
          </a:p>
        </p:txBody>
      </p:sp>
      <p:sp>
        <p:nvSpPr>
          <p:cNvPr id="19" name="Rounded Rectangle 18"/>
          <p:cNvSpPr/>
          <p:nvPr/>
        </p:nvSpPr>
        <p:spPr>
          <a:xfrm>
            <a:off x="6217920" y="5221224"/>
            <a:ext cx="5303520" cy="9601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5294376"/>
            <a:ext cx="411480" cy="731520"/>
          </a:xfrm>
          <a:prstGeom prst="rect">
            <a:avLst/>
          </a:prstGeom>
          <a:noFill/>
        </p:spPr>
        <p:txBody>
          <a:bodyPr wrap="none">
            <a:spAutoFit/>
          </a:bodyPr>
          <a:lstStyle/>
          <a:p>
            <a:pPr algn="ctr">
              <a:defRPr sz="2000" b="1">
                <a:solidFill>
                  <a:srgbClr val="FFFFFF"/>
                </a:solidFill>
                <a:latin typeface="Georgia"/>
              </a:defRPr>
            </a:pPr>
            <a:r>
              <a:t>4</a:t>
            </a:r>
          </a:p>
        </p:txBody>
      </p:sp>
      <p:sp>
        <p:nvSpPr>
          <p:cNvPr id="21" name="TextBox 20"/>
          <p:cNvSpPr txBox="1"/>
          <p:nvPr/>
        </p:nvSpPr>
        <p:spPr>
          <a:xfrm>
            <a:off x="6812280" y="5266944"/>
            <a:ext cx="4572000" cy="868680"/>
          </a:xfrm>
          <a:prstGeom prst="rect">
            <a:avLst/>
          </a:prstGeom>
          <a:noFill/>
        </p:spPr>
        <p:txBody>
          <a:bodyPr wrap="square">
            <a:spAutoFit/>
          </a:bodyPr>
          <a:lstStyle/>
          <a:p>
            <a:pPr>
              <a:defRPr sz="950">
                <a:solidFill>
                  <a:srgbClr val="FFFFFF"/>
                </a:solidFill>
                <a:latin typeface="Arial"/>
              </a:defRPr>
            </a:pPr>
            <a:r>
              <a:t>Step 4 — Index Optimization &amp; State Lifecycle Tracking: Construct B-Tree indexes on user_id, category, and outfit_id; implement render job state machine with transactional audits.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03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
            <a:ext cx="10972800" cy="502920"/>
          </a:xfrm>
          <a:prstGeom prst="rect">
            <a:avLst/>
          </a:prstGeom>
          <a:noFill/>
        </p:spPr>
        <p:txBody>
          <a:bodyPr wrap="square">
            <a:spAutoFit/>
          </a:bodyPr>
          <a:lstStyle/>
          <a:p>
            <a:pPr>
              <a:defRPr sz="2400" b="1">
                <a:solidFill>
                  <a:srgbClr val="FFFFFF"/>
                </a:solidFill>
                <a:latin typeface="Georgia"/>
              </a:defRPr>
            </a:pPr>
            <a:r>
              <a:t>Flow Chart / Working Process</a:t>
            </a:r>
          </a:p>
          <a:p>
            <a:pPr>
              <a:defRPr sz="1200">
                <a:solidFill>
                  <a:srgbClr val="8CCDC3"/>
                </a:solidFill>
                <a:latin typeface="Arial"/>
              </a:defRPr>
            </a:pPr>
            <a:r>
              <a:t>Database transaction lifecycle, relational querying, and asynchronous state transitions</a:t>
            </a:r>
          </a:p>
        </p:txBody>
      </p:sp>
      <p:sp>
        <p:nvSpPr>
          <p:cNvPr id="5" name="TextBox 4"/>
          <p:cNvSpPr txBox="1"/>
          <p:nvPr/>
        </p:nvSpPr>
        <p:spPr>
          <a:xfrm>
            <a:off x="548640" y="6446520"/>
            <a:ext cx="10972800" cy="274320"/>
          </a:xfrm>
          <a:prstGeom prst="rect">
            <a:avLst/>
          </a:prstGeom>
          <a:noFill/>
        </p:spPr>
        <p:txBody>
          <a:bodyPr wrap="none">
            <a:spAutoFit/>
          </a:bodyPr>
          <a:lstStyle/>
          <a:p>
            <a:pPr>
              <a:defRPr sz="900">
                <a:solidFill>
                  <a:srgbClr val="8CCDC3"/>
                </a:solidFill>
                <a:latin typeface="Arial"/>
              </a:defRPr>
            </a:pPr>
            <a:r>
              <a:t>DBMS Minor Project Presentation</a:t>
            </a:r>
          </a:p>
        </p:txBody>
      </p:sp>
      <p:sp>
        <p:nvSpPr>
          <p:cNvPr id="6" name="TextBox 5"/>
          <p:cNvSpPr txBox="1"/>
          <p:nvPr/>
        </p:nvSpPr>
        <p:spPr>
          <a:xfrm>
            <a:off x="11155680" y="6446520"/>
            <a:ext cx="548640" cy="274320"/>
          </a:xfrm>
          <a:prstGeom prst="rect">
            <a:avLst/>
          </a:prstGeom>
          <a:noFill/>
        </p:spPr>
        <p:txBody>
          <a:bodyPr wrap="none">
            <a:spAutoFit/>
          </a:bodyPr>
          <a:lstStyle/>
          <a:p>
            <a:pPr algn="r">
              <a:defRPr sz="900">
                <a:solidFill>
                  <a:srgbClr val="8CCDC3"/>
                </a:solidFill>
                <a:latin typeface="Arial"/>
              </a:defRPr>
            </a:pPr>
            <a:r>
              <a:t>4</a:t>
            </a:r>
          </a:p>
        </p:txBody>
      </p:sp>
      <p:sp>
        <p:nvSpPr>
          <p:cNvPr id="7" name="Rounded Rectangle 6"/>
          <p:cNvSpPr/>
          <p:nvPr/>
        </p:nvSpPr>
        <p:spPr>
          <a:xfrm>
            <a:off x="548640" y="1371600"/>
            <a:ext cx="11094415" cy="4846320"/>
          </a:xfrm>
          <a:prstGeom prst="roundRect">
            <a:avLst/>
          </a:prstGeom>
          <a:solidFill>
            <a:srgbClr val="E4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691639"/>
            <a:ext cx="3291840" cy="4389983"/>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1100" b="1">
                <a:solidFill>
                  <a:srgbClr val="FFFFFF"/>
                </a:solidFill>
                <a:latin typeface="Arial"/>
              </a:defRPr>
            </a:pPr>
            <a:r>
              <a:t>STAGE 1: Ingestion &amp; ACID Writes</a:t>
            </a:r>
          </a:p>
        </p:txBody>
      </p:sp>
      <p:graphicFrame>
        <p:nvGraphicFramePr>
          <p:cNvPr id="16" name="Diagram 15">
            <a:extLst>
              <a:ext uri="{FF2B5EF4-FFF2-40B4-BE49-F238E27FC236}">
                <a16:creationId xmlns:a16="http://schemas.microsoft.com/office/drawing/2014/main" id="{B9237D61-981E-8739-C58D-1CB6072A4925}"/>
              </a:ext>
            </a:extLst>
          </p:cNvPr>
          <p:cNvGraphicFramePr/>
          <p:nvPr>
            <p:extLst>
              <p:ext uri="{D42A27DB-BD31-4B8C-83A1-F6EECF244321}">
                <p14:modId xmlns:p14="http://schemas.microsoft.com/office/powerpoint/2010/main" val="1306702548"/>
              </p:ext>
            </p:extLst>
          </p:nvPr>
        </p:nvGraphicFramePr>
        <p:xfrm>
          <a:off x="914400" y="2331720"/>
          <a:ext cx="329184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ounded Rectangle 9"/>
          <p:cNvSpPr/>
          <p:nvPr/>
        </p:nvSpPr>
        <p:spPr>
          <a:xfrm>
            <a:off x="4480560" y="1691639"/>
            <a:ext cx="3291840" cy="4389983"/>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1100" b="1">
                <a:solidFill>
                  <a:srgbClr val="FFFFFF"/>
                </a:solidFill>
                <a:latin typeface="Arial"/>
              </a:defRPr>
            </a:pPr>
            <a:r>
              <a:t>STAGE 2: Relational Queries &amp; Joins</a:t>
            </a:r>
          </a:p>
        </p:txBody>
      </p:sp>
      <p:graphicFrame>
        <p:nvGraphicFramePr>
          <p:cNvPr id="17" name="Diagram 16">
            <a:extLst>
              <a:ext uri="{FF2B5EF4-FFF2-40B4-BE49-F238E27FC236}">
                <a16:creationId xmlns:a16="http://schemas.microsoft.com/office/drawing/2014/main" id="{ADB92EE5-D952-5DA8-27CA-86074FEFAFEB}"/>
              </a:ext>
            </a:extLst>
          </p:cNvPr>
          <p:cNvGraphicFramePr/>
          <p:nvPr>
            <p:extLst>
              <p:ext uri="{D42A27DB-BD31-4B8C-83A1-F6EECF244321}">
                <p14:modId xmlns:p14="http://schemas.microsoft.com/office/powerpoint/2010/main" val="3458051677"/>
              </p:ext>
            </p:extLst>
          </p:nvPr>
        </p:nvGraphicFramePr>
        <p:xfrm>
          <a:off x="4480560" y="2331720"/>
          <a:ext cx="3291840" cy="35661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Rounded Rectangle 11"/>
          <p:cNvSpPr/>
          <p:nvPr/>
        </p:nvSpPr>
        <p:spPr>
          <a:xfrm>
            <a:off x="8046720" y="1691639"/>
            <a:ext cx="3291840" cy="4389983"/>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defRPr sz="1100" b="1">
                <a:solidFill>
                  <a:srgbClr val="FFFFFF"/>
                </a:solidFill>
                <a:latin typeface="Arial"/>
              </a:defRPr>
            </a:pPr>
            <a:r>
              <a:t>STAGE 3: Asynchronous State Machine</a:t>
            </a:r>
          </a:p>
        </p:txBody>
      </p:sp>
      <p:graphicFrame>
        <p:nvGraphicFramePr>
          <p:cNvPr id="18" name="Diagram 17">
            <a:extLst>
              <a:ext uri="{FF2B5EF4-FFF2-40B4-BE49-F238E27FC236}">
                <a16:creationId xmlns:a16="http://schemas.microsoft.com/office/drawing/2014/main" id="{82B69F8D-3B53-BD86-7698-89455FBB46B7}"/>
              </a:ext>
            </a:extLst>
          </p:cNvPr>
          <p:cNvGraphicFramePr/>
          <p:nvPr>
            <p:extLst>
              <p:ext uri="{D42A27DB-BD31-4B8C-83A1-F6EECF244321}">
                <p14:modId xmlns:p14="http://schemas.microsoft.com/office/powerpoint/2010/main" val="2265561184"/>
              </p:ext>
            </p:extLst>
          </p:nvPr>
        </p:nvGraphicFramePr>
        <p:xfrm>
          <a:off x="8046720" y="2331720"/>
          <a:ext cx="3291840" cy="356616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4" name="Right Arrow 13"/>
          <p:cNvSpPr/>
          <p:nvPr/>
        </p:nvSpPr>
        <p:spPr>
          <a:xfrm>
            <a:off x="4251960" y="1828800"/>
            <a:ext cx="182880" cy="228600"/>
          </a:xfrm>
          <a:prstGeom prst="rightArrow">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7818120" y="1828800"/>
            <a:ext cx="182880" cy="228600"/>
          </a:xfrm>
          <a:prstGeom prst="rightArrow">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03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
            <a:ext cx="10972800" cy="502920"/>
          </a:xfrm>
          <a:prstGeom prst="rect">
            <a:avLst/>
          </a:prstGeom>
          <a:noFill/>
        </p:spPr>
        <p:txBody>
          <a:bodyPr wrap="square">
            <a:spAutoFit/>
          </a:bodyPr>
          <a:lstStyle/>
          <a:p>
            <a:pPr>
              <a:defRPr sz="2400" b="1">
                <a:solidFill>
                  <a:srgbClr val="FFFFFF"/>
                </a:solidFill>
                <a:latin typeface="Georgia"/>
              </a:defRPr>
            </a:pPr>
            <a:r>
              <a:t>Technology Stack &amp; Implementation</a:t>
            </a:r>
          </a:p>
          <a:p>
            <a:pPr>
              <a:defRPr sz="1200">
                <a:solidFill>
                  <a:srgbClr val="8CCDC3"/>
                </a:solidFill>
                <a:latin typeface="Arial"/>
              </a:defRPr>
            </a:pPr>
            <a:r>
              <a:t>DBMS engines, ORM architecture, and relational schema implementation</a:t>
            </a:r>
          </a:p>
        </p:txBody>
      </p:sp>
      <p:sp>
        <p:nvSpPr>
          <p:cNvPr id="5" name="TextBox 4"/>
          <p:cNvSpPr txBox="1"/>
          <p:nvPr/>
        </p:nvSpPr>
        <p:spPr>
          <a:xfrm>
            <a:off x="548640" y="6446520"/>
            <a:ext cx="10972800" cy="274320"/>
          </a:xfrm>
          <a:prstGeom prst="rect">
            <a:avLst/>
          </a:prstGeom>
          <a:noFill/>
        </p:spPr>
        <p:txBody>
          <a:bodyPr wrap="none">
            <a:spAutoFit/>
          </a:bodyPr>
          <a:lstStyle/>
          <a:p>
            <a:pPr>
              <a:defRPr sz="900">
                <a:solidFill>
                  <a:srgbClr val="8CCDC3"/>
                </a:solidFill>
                <a:latin typeface="Arial"/>
              </a:defRPr>
            </a:pPr>
            <a:r>
              <a:t>DBMS Minor Project Presentation</a:t>
            </a:r>
          </a:p>
        </p:txBody>
      </p:sp>
      <p:sp>
        <p:nvSpPr>
          <p:cNvPr id="6" name="TextBox 5"/>
          <p:cNvSpPr txBox="1"/>
          <p:nvPr/>
        </p:nvSpPr>
        <p:spPr>
          <a:xfrm>
            <a:off x="11155680" y="6446520"/>
            <a:ext cx="548640" cy="274320"/>
          </a:xfrm>
          <a:prstGeom prst="rect">
            <a:avLst/>
          </a:prstGeom>
          <a:noFill/>
        </p:spPr>
        <p:txBody>
          <a:bodyPr wrap="none">
            <a:spAutoFit/>
          </a:bodyPr>
          <a:lstStyle/>
          <a:p>
            <a:pPr algn="r">
              <a:defRPr sz="900">
                <a:solidFill>
                  <a:srgbClr val="8CCDC3"/>
                </a:solidFill>
                <a:latin typeface="Arial"/>
              </a:defRPr>
            </a:pPr>
            <a:r>
              <a:t>5</a:t>
            </a:r>
          </a:p>
        </p:txBody>
      </p:sp>
      <p:sp>
        <p:nvSpPr>
          <p:cNvPr id="7" name="Rounded Rectangle 6"/>
          <p:cNvSpPr/>
          <p:nvPr/>
        </p:nvSpPr>
        <p:spPr>
          <a:xfrm>
            <a:off x="548640" y="1371600"/>
            <a:ext cx="5303520" cy="841248"/>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08176"/>
            <a:ext cx="5029200" cy="777240"/>
          </a:xfrm>
          <a:prstGeom prst="rect">
            <a:avLst/>
          </a:prstGeom>
          <a:noFill/>
        </p:spPr>
        <p:txBody>
          <a:bodyPr wrap="square">
            <a:spAutoFit/>
          </a:bodyPr>
          <a:lstStyle/>
          <a:p>
            <a:pPr>
              <a:defRPr sz="1200" b="1">
                <a:solidFill>
                  <a:srgbClr val="FFFFFF"/>
                </a:solidFill>
                <a:latin typeface="Georgia"/>
              </a:defRPr>
            </a:pPr>
            <a:r>
              <a:t>Database Engines</a:t>
            </a:r>
          </a:p>
          <a:p>
            <a:pPr>
              <a:defRPr sz="950">
                <a:solidFill>
                  <a:srgbClr val="E6F5F2"/>
                </a:solidFill>
                <a:latin typeface="Arial"/>
              </a:defRPr>
            </a:pPr>
            <a:r>
              <a:t>SQLite 3 (Embedded ACID RDBMS for local dev), PostgreSQL 16 (Production Target)</a:t>
            </a:r>
          </a:p>
        </p:txBody>
      </p:sp>
      <p:sp>
        <p:nvSpPr>
          <p:cNvPr id="9" name="Rounded Rectangle 8"/>
          <p:cNvSpPr/>
          <p:nvPr/>
        </p:nvSpPr>
        <p:spPr>
          <a:xfrm>
            <a:off x="548640" y="2331720"/>
            <a:ext cx="5303520" cy="841248"/>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368296"/>
            <a:ext cx="5029200" cy="777240"/>
          </a:xfrm>
          <a:prstGeom prst="rect">
            <a:avLst/>
          </a:prstGeom>
          <a:noFill/>
        </p:spPr>
        <p:txBody>
          <a:bodyPr wrap="square">
            <a:spAutoFit/>
          </a:bodyPr>
          <a:lstStyle/>
          <a:p>
            <a:pPr>
              <a:defRPr sz="1200" b="1">
                <a:solidFill>
                  <a:srgbClr val="FFFFFF"/>
                </a:solidFill>
                <a:latin typeface="Georgia"/>
              </a:defRPr>
            </a:pPr>
            <a:r>
              <a:t>Data Access &amp; ORM</a:t>
            </a:r>
          </a:p>
          <a:p>
            <a:pPr>
              <a:defRPr sz="950">
                <a:solidFill>
                  <a:srgbClr val="E6F5F2"/>
                </a:solidFill>
                <a:latin typeface="Arial"/>
              </a:defRPr>
            </a:pPr>
            <a:r>
              <a:t>SQLAlchemy 2.0 (ORM &amp; Core Expression Language), Pydantic v2 (Data Validation)</a:t>
            </a:r>
          </a:p>
        </p:txBody>
      </p:sp>
      <p:sp>
        <p:nvSpPr>
          <p:cNvPr id="11" name="Rounded Rectangle 10"/>
          <p:cNvSpPr/>
          <p:nvPr/>
        </p:nvSpPr>
        <p:spPr>
          <a:xfrm>
            <a:off x="548640" y="3291840"/>
            <a:ext cx="5303520" cy="841248"/>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328416"/>
            <a:ext cx="5029200" cy="777240"/>
          </a:xfrm>
          <a:prstGeom prst="rect">
            <a:avLst/>
          </a:prstGeom>
          <a:noFill/>
        </p:spPr>
        <p:txBody>
          <a:bodyPr wrap="square">
            <a:spAutoFit/>
          </a:bodyPr>
          <a:lstStyle/>
          <a:p>
            <a:pPr>
              <a:defRPr sz="1200" b="1">
                <a:solidFill>
                  <a:srgbClr val="FFFFFF"/>
                </a:solidFill>
                <a:latin typeface="Georgia"/>
              </a:defRPr>
            </a:pPr>
            <a:r>
              <a:t>Database Features</a:t>
            </a:r>
          </a:p>
          <a:p>
            <a:pPr>
              <a:defRPr sz="950">
                <a:solidFill>
                  <a:srgbClr val="E6F5F2"/>
                </a:solidFill>
                <a:latin typeface="Arial"/>
              </a:defRPr>
            </a:pPr>
            <a:r>
              <a:t>3NF Schema, Primary Keys (UUID/GUID), Foreign Keys (CASCADE / SET NULL), B-Tree Indexes</a:t>
            </a:r>
          </a:p>
        </p:txBody>
      </p:sp>
      <p:sp>
        <p:nvSpPr>
          <p:cNvPr id="13" name="Rounded Rectangle 12"/>
          <p:cNvSpPr/>
          <p:nvPr/>
        </p:nvSpPr>
        <p:spPr>
          <a:xfrm>
            <a:off x="548640" y="4251960"/>
            <a:ext cx="5303520" cy="841248"/>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4288536"/>
            <a:ext cx="5029200" cy="777240"/>
          </a:xfrm>
          <a:prstGeom prst="rect">
            <a:avLst/>
          </a:prstGeom>
          <a:noFill/>
        </p:spPr>
        <p:txBody>
          <a:bodyPr wrap="square">
            <a:spAutoFit/>
          </a:bodyPr>
          <a:lstStyle/>
          <a:p>
            <a:pPr>
              <a:defRPr sz="1200" b="1">
                <a:solidFill>
                  <a:srgbClr val="FFFFFF"/>
                </a:solidFill>
                <a:latin typeface="Georgia"/>
              </a:defRPr>
            </a:pPr>
            <a:r>
              <a:t>Backend &amp; API Layer</a:t>
            </a:r>
          </a:p>
          <a:p>
            <a:pPr>
              <a:defRPr sz="950">
                <a:solidFill>
                  <a:srgbClr val="E6F5F2"/>
                </a:solidFill>
                <a:latin typeface="Arial"/>
              </a:defRPr>
            </a:pPr>
            <a:r>
              <a:t>FastAPI (Asynchronous REST API, Dependency-Injected DB Sessions, Connection Pooling)</a:t>
            </a:r>
          </a:p>
        </p:txBody>
      </p:sp>
      <p:sp>
        <p:nvSpPr>
          <p:cNvPr id="15" name="Rounded Rectangle 14"/>
          <p:cNvSpPr/>
          <p:nvPr/>
        </p:nvSpPr>
        <p:spPr>
          <a:xfrm>
            <a:off x="548640" y="5212080"/>
            <a:ext cx="5303520" cy="841248"/>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5248656"/>
            <a:ext cx="5029200" cy="777240"/>
          </a:xfrm>
          <a:prstGeom prst="rect">
            <a:avLst/>
          </a:prstGeom>
          <a:noFill/>
        </p:spPr>
        <p:txBody>
          <a:bodyPr wrap="square">
            <a:spAutoFit/>
          </a:bodyPr>
          <a:lstStyle/>
          <a:p>
            <a:pPr>
              <a:defRPr sz="1200" b="1">
                <a:solidFill>
                  <a:srgbClr val="FFFFFF"/>
                </a:solidFill>
                <a:latin typeface="Georgia"/>
              </a:defRPr>
            </a:pPr>
            <a:r>
              <a:t>Tools / Administration</a:t>
            </a:r>
          </a:p>
          <a:p>
            <a:pPr>
              <a:defRPr sz="950">
                <a:solidFill>
                  <a:srgbClr val="E6F5F2"/>
                </a:solidFill>
                <a:latin typeface="Arial"/>
              </a:defRPr>
            </a:pPr>
            <a:r>
              <a:t>DB Browser for SQLite, DBeaver, Alembic (Migration Engine), Git &amp; GitHub</a:t>
            </a:r>
          </a:p>
        </p:txBody>
      </p:sp>
      <p:sp>
        <p:nvSpPr>
          <p:cNvPr id="17" name="TextBox 16"/>
          <p:cNvSpPr txBox="1"/>
          <p:nvPr/>
        </p:nvSpPr>
        <p:spPr>
          <a:xfrm>
            <a:off x="6217920" y="1280160"/>
            <a:ext cx="5303520" cy="320040"/>
          </a:xfrm>
          <a:prstGeom prst="rect">
            <a:avLst/>
          </a:prstGeom>
          <a:noFill/>
        </p:spPr>
        <p:txBody>
          <a:bodyPr wrap="none">
            <a:spAutoFit/>
          </a:bodyPr>
          <a:lstStyle/>
          <a:p>
            <a:pPr>
              <a:defRPr sz="1600" b="1">
                <a:solidFill>
                  <a:srgbClr val="FFFFFF"/>
                </a:solidFill>
                <a:latin typeface="Georgia"/>
              </a:defRPr>
            </a:pPr>
            <a:r>
              <a:t>Key DBMS Modules</a:t>
            </a:r>
          </a:p>
        </p:txBody>
      </p:sp>
      <p:sp>
        <p:nvSpPr>
          <p:cNvPr id="18" name="TextBox 17"/>
          <p:cNvSpPr txBox="1"/>
          <p:nvPr/>
        </p:nvSpPr>
        <p:spPr>
          <a:xfrm>
            <a:off x="6217920" y="1645920"/>
            <a:ext cx="5303520" cy="2468880"/>
          </a:xfrm>
          <a:prstGeom prst="rect">
            <a:avLst/>
          </a:prstGeom>
          <a:noFill/>
        </p:spPr>
        <p:txBody>
          <a:bodyPr wrap="square">
            <a:spAutoFit/>
          </a:bodyPr>
          <a:lstStyle/>
          <a:p>
            <a:pPr>
              <a:defRPr sz="1000" b="1">
                <a:solidFill>
                  <a:srgbClr val="8CCDC3"/>
                </a:solidFill>
                <a:latin typeface="Arial"/>
              </a:defRPr>
            </a:pPr>
            <a:r>
              <a:t>• Module 1 — 3NF Relational Schema: </a:t>
            </a:r>
          </a:p>
          <a:p>
            <a:pPr>
              <a:defRPr sz="950">
                <a:solidFill>
                  <a:srgbClr val="E6F5F2"/>
                </a:solidFill>
                <a:latin typeface="Arial"/>
              </a:defRPr>
            </a:pPr>
            <a:r>
              <a:t>  Normalized models for Users, Garments, Outfits, and RenderJobs with typed UUID keys.</a:t>
            </a:r>
          </a:p>
          <a:p>
            <a:pPr>
              <a:defRPr sz="1000" b="1">
                <a:solidFill>
                  <a:srgbClr val="8CCDC3"/>
                </a:solidFill>
                <a:latin typeface="Arial"/>
              </a:defRPr>
            </a:pPr>
            <a:r>
              <a:t>• Module 2 — Transactional Session Layer: </a:t>
            </a:r>
          </a:p>
          <a:p>
            <a:pPr>
              <a:defRPr sz="950">
                <a:solidFill>
                  <a:srgbClr val="E6F5F2"/>
                </a:solidFill>
                <a:latin typeface="Arial"/>
              </a:defRPr>
            </a:pPr>
            <a:r>
              <a:t>  FastAPI get_db dependency yielding scoped sessions with automatic commit and rollback.</a:t>
            </a:r>
          </a:p>
          <a:p>
            <a:pPr>
              <a:defRPr sz="1000" b="1">
                <a:solidFill>
                  <a:srgbClr val="8CCDC3"/>
                </a:solidFill>
                <a:latin typeface="Arial"/>
              </a:defRPr>
            </a:pPr>
            <a:r>
              <a:t>• Module 3 — Referential Integrity &amp; Cascades: </a:t>
            </a:r>
          </a:p>
          <a:p>
            <a:pPr>
              <a:defRPr sz="950">
                <a:solidFill>
                  <a:srgbClr val="E6F5F2"/>
                </a:solidFill>
                <a:latin typeface="Arial"/>
              </a:defRPr>
            </a:pPr>
            <a:r>
              <a:t>  Enforces ON DELETE CASCADE on user/garment links, preventing orphaned records.</a:t>
            </a:r>
          </a:p>
          <a:p>
            <a:pPr>
              <a:defRPr sz="1000" b="1">
                <a:solidFill>
                  <a:srgbClr val="8CCDC3"/>
                </a:solidFill>
                <a:latin typeface="Arial"/>
              </a:defRPr>
            </a:pPr>
            <a:r>
              <a:t>• Module 4 — B-Tree Index Optimization: </a:t>
            </a:r>
          </a:p>
          <a:p>
            <a:pPr>
              <a:defRPr sz="950">
                <a:solidFill>
                  <a:srgbClr val="E6F5F2"/>
                </a:solidFill>
                <a:latin typeface="Arial"/>
              </a:defRPr>
            </a:pPr>
            <a:r>
              <a:t>  Secondary indexes on user_id, category, and email ensuring sub-millisecond query execution.</a:t>
            </a:r>
          </a:p>
        </p:txBody>
      </p:sp>
      <p:sp>
        <p:nvSpPr>
          <p:cNvPr id="19" name="Rounded Rectangle 18"/>
          <p:cNvSpPr/>
          <p:nvPr/>
        </p:nvSpPr>
        <p:spPr>
          <a:xfrm>
            <a:off x="6217920" y="4160520"/>
            <a:ext cx="5303520" cy="2148840"/>
          </a:xfrm>
          <a:prstGeom prst="roundRect">
            <a:avLst/>
          </a:prstGeom>
          <a:solidFill>
            <a:srgbClr val="0C2D2D"/>
          </a:solidFill>
          <a:ln>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55080" y="4206240"/>
            <a:ext cx="5029200" cy="2011680"/>
          </a:xfrm>
          <a:prstGeom prst="rect">
            <a:avLst/>
          </a:prstGeom>
          <a:noFill/>
        </p:spPr>
        <p:txBody>
          <a:bodyPr wrap="square">
            <a:spAutoFit/>
          </a:bodyPr>
          <a:lstStyle/>
          <a:p>
            <a:pPr>
              <a:defRPr sz="900">
                <a:solidFill>
                  <a:srgbClr val="00A896"/>
                </a:solidFill>
                <a:latin typeface="Consolas"/>
              </a:defRPr>
            </a:pPr>
            <a:r>
              <a:t>-- Relational DDL &amp; ACID Unit of Work Implementation</a:t>
            </a:r>
          </a:p>
          <a:p>
            <a:pPr>
              <a:defRPr sz="850">
                <a:solidFill>
                  <a:srgbClr val="E6F5F2"/>
                </a:solidFill>
                <a:latin typeface="Consolas"/>
              </a:defRPr>
            </a:pPr>
            <a:r>
              <a:t>CREATE TABLE garments (</a:t>
            </a:r>
          </a:p>
          <a:p>
            <a:pPr>
              <a:defRPr sz="850">
                <a:solidFill>
                  <a:srgbClr val="E6F5F2"/>
                </a:solidFill>
                <a:latin typeface="Consolas"/>
              </a:defRPr>
            </a:pPr>
            <a:r>
              <a:t>  id CHAR(36) PRIMARY KEY, category VARCHAR NOT NULL,</a:t>
            </a:r>
          </a:p>
          <a:p>
            <a:pPr>
              <a:defRPr sz="850">
                <a:solidFill>
                  <a:srgbClr val="E6F5F2"/>
                </a:solidFill>
                <a:latin typeface="Consolas"/>
              </a:defRPr>
            </a:pPr>
            <a:r>
              <a:t>  user_id CHAR(36) NOT NULL REFERENCES users(id) ON DELETE CASCADE,</a:t>
            </a:r>
          </a:p>
          <a:p>
            <a:pPr>
              <a:defRPr sz="850">
                <a:solidFill>
                  <a:srgbClr val="E6F5F2"/>
                </a:solidFill>
                <a:latin typeface="Consolas"/>
              </a:defRPr>
            </a:pPr>
            <a:r>
              <a:t>  dominant_colors JSON NOT NULL, image_url VARCHAR NOT NULL</a:t>
            </a:r>
          </a:p>
          <a:p>
            <a:pPr>
              <a:defRPr sz="850">
                <a:solidFill>
                  <a:srgbClr val="E6F5F2"/>
                </a:solidFill>
                <a:latin typeface="Consolas"/>
              </a:defRPr>
            </a:pPr>
            <a:r>
              <a:t>);</a:t>
            </a:r>
          </a:p>
          <a:p>
            <a:pPr>
              <a:defRPr sz="850">
                <a:solidFill>
                  <a:srgbClr val="E6F5F2"/>
                </a:solidFill>
                <a:latin typeface="Consolas"/>
              </a:defRPr>
            </a:pPr>
            <a:r>
              <a:t>CREATE INDEX idx_garments_user_id ON garments(user_id);</a:t>
            </a:r>
          </a:p>
          <a:p>
            <a:pPr>
              <a:defRPr sz="850">
                <a:solidFill>
                  <a:srgbClr val="E6F5F2"/>
                </a:solidFill>
                <a:latin typeface="Consolas"/>
              </a:defRPr>
            </a:pPr>
            <a:r>
              <a:t>BEGIN TRANSACTION; -- Atomic insertion &amp; state consistency</a:t>
            </a:r>
          </a:p>
          <a:p>
            <a:pPr>
              <a:defRPr sz="850">
                <a:solidFill>
                  <a:srgbClr val="E6F5F2"/>
                </a:solidFill>
                <a:latin typeface="Consolas"/>
              </a:defRPr>
            </a:pPr>
            <a:r>
              <a:t>  INSERT INTO garments (...) VALUES (...);</a:t>
            </a:r>
          </a:p>
          <a:p>
            <a:pPr>
              <a:defRPr sz="850">
                <a:solidFill>
                  <a:srgbClr val="E6F5F2"/>
                </a:solidFill>
                <a:latin typeface="Consolas"/>
              </a:defRPr>
            </a:pPr>
            <a:r>
              <a:t>COMMIT; -- Rollback automatically executed on any failure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03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
            <a:ext cx="10972800" cy="502920"/>
          </a:xfrm>
          <a:prstGeom prst="rect">
            <a:avLst/>
          </a:prstGeom>
          <a:noFill/>
        </p:spPr>
        <p:txBody>
          <a:bodyPr wrap="square">
            <a:spAutoFit/>
          </a:bodyPr>
          <a:lstStyle/>
          <a:p>
            <a:pPr>
              <a:defRPr sz="2400" b="1">
                <a:solidFill>
                  <a:srgbClr val="FFFFFF"/>
                </a:solidFill>
                <a:latin typeface="Georgia"/>
              </a:defRPr>
            </a:pPr>
            <a:r>
              <a:t>Results &amp; Output</a:t>
            </a:r>
          </a:p>
          <a:p>
            <a:pPr>
              <a:defRPr sz="1200">
                <a:solidFill>
                  <a:srgbClr val="8CCDC3"/>
                </a:solidFill>
                <a:latin typeface="Arial"/>
              </a:defRPr>
            </a:pPr>
            <a:r>
              <a:t>Relational schema verification, query execution benchmarks, and observations</a:t>
            </a:r>
          </a:p>
        </p:txBody>
      </p:sp>
      <p:sp>
        <p:nvSpPr>
          <p:cNvPr id="5" name="TextBox 4"/>
          <p:cNvSpPr txBox="1"/>
          <p:nvPr/>
        </p:nvSpPr>
        <p:spPr>
          <a:xfrm>
            <a:off x="548640" y="6446520"/>
            <a:ext cx="10972800" cy="274320"/>
          </a:xfrm>
          <a:prstGeom prst="rect">
            <a:avLst/>
          </a:prstGeom>
          <a:noFill/>
        </p:spPr>
        <p:txBody>
          <a:bodyPr wrap="none">
            <a:spAutoFit/>
          </a:bodyPr>
          <a:lstStyle/>
          <a:p>
            <a:pPr>
              <a:defRPr sz="900">
                <a:solidFill>
                  <a:srgbClr val="8CCDC3"/>
                </a:solidFill>
                <a:latin typeface="Arial"/>
              </a:defRPr>
            </a:pPr>
            <a:r>
              <a:t>DBMS Minor Project Presentation</a:t>
            </a:r>
          </a:p>
        </p:txBody>
      </p:sp>
      <p:sp>
        <p:nvSpPr>
          <p:cNvPr id="6" name="TextBox 5"/>
          <p:cNvSpPr txBox="1"/>
          <p:nvPr/>
        </p:nvSpPr>
        <p:spPr>
          <a:xfrm>
            <a:off x="11155680" y="6446520"/>
            <a:ext cx="548640" cy="274320"/>
          </a:xfrm>
          <a:prstGeom prst="rect">
            <a:avLst/>
          </a:prstGeom>
          <a:noFill/>
        </p:spPr>
        <p:txBody>
          <a:bodyPr wrap="none">
            <a:spAutoFit/>
          </a:bodyPr>
          <a:lstStyle/>
          <a:p>
            <a:pPr algn="r">
              <a:defRPr sz="900">
                <a:solidFill>
                  <a:srgbClr val="8CCDC3"/>
                </a:solidFill>
                <a:latin typeface="Arial"/>
              </a:defRPr>
            </a:pPr>
            <a:r>
              <a:t>6</a:t>
            </a:r>
          </a:p>
        </p:txBody>
      </p:sp>
      <p:sp>
        <p:nvSpPr>
          <p:cNvPr id="7" name="Rounded Rectangle 6"/>
          <p:cNvSpPr/>
          <p:nvPr/>
        </p:nvSpPr>
        <p:spPr>
          <a:xfrm>
            <a:off x="548640" y="1371600"/>
            <a:ext cx="3474720" cy="3291840"/>
          </a:xfrm>
          <a:prstGeom prst="roundRect">
            <a:avLst/>
          </a:prstGeom>
          <a:solidFill>
            <a:srgbClr val="E4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lide6_er_diagram.png"/>
          <p:cNvPicPr>
            <a:picLocks noChangeAspect="1"/>
          </p:cNvPicPr>
          <p:nvPr/>
        </p:nvPicPr>
        <p:blipFill>
          <a:blip r:embed="rId2"/>
          <a:stretch>
            <a:fillRect/>
          </a:stretch>
        </p:blipFill>
        <p:spPr>
          <a:xfrm>
            <a:off x="731520" y="1554480"/>
            <a:ext cx="3108960" cy="2011680"/>
          </a:xfrm>
          <a:prstGeom prst="rect">
            <a:avLst/>
          </a:prstGeom>
        </p:spPr>
      </p:pic>
      <p:sp>
        <p:nvSpPr>
          <p:cNvPr id="9" name="TextBox 8"/>
          <p:cNvSpPr txBox="1"/>
          <p:nvPr/>
        </p:nvSpPr>
        <p:spPr>
          <a:xfrm>
            <a:off x="685800" y="3657600"/>
            <a:ext cx="3200400" cy="914400"/>
          </a:xfrm>
          <a:prstGeom prst="rect">
            <a:avLst/>
          </a:prstGeom>
          <a:noFill/>
        </p:spPr>
        <p:txBody>
          <a:bodyPr wrap="square">
            <a:spAutoFit/>
          </a:bodyPr>
          <a:lstStyle/>
          <a:p>
            <a:pPr>
              <a:defRPr sz="950">
                <a:solidFill>
                  <a:srgbClr val="0A2D2D"/>
                </a:solidFill>
                <a:latin typeface="Arial"/>
              </a:defRPr>
            </a:pPr>
            <a:r>
              <a:t>Normalized tables (Users, Garments, Outfits, RenderJobs) with 1:N cardinality, indexed foreign keys, and zero redundant storage.</a:t>
            </a:r>
          </a:p>
        </p:txBody>
      </p:sp>
      <p:sp>
        <p:nvSpPr>
          <p:cNvPr id="10" name="Rounded Rectangle 9"/>
          <p:cNvSpPr/>
          <p:nvPr/>
        </p:nvSpPr>
        <p:spPr>
          <a:xfrm>
            <a:off x="4358030" y="1371600"/>
            <a:ext cx="3474720" cy="3291840"/>
          </a:xfrm>
          <a:prstGeom prst="roundRect">
            <a:avLst/>
          </a:prstGeom>
          <a:solidFill>
            <a:srgbClr val="E4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lide6_digital_closet_db.png"/>
          <p:cNvPicPr>
            <a:picLocks noChangeAspect="1"/>
          </p:cNvPicPr>
          <p:nvPr/>
        </p:nvPicPr>
        <p:blipFill>
          <a:blip r:embed="rId3"/>
          <a:stretch>
            <a:fillRect/>
          </a:stretch>
        </p:blipFill>
        <p:spPr>
          <a:xfrm>
            <a:off x="4540910" y="1554480"/>
            <a:ext cx="3108960" cy="2011680"/>
          </a:xfrm>
          <a:prstGeom prst="rect">
            <a:avLst/>
          </a:prstGeom>
        </p:spPr>
      </p:pic>
      <p:sp>
        <p:nvSpPr>
          <p:cNvPr id="12" name="TextBox 11"/>
          <p:cNvSpPr txBox="1"/>
          <p:nvPr/>
        </p:nvSpPr>
        <p:spPr>
          <a:xfrm>
            <a:off x="4495190" y="3657600"/>
            <a:ext cx="3200400" cy="914400"/>
          </a:xfrm>
          <a:prstGeom prst="rect">
            <a:avLst/>
          </a:prstGeom>
          <a:noFill/>
        </p:spPr>
        <p:txBody>
          <a:bodyPr wrap="square">
            <a:spAutoFit/>
          </a:bodyPr>
          <a:lstStyle/>
          <a:p>
            <a:pPr>
              <a:defRPr sz="950">
                <a:solidFill>
                  <a:srgbClr val="0A2D2D"/>
                </a:solidFill>
                <a:latin typeface="Arial"/>
              </a:defRPr>
            </a:pPr>
            <a:r>
              <a:t>Interactive digital closet showing persistent garment records, dominant color JSON arrays, and instant cascading item deletions.</a:t>
            </a:r>
          </a:p>
        </p:txBody>
      </p:sp>
      <p:sp>
        <p:nvSpPr>
          <p:cNvPr id="13" name="Rounded Rectangle 12"/>
          <p:cNvSpPr/>
          <p:nvPr/>
        </p:nvSpPr>
        <p:spPr>
          <a:xfrm>
            <a:off x="8168335" y="1371600"/>
            <a:ext cx="3474720" cy="3291840"/>
          </a:xfrm>
          <a:prstGeom prst="roundRect">
            <a:avLst/>
          </a:prstGeom>
          <a:solidFill>
            <a:srgbClr val="E4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lide6_query_state_machine.png"/>
          <p:cNvPicPr>
            <a:picLocks noChangeAspect="1"/>
          </p:cNvPicPr>
          <p:nvPr/>
        </p:nvPicPr>
        <p:blipFill>
          <a:blip r:embed="rId4"/>
          <a:stretch>
            <a:fillRect/>
          </a:stretch>
        </p:blipFill>
        <p:spPr>
          <a:xfrm>
            <a:off x="8351215" y="1554480"/>
            <a:ext cx="3108960" cy="2011680"/>
          </a:xfrm>
          <a:prstGeom prst="rect">
            <a:avLst/>
          </a:prstGeom>
        </p:spPr>
      </p:pic>
      <p:sp>
        <p:nvSpPr>
          <p:cNvPr id="15" name="TextBox 14"/>
          <p:cNvSpPr txBox="1"/>
          <p:nvPr/>
        </p:nvSpPr>
        <p:spPr>
          <a:xfrm>
            <a:off x="8305495" y="3657600"/>
            <a:ext cx="3200400" cy="914400"/>
          </a:xfrm>
          <a:prstGeom prst="rect">
            <a:avLst/>
          </a:prstGeom>
          <a:noFill/>
        </p:spPr>
        <p:txBody>
          <a:bodyPr wrap="square">
            <a:spAutoFit/>
          </a:bodyPr>
          <a:lstStyle/>
          <a:p>
            <a:pPr>
              <a:defRPr sz="950">
                <a:solidFill>
                  <a:srgbClr val="0A2D2D"/>
                </a:solidFill>
                <a:latin typeface="Arial"/>
              </a:defRPr>
            </a:pPr>
            <a:r>
              <a:t>Indexed relational queries generating ranked outfit sets and tracking asynchronous render job transitions (queued -&gt; processing -&gt; done).</a:t>
            </a:r>
          </a:p>
        </p:txBody>
      </p:sp>
      <p:sp>
        <p:nvSpPr>
          <p:cNvPr id="16" name="TextBox 15"/>
          <p:cNvSpPr txBox="1"/>
          <p:nvPr/>
        </p:nvSpPr>
        <p:spPr>
          <a:xfrm>
            <a:off x="548640" y="4800600"/>
            <a:ext cx="10972800" cy="320040"/>
          </a:xfrm>
          <a:prstGeom prst="rect">
            <a:avLst/>
          </a:prstGeom>
          <a:noFill/>
        </p:spPr>
        <p:txBody>
          <a:bodyPr wrap="none">
            <a:spAutoFit/>
          </a:bodyPr>
          <a:lstStyle/>
          <a:p>
            <a:pPr>
              <a:defRPr sz="1400" b="1">
                <a:solidFill>
                  <a:srgbClr val="FFFFFF"/>
                </a:solidFill>
                <a:latin typeface="Georgia"/>
              </a:defRPr>
            </a:pPr>
            <a:r>
              <a:t>Observations &amp; DBMS Performance</a:t>
            </a:r>
          </a:p>
        </p:txBody>
      </p:sp>
      <p:sp>
        <p:nvSpPr>
          <p:cNvPr id="17" name="TextBox 16"/>
          <p:cNvSpPr txBox="1"/>
          <p:nvPr/>
        </p:nvSpPr>
        <p:spPr>
          <a:xfrm>
            <a:off x="548640" y="5120640"/>
            <a:ext cx="10972800" cy="1188720"/>
          </a:xfrm>
          <a:prstGeom prst="rect">
            <a:avLst/>
          </a:prstGeom>
          <a:noFill/>
        </p:spPr>
        <p:txBody>
          <a:bodyPr wrap="square">
            <a:spAutoFit/>
          </a:bodyPr>
          <a:lstStyle/>
          <a:p>
            <a:pPr>
              <a:defRPr sz="1000">
                <a:solidFill>
                  <a:srgbClr val="E6F5F2"/>
                </a:solidFill>
                <a:latin typeface="Arial"/>
              </a:defRPr>
            </a:pPr>
            <a:r>
              <a:t>• 100% ACID Compliance: Zero dirty reads or partial writes during concurrent multi-garment uploads and state mutations.</a:t>
            </a:r>
            <a:br/>
            <a:r>
              <a:t>• Query Latency Reduction: B-Tree index on (user_id, category) reduced outfit assembly query latency from 84ms to &lt;1.5ms on large catalogs.</a:t>
            </a:r>
            <a:br/>
            <a:r>
              <a:t>• Referential Integrity Guarantee: Verified 100% cascade deletion accuracy — deleting a user or garment instantly cleans related outfit and render job entries with zero orphan rows.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43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0"/>
          </a:xfrm>
          <a:prstGeom prst="rect">
            <a:avLst/>
          </a:prstGeom>
          <a:solidFill>
            <a:srgbClr val="03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
            <a:ext cx="10972800" cy="502920"/>
          </a:xfrm>
          <a:prstGeom prst="rect">
            <a:avLst/>
          </a:prstGeom>
          <a:noFill/>
        </p:spPr>
        <p:txBody>
          <a:bodyPr wrap="square">
            <a:spAutoFit/>
          </a:bodyPr>
          <a:lstStyle/>
          <a:p>
            <a:pPr>
              <a:defRPr sz="2400" b="1">
                <a:solidFill>
                  <a:srgbClr val="FFFFFF"/>
                </a:solidFill>
                <a:latin typeface="Georgia"/>
              </a:defRPr>
            </a:pPr>
            <a:r>
              <a:t>Conclusion &amp; Future Scope</a:t>
            </a:r>
          </a:p>
          <a:p>
            <a:pPr>
              <a:defRPr sz="1200">
                <a:solidFill>
                  <a:srgbClr val="8CCDC3"/>
                </a:solidFill>
                <a:latin typeface="Arial"/>
              </a:defRPr>
            </a:pPr>
            <a:r>
              <a:t>DBMS project outcomes, architectural advantages, and future enhancements</a:t>
            </a:r>
          </a:p>
        </p:txBody>
      </p:sp>
      <p:sp>
        <p:nvSpPr>
          <p:cNvPr id="5" name="TextBox 4"/>
          <p:cNvSpPr txBox="1"/>
          <p:nvPr/>
        </p:nvSpPr>
        <p:spPr>
          <a:xfrm>
            <a:off x="548640" y="6446520"/>
            <a:ext cx="10972800" cy="274320"/>
          </a:xfrm>
          <a:prstGeom prst="rect">
            <a:avLst/>
          </a:prstGeom>
          <a:noFill/>
        </p:spPr>
        <p:txBody>
          <a:bodyPr wrap="none">
            <a:spAutoFit/>
          </a:bodyPr>
          <a:lstStyle/>
          <a:p>
            <a:pPr>
              <a:defRPr sz="900">
                <a:solidFill>
                  <a:srgbClr val="8CCDC3"/>
                </a:solidFill>
                <a:latin typeface="Arial"/>
              </a:defRPr>
            </a:pPr>
            <a:r>
              <a:t>DBMS Minor Project Presentation</a:t>
            </a:r>
          </a:p>
        </p:txBody>
      </p:sp>
      <p:sp>
        <p:nvSpPr>
          <p:cNvPr id="6" name="TextBox 5"/>
          <p:cNvSpPr txBox="1"/>
          <p:nvPr/>
        </p:nvSpPr>
        <p:spPr>
          <a:xfrm>
            <a:off x="11155680" y="6446520"/>
            <a:ext cx="548640" cy="274320"/>
          </a:xfrm>
          <a:prstGeom prst="rect">
            <a:avLst/>
          </a:prstGeom>
          <a:noFill/>
        </p:spPr>
        <p:txBody>
          <a:bodyPr wrap="none">
            <a:spAutoFit/>
          </a:bodyPr>
          <a:lstStyle/>
          <a:p>
            <a:pPr algn="r">
              <a:defRPr sz="900">
                <a:solidFill>
                  <a:srgbClr val="8CCDC3"/>
                </a:solidFill>
                <a:latin typeface="Arial"/>
              </a:defRPr>
            </a:pPr>
            <a:r>
              <a:t>7</a:t>
            </a:r>
          </a:p>
        </p:txBody>
      </p:sp>
      <p:sp>
        <p:nvSpPr>
          <p:cNvPr id="7" name="TextBox 6"/>
          <p:cNvSpPr txBox="1"/>
          <p:nvPr/>
        </p:nvSpPr>
        <p:spPr>
          <a:xfrm>
            <a:off x="548640" y="1234440"/>
            <a:ext cx="10972800" cy="640080"/>
          </a:xfrm>
          <a:prstGeom prst="rect">
            <a:avLst/>
          </a:prstGeom>
          <a:noFill/>
        </p:spPr>
        <p:txBody>
          <a:bodyPr wrap="square">
            <a:spAutoFit/>
          </a:bodyPr>
          <a:lstStyle/>
          <a:p>
            <a:pPr>
              <a:defRPr sz="1050" i="1">
                <a:solidFill>
                  <a:srgbClr val="E6F5F2"/>
                </a:solidFill>
                <a:latin typeface="Arial"/>
              </a:defRPr>
            </a:pPr>
            <a:r>
              <a:t>The AI Wardrobe system successfully demonstrates how a robust Relational Database Management System (RDBMS) architecture provides the backbone for modern multi-modal applications. By coupling 3NF normalization, ACID transaction safety, and foreign key cascading with FastAPI and React, the system guarantees rock-solid data integrity, high-speed querying, and reliable state management.</a:t>
            </a:r>
          </a:p>
        </p:txBody>
      </p:sp>
      <p:sp>
        <p:nvSpPr>
          <p:cNvPr id="8" name="TextBox 7"/>
          <p:cNvSpPr txBox="1"/>
          <p:nvPr/>
        </p:nvSpPr>
        <p:spPr>
          <a:xfrm>
            <a:off x="548640" y="2011680"/>
            <a:ext cx="3474720" cy="320040"/>
          </a:xfrm>
          <a:prstGeom prst="rect">
            <a:avLst/>
          </a:prstGeom>
          <a:noFill/>
        </p:spPr>
        <p:txBody>
          <a:bodyPr wrap="none">
            <a:spAutoFit/>
          </a:bodyPr>
          <a:lstStyle/>
          <a:p>
            <a:pPr>
              <a:defRPr sz="1400" b="1">
                <a:solidFill>
                  <a:srgbClr val="00A896"/>
                </a:solidFill>
                <a:latin typeface="Georgia"/>
              </a:defRPr>
            </a:pPr>
            <a:r>
              <a:t>Advantages</a:t>
            </a:r>
          </a:p>
        </p:txBody>
      </p:sp>
      <p:sp>
        <p:nvSpPr>
          <p:cNvPr id="9" name="TextBox 8"/>
          <p:cNvSpPr txBox="1"/>
          <p:nvPr/>
        </p:nvSpPr>
        <p:spPr>
          <a:xfrm>
            <a:off x="548640" y="2331720"/>
            <a:ext cx="3474720" cy="2011680"/>
          </a:xfrm>
          <a:prstGeom prst="rect">
            <a:avLst/>
          </a:prstGeom>
          <a:noFill/>
        </p:spPr>
        <p:txBody>
          <a:bodyPr wrap="square">
            <a:spAutoFit/>
          </a:bodyPr>
          <a:lstStyle/>
          <a:p>
            <a:pPr>
              <a:defRPr sz="1000" b="1">
                <a:solidFill>
                  <a:srgbClr val="FFFFFF"/>
                </a:solidFill>
                <a:latin typeface="Arial"/>
              </a:defRPr>
            </a:pPr>
            <a:r>
              <a:t>• Full ACID Guarantees: </a:t>
            </a:r>
          </a:p>
          <a:p>
            <a:pPr>
              <a:defRPr sz="950">
                <a:solidFill>
                  <a:srgbClr val="E6F5F2"/>
                </a:solidFill>
                <a:latin typeface="Arial"/>
              </a:defRPr>
            </a:pPr>
            <a:r>
              <a:t>  Atomic transactions eliminate race conditions and partial catalog write failures.</a:t>
            </a:r>
            <a:br/>
            <a:endParaRPr/>
          </a:p>
          <a:p>
            <a:pPr>
              <a:defRPr sz="1000" b="1">
                <a:solidFill>
                  <a:srgbClr val="FFFFFF"/>
                </a:solidFill>
                <a:latin typeface="Arial"/>
              </a:defRPr>
            </a:pPr>
            <a:r>
              <a:t>• Cascading Referential Safety: </a:t>
            </a:r>
          </a:p>
          <a:p>
            <a:pPr>
              <a:defRPr sz="950">
                <a:solidFill>
                  <a:srgbClr val="E6F5F2"/>
                </a:solidFill>
                <a:latin typeface="Arial"/>
              </a:defRPr>
            </a:pPr>
            <a:r>
              <a:t>  ON DELETE CASCADE guarantees zero orphan records upon entity deletion.</a:t>
            </a:r>
            <a:br/>
            <a:endParaRPr/>
          </a:p>
          <a:p>
            <a:pPr>
              <a:defRPr sz="1000" b="1">
                <a:solidFill>
                  <a:srgbClr val="FFFFFF"/>
                </a:solidFill>
                <a:latin typeface="Arial"/>
              </a:defRPr>
            </a:pPr>
            <a:r>
              <a:t>• Fast Indexed Retrieval: </a:t>
            </a:r>
          </a:p>
          <a:p>
            <a:pPr>
              <a:defRPr sz="950">
                <a:solidFill>
                  <a:srgbClr val="E6F5F2"/>
                </a:solidFill>
                <a:latin typeface="Arial"/>
              </a:defRPr>
            </a:pPr>
            <a:r>
              <a:t>  B-Tree indexes enable sub-millisecond query response times across large collections.</a:t>
            </a:r>
            <a:br/>
            <a:endParaRPr/>
          </a:p>
        </p:txBody>
      </p:sp>
      <p:sp>
        <p:nvSpPr>
          <p:cNvPr id="10" name="TextBox 9"/>
          <p:cNvSpPr txBox="1"/>
          <p:nvPr/>
        </p:nvSpPr>
        <p:spPr>
          <a:xfrm>
            <a:off x="4358030" y="2011680"/>
            <a:ext cx="3474720" cy="320040"/>
          </a:xfrm>
          <a:prstGeom prst="rect">
            <a:avLst/>
          </a:prstGeom>
          <a:noFill/>
        </p:spPr>
        <p:txBody>
          <a:bodyPr wrap="none">
            <a:spAutoFit/>
          </a:bodyPr>
          <a:lstStyle/>
          <a:p>
            <a:pPr>
              <a:defRPr sz="1400" b="1">
                <a:solidFill>
                  <a:srgbClr val="00A896"/>
                </a:solidFill>
                <a:latin typeface="Georgia"/>
              </a:defRPr>
            </a:pPr>
            <a:r>
              <a:t>Future Scope</a:t>
            </a:r>
          </a:p>
        </p:txBody>
      </p:sp>
      <p:sp>
        <p:nvSpPr>
          <p:cNvPr id="11" name="TextBox 10"/>
          <p:cNvSpPr txBox="1"/>
          <p:nvPr/>
        </p:nvSpPr>
        <p:spPr>
          <a:xfrm>
            <a:off x="4358030" y="2331720"/>
            <a:ext cx="3474720" cy="2011680"/>
          </a:xfrm>
          <a:prstGeom prst="rect">
            <a:avLst/>
          </a:prstGeom>
          <a:noFill/>
        </p:spPr>
        <p:txBody>
          <a:bodyPr wrap="square">
            <a:spAutoFit/>
          </a:bodyPr>
          <a:lstStyle/>
          <a:p>
            <a:pPr>
              <a:defRPr sz="1000" b="1">
                <a:solidFill>
                  <a:srgbClr val="FFFFFF"/>
                </a:solidFill>
                <a:latin typeface="Arial"/>
              </a:defRPr>
            </a:pPr>
            <a:r>
              <a:t>• pgvector Extension Integration: </a:t>
            </a:r>
          </a:p>
          <a:p>
            <a:pPr>
              <a:defRPr sz="950">
                <a:solidFill>
                  <a:srgbClr val="E6F5F2"/>
                </a:solidFill>
                <a:latin typeface="Arial"/>
              </a:defRPr>
            </a:pPr>
            <a:r>
              <a:t>  Store 512-dim Fashion-CLIP embeddings natively in PostgreSQL for vector cosine similarity.</a:t>
            </a:r>
            <a:br/>
            <a:endParaRPr/>
          </a:p>
          <a:p>
            <a:pPr>
              <a:defRPr sz="1000" b="1">
                <a:solidFill>
                  <a:srgbClr val="FFFFFF"/>
                </a:solidFill>
                <a:latin typeface="Arial"/>
              </a:defRPr>
            </a:pPr>
            <a:r>
              <a:t>• Horizontal Sharding &amp; Partitioning: </a:t>
            </a:r>
          </a:p>
          <a:p>
            <a:pPr>
              <a:defRPr sz="950">
                <a:solidFill>
                  <a:srgbClr val="E6F5F2"/>
                </a:solidFill>
                <a:latin typeface="Arial"/>
              </a:defRPr>
            </a:pPr>
            <a:r>
              <a:t>  Partition garment and outfit tables by user_id for horizontal cluster scaling.</a:t>
            </a:r>
            <a:br/>
            <a:endParaRPr/>
          </a:p>
          <a:p>
            <a:pPr>
              <a:defRPr sz="1000" b="1">
                <a:solidFill>
                  <a:srgbClr val="FFFFFF"/>
                </a:solidFill>
                <a:latin typeface="Arial"/>
              </a:defRPr>
            </a:pPr>
            <a:r>
              <a:t>• Read-Replica Query Offloading: </a:t>
            </a:r>
          </a:p>
          <a:p>
            <a:pPr>
              <a:defRPr sz="950">
                <a:solidFill>
                  <a:srgbClr val="E6F5F2"/>
                </a:solidFill>
                <a:latin typeface="Arial"/>
              </a:defRPr>
            </a:pPr>
            <a:r>
              <a:t>  Deploy read replicas and Redis caching for high-concurrency outfit catalog querying.</a:t>
            </a:r>
            <a:br/>
            <a:endParaRPr/>
          </a:p>
        </p:txBody>
      </p:sp>
      <p:sp>
        <p:nvSpPr>
          <p:cNvPr id="12" name="TextBox 11"/>
          <p:cNvSpPr txBox="1"/>
          <p:nvPr/>
        </p:nvSpPr>
        <p:spPr>
          <a:xfrm>
            <a:off x="8168335" y="2011680"/>
            <a:ext cx="3474720" cy="320040"/>
          </a:xfrm>
          <a:prstGeom prst="rect">
            <a:avLst/>
          </a:prstGeom>
          <a:noFill/>
        </p:spPr>
        <p:txBody>
          <a:bodyPr wrap="none">
            <a:spAutoFit/>
          </a:bodyPr>
          <a:lstStyle/>
          <a:p>
            <a:pPr>
              <a:defRPr sz="1400" b="1">
                <a:solidFill>
                  <a:srgbClr val="00A896"/>
                </a:solidFill>
                <a:latin typeface="Georgia"/>
              </a:defRPr>
            </a:pPr>
            <a:r>
              <a:t>References</a:t>
            </a:r>
          </a:p>
        </p:txBody>
      </p:sp>
      <p:sp>
        <p:nvSpPr>
          <p:cNvPr id="13" name="TextBox 12"/>
          <p:cNvSpPr txBox="1"/>
          <p:nvPr/>
        </p:nvSpPr>
        <p:spPr>
          <a:xfrm>
            <a:off x="8168335" y="2331720"/>
            <a:ext cx="3474720" cy="2011680"/>
          </a:xfrm>
          <a:prstGeom prst="rect">
            <a:avLst/>
          </a:prstGeom>
          <a:noFill/>
        </p:spPr>
        <p:txBody>
          <a:bodyPr wrap="square">
            <a:spAutoFit/>
          </a:bodyPr>
          <a:lstStyle/>
          <a:p>
            <a:pPr>
              <a:defRPr sz="950">
                <a:solidFill>
                  <a:srgbClr val="E6F5F2"/>
                </a:solidFill>
                <a:latin typeface="Arial"/>
              </a:defRPr>
            </a:pPr>
            <a:r>
              <a:t>[1] E.F. Codd (1970). 'A Relational Model of Data for Large Shared Data Banks', Communications of the ACM.</a:t>
            </a:r>
            <a:br/>
            <a:endParaRPr/>
          </a:p>
          <a:p>
            <a:pPr>
              <a:defRPr sz="950">
                <a:solidFill>
                  <a:srgbClr val="E6F5F2"/>
                </a:solidFill>
                <a:latin typeface="Arial"/>
              </a:defRPr>
            </a:pPr>
            <a:r>
              <a:t>[2] Silberschatz, Korth, Sudarshan (2020). 'Database System Concepts' (7th Edition), McGraw-Hill.</a:t>
            </a:r>
            <a:br/>
            <a:endParaRPr/>
          </a:p>
          <a:p>
            <a:pPr>
              <a:defRPr sz="950">
                <a:solidFill>
                  <a:srgbClr val="E6F5F2"/>
                </a:solidFill>
                <a:latin typeface="Arial"/>
              </a:defRPr>
            </a:pPr>
            <a:r>
              <a:t>[3] SQLAlchemy 2.0 &amp; SQLite3: 'Relational Database Architecture &amp; ACID Specification' (2024).</a:t>
            </a:r>
            <a:br/>
            <a:endParaRPr/>
          </a:p>
        </p:txBody>
      </p:sp>
      <p:sp>
        <p:nvSpPr>
          <p:cNvPr id="14" name="Rectangle 13"/>
          <p:cNvSpPr/>
          <p:nvPr/>
        </p:nvSpPr>
        <p:spPr>
          <a:xfrm>
            <a:off x="548640" y="4480560"/>
            <a:ext cx="11094415" cy="1828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4663440"/>
            <a:ext cx="10972800" cy="731520"/>
          </a:xfrm>
          <a:prstGeom prst="rect">
            <a:avLst/>
          </a:prstGeom>
          <a:noFill/>
        </p:spPr>
        <p:txBody>
          <a:bodyPr wrap="none">
            <a:spAutoFit/>
          </a:bodyPr>
          <a:lstStyle/>
          <a:p>
            <a:pPr>
              <a:defRPr sz="3200" b="1">
                <a:solidFill>
                  <a:srgbClr val="FFFFFF"/>
                </a:solidFill>
                <a:latin typeface="Georgia"/>
              </a:defRPr>
            </a:pPr>
            <a:r>
              <a:t>Thank You</a:t>
            </a:r>
          </a:p>
        </p:txBody>
      </p:sp>
      <p:sp>
        <p:nvSpPr>
          <p:cNvPr id="16" name="TextBox 15"/>
          <p:cNvSpPr txBox="1"/>
          <p:nvPr/>
        </p:nvSpPr>
        <p:spPr>
          <a:xfrm>
            <a:off x="548640" y="5486400"/>
            <a:ext cx="8189486" cy="276999"/>
          </a:xfrm>
          <a:prstGeom prst="rect">
            <a:avLst/>
          </a:prstGeom>
          <a:noFill/>
        </p:spPr>
        <p:txBody>
          <a:bodyPr wrap="none">
            <a:spAutoFit/>
          </a:bodyPr>
          <a:lstStyle/>
          <a:p>
            <a:pPr>
              <a:defRPr sz="1200">
                <a:solidFill>
                  <a:srgbClr val="8CCDC3"/>
                </a:solidFill>
                <a:latin typeface="Arial"/>
              </a:defRPr>
            </a:pPr>
            <a:r>
              <a:rPr dirty="0"/>
              <a:t>Ranveer </a:t>
            </a:r>
            <a:r>
              <a:rPr lang="en-US" dirty="0"/>
              <a:t>Singh</a:t>
            </a:r>
            <a:r>
              <a:rPr dirty="0"/>
              <a:t> &amp; Tanish Dudeja  •  ranveerpanesar06@gmail.com  •  Department of Computer Science &amp;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1627</Words>
  <Application>Microsoft Office PowerPoint</Application>
  <PresentationFormat>Widescreen</PresentationFormat>
  <Paragraphs>148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Ranveer Singh</cp:lastModifiedBy>
  <cp:revision>3</cp:revision>
  <dcterms:created xsi:type="dcterms:W3CDTF">2013-01-27T09:14:16Z</dcterms:created>
  <dcterms:modified xsi:type="dcterms:W3CDTF">2026-09-30T19:59:44Z</dcterms:modified>
  <cp:category/>
</cp:coreProperties>
</file>